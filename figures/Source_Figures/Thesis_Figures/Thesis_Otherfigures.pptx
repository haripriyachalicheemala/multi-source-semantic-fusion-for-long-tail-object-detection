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7" r:id="rId3"/>
    <p:sldId id="259" r:id="rId4"/>
    <p:sldId id="260" r:id="rId5"/>
    <p:sldId id="266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>
        <p:scale>
          <a:sx n="75" d="100"/>
          <a:sy n="75" d="100"/>
        </p:scale>
        <p:origin x="324" y="-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C0EC3-14AC-4A31-B6E8-86594360CF5C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0BFB6-EA9C-4155-8820-8AA8B46644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12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4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834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026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0BFB6-EA9C-4155-8820-8AA8B46644D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24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CED6-06BC-411C-6DB9-D2C5192ED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30664-8528-25D4-0DA3-E37FDD6C3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98F48-1766-BA82-689D-1FAC7ECD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74DEA-E849-320B-74EE-97141F65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051F0-1388-C6ED-DA58-9A429451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64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0521-84E1-FA0B-D532-ECF88401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7F87-EACF-3B40-444C-E77DB79F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3D909-8AB8-0E2F-C490-6FB185CA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48F8E-F972-CB62-6151-F1C1E849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8853-B9E5-F090-8901-03A0DE7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57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F0F8-B06E-5F80-8BF1-02D6E7A0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5BD3-986D-1DAE-D973-31BDB02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1494E-F6E1-F3CA-437B-5DBD1D6E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5DA36-BDF8-FCB8-66BC-D336CE12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96BB-5881-1F18-79B9-18D4E8B6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52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E1BC-01BA-8E60-377E-C6153ECB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A326-3941-AE72-75CA-E6DECC760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6C5CC-3B97-157F-2A44-8B5BF7318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77F33-2982-C67F-152C-0EC457B5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75206-AF58-EB10-9A56-2B6350CD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C2489-B34C-455A-B587-18F2EBFD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3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3D55-F01E-6518-D146-5871ED83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74FFE-7911-3A76-5AC5-6B07D906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F849C-28C0-DD42-E32F-8670C3267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32F39-E463-12AC-4CE1-7C11E5322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3683-D3CE-014B-E679-624D365B9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7E24A-D9FC-87F6-68E8-D1E3823E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EAA05-82A4-AAB3-EF89-128EF6DC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D5B21-AC88-AF31-35DA-8D2A273E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4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BA8A-C67B-050E-0EBD-3B7B46168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B551C-C627-EBDC-4822-1CDD3F5D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F731F-B7A0-BAD9-D344-C5911FF6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FB4F6-B83D-0335-6587-9793FAD2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23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B6234-0A10-D502-CEAC-6A1F06B7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C6302-ABBE-00D2-E8C0-D594AAE4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1E71B-E6F1-4403-7B04-B685A3A8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29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5D39-431D-2BD6-A8DC-3DA681B9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E55D-A2E4-9E1F-6731-21B1B9F1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BFADC-07D3-8424-04F4-3CDE1E5CD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7C693-5EC0-1B84-94D9-FC7B7BB2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44139-3B14-1379-07D5-7B853425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FBE6A-D8D0-B5BF-C0CD-780930CF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58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F419-1EAB-09FF-BC77-66480DA6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93079-AF40-FAA0-C1B5-AB23A61D4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2049F-C4BC-8A00-D5D1-AFFC6F802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95B06-EEED-29FD-E424-8DD941A0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B92C1-52D8-76A5-5054-1128DC98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C62D2-EE69-06FD-C8A7-84ECC572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4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06EE-6BA8-9B59-368C-F5EC8012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7A8C6-BBC8-A4B4-1A99-90A8E0CC6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DAEB-7056-18F2-81E3-FF3C1304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3AD64-E7B2-ED13-B57C-FFA8B78B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03E52-A78B-3715-B4A5-BF69882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31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0E89D-34AC-9869-54C6-E883126AA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3FD27-0B19-F8AC-55E4-11A94B47A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5C95B-EB5B-F04C-7B3D-CED9EA73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CA2F-D1A6-07C9-721D-84822DCD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70CF-F38D-5356-DDF7-B7A1BABF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38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99521-2D24-C15B-130E-96E869E2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B5E42-D4D3-F1C6-5433-82E0767F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62AE6-786C-7C1C-20B6-1C8EEE44F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D6467-D07A-478D-AD94-EF42F228946B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14728-7E8C-2DF4-80C8-DBEE5AB5C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58865-AAAD-CE5B-A002-27A0EF8E8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F1741-8D3F-4D4E-AE45-BB6D571D80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08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DE4ABF-AAF7-8D65-89F5-6F0E37F3372E}"/>
              </a:ext>
            </a:extLst>
          </p:cNvPr>
          <p:cNvSpPr/>
          <p:nvPr/>
        </p:nvSpPr>
        <p:spPr>
          <a:xfrm>
            <a:off x="323023" y="616382"/>
            <a:ext cx="2114684" cy="4877558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7C9A2-4D3E-9DB9-67E1-04FA98037856}"/>
              </a:ext>
            </a:extLst>
          </p:cNvPr>
          <p:cNvSpPr/>
          <p:nvPr/>
        </p:nvSpPr>
        <p:spPr>
          <a:xfrm>
            <a:off x="2647610" y="617445"/>
            <a:ext cx="2118860" cy="488048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35B3E-CA3B-63AB-0D0B-7B7381547AF9}"/>
              </a:ext>
            </a:extLst>
          </p:cNvPr>
          <p:cNvSpPr/>
          <p:nvPr/>
        </p:nvSpPr>
        <p:spPr>
          <a:xfrm>
            <a:off x="4986140" y="1182657"/>
            <a:ext cx="2180056" cy="4313293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7B8B6-BD12-97BB-B42C-7968CAD96B3D}"/>
              </a:ext>
            </a:extLst>
          </p:cNvPr>
          <p:cNvSpPr/>
          <p:nvPr/>
        </p:nvSpPr>
        <p:spPr>
          <a:xfrm>
            <a:off x="7454512" y="709014"/>
            <a:ext cx="2088000" cy="478492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D2D287-F001-1D1A-6D30-C9EB4678B5E8}"/>
              </a:ext>
            </a:extLst>
          </p:cNvPr>
          <p:cNvSpPr/>
          <p:nvPr/>
        </p:nvSpPr>
        <p:spPr>
          <a:xfrm>
            <a:off x="9783919" y="627322"/>
            <a:ext cx="2125694" cy="48686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31370-D20C-9DB6-295C-289C5657B37C}"/>
              </a:ext>
            </a:extLst>
          </p:cNvPr>
          <p:cNvSpPr/>
          <p:nvPr/>
        </p:nvSpPr>
        <p:spPr>
          <a:xfrm>
            <a:off x="323023" y="617775"/>
            <a:ext cx="2119588" cy="55399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200" b="1"/>
              <a:t>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E99BB-4566-193F-6A93-804E4CA55B9C}"/>
              </a:ext>
            </a:extLst>
          </p:cNvPr>
          <p:cNvSpPr/>
          <p:nvPr/>
        </p:nvSpPr>
        <p:spPr>
          <a:xfrm>
            <a:off x="2666658" y="627310"/>
            <a:ext cx="2089020" cy="540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200" b="1"/>
              <a:t>SEMANTIC PROMPT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F2B79-7CC7-AAF3-CD6E-4C976E6DA8F1}"/>
              </a:ext>
            </a:extLst>
          </p:cNvPr>
          <p:cNvSpPr/>
          <p:nvPr/>
        </p:nvSpPr>
        <p:spPr>
          <a:xfrm>
            <a:off x="4986140" y="634208"/>
            <a:ext cx="2184458" cy="5390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GB" sz="1200" b="1" dirty="0"/>
              <a:t>OWL-</a:t>
            </a:r>
            <a:r>
              <a:rPr lang="en-GB" sz="1200" b="1" dirty="0" err="1"/>
              <a:t>ViT</a:t>
            </a:r>
            <a:r>
              <a:rPr lang="en-GB" sz="1200" b="1" dirty="0"/>
              <a:t> Object Detection Framework</a:t>
            </a:r>
            <a:endParaRPr sz="1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CCFF0-E5E4-F043-4D7C-4B9E0A3F2B61}"/>
              </a:ext>
            </a:extLst>
          </p:cNvPr>
          <p:cNvSpPr/>
          <p:nvPr/>
        </p:nvSpPr>
        <p:spPr>
          <a:xfrm>
            <a:off x="7455417" y="618392"/>
            <a:ext cx="2088000" cy="5533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1200" b="1" dirty="0"/>
              <a:t>Semantic Evidence Fusion and Risk Analysis</a:t>
            </a:r>
            <a:endParaRPr sz="1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FDDC80-22DD-6449-6D50-1015E023EFD7}"/>
              </a:ext>
            </a:extLst>
          </p:cNvPr>
          <p:cNvSpPr/>
          <p:nvPr/>
        </p:nvSpPr>
        <p:spPr>
          <a:xfrm>
            <a:off x="9783919" y="627323"/>
            <a:ext cx="2125694" cy="5402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200" b="1"/>
              <a:t>Evaluation &amp; Safe Findings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789669-467C-4F57-90C2-1D33279EC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81" y="1235451"/>
            <a:ext cx="1691595" cy="6454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C97C23-A3E1-89B8-7306-71C02B2E3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20" y="2105005"/>
            <a:ext cx="679704" cy="6797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D6CE070-F5EC-A018-011C-5B4944010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61" y="3076111"/>
            <a:ext cx="569578" cy="57394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8D22E20-28D6-D258-B1CD-884B60DAB66F}"/>
              </a:ext>
            </a:extLst>
          </p:cNvPr>
          <p:cNvSpPr/>
          <p:nvPr/>
        </p:nvSpPr>
        <p:spPr>
          <a:xfrm>
            <a:off x="421414" y="1990073"/>
            <a:ext cx="1762986" cy="14779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800" dirty="0"/>
              <a:t>LVIS long-tail category imbalance</a:t>
            </a:r>
            <a:endParaRPr lang="en-GB" sz="8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DB2B90-0993-E269-6053-4C528CF4D02B}"/>
              </a:ext>
            </a:extLst>
          </p:cNvPr>
          <p:cNvSpPr/>
          <p:nvPr/>
        </p:nvSpPr>
        <p:spPr>
          <a:xfrm>
            <a:off x="396100" y="2731685"/>
            <a:ext cx="1805328" cy="2771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 dirty="0"/>
              <a:t>Primary-prompt OVD misses semantic variants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E4189F-FD1B-C40D-2FF8-744243289E50}"/>
              </a:ext>
            </a:extLst>
          </p:cNvPr>
          <p:cNvSpPr/>
          <p:nvPr/>
        </p:nvSpPr>
        <p:spPr>
          <a:xfrm>
            <a:off x="362552" y="3687227"/>
            <a:ext cx="1861233" cy="34320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Multi-prompt evidence raises false positives</a:t>
            </a:r>
            <a:endParaRPr lang="en-GB" sz="1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B79D6F-3947-F804-4386-F2AFD6BED780}"/>
              </a:ext>
            </a:extLst>
          </p:cNvPr>
          <p:cNvSpPr/>
          <p:nvPr/>
        </p:nvSpPr>
        <p:spPr>
          <a:xfrm>
            <a:off x="363839" y="5104860"/>
            <a:ext cx="2035405" cy="33629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Need uncertainty, conflict and prior analysis</a:t>
            </a:r>
            <a:endParaRPr lang="en-GB" sz="1000" b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51BD1D-E421-E624-A316-79D7AA1B3403}"/>
              </a:ext>
            </a:extLst>
          </p:cNvPr>
          <p:cNvCxnSpPr>
            <a:cxnSpLocks/>
          </p:cNvCxnSpPr>
          <p:nvPr/>
        </p:nvCxnSpPr>
        <p:spPr>
          <a:xfrm>
            <a:off x="350359" y="2175046"/>
            <a:ext cx="17190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267CDD-D70D-0607-2D81-67A1D1586239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335215" y="3055161"/>
            <a:ext cx="2102492" cy="139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F33B93-3236-69D2-D4D8-BD45EFD546AC}"/>
              </a:ext>
            </a:extLst>
          </p:cNvPr>
          <p:cNvCxnSpPr>
            <a:cxnSpLocks/>
          </p:cNvCxnSpPr>
          <p:nvPr/>
        </p:nvCxnSpPr>
        <p:spPr>
          <a:xfrm>
            <a:off x="350359" y="4080706"/>
            <a:ext cx="1731264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07DAB4F-B99C-9BCA-CEE6-633F90FDC9E9}"/>
              </a:ext>
            </a:extLst>
          </p:cNvPr>
          <p:cNvSpPr/>
          <p:nvPr/>
        </p:nvSpPr>
        <p:spPr>
          <a:xfrm>
            <a:off x="2706462" y="1246842"/>
            <a:ext cx="1990457" cy="36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GB" sz="1000" dirty="0"/>
              <a:t>Object category e.g., 'armadillo'</a:t>
            </a:r>
            <a:endParaRPr lang="en-GB" sz="1000" b="1" dirty="0">
              <a:solidFill>
                <a:srgbClr val="00B0F0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C4E7D1C-C5C1-CD98-CD56-71C78FA503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416" y="1578033"/>
            <a:ext cx="1459135" cy="877761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E257241-EEE4-9597-E633-6033053ACA5C}"/>
              </a:ext>
            </a:extLst>
          </p:cNvPr>
          <p:cNvCxnSpPr>
            <a:cxnSpLocks/>
          </p:cNvCxnSpPr>
          <p:nvPr/>
        </p:nvCxnSpPr>
        <p:spPr>
          <a:xfrm>
            <a:off x="2646376" y="2388284"/>
            <a:ext cx="171907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DA35B14-4106-3A41-972E-7D2FC3AD9E0E}"/>
              </a:ext>
            </a:extLst>
          </p:cNvPr>
          <p:cNvSpPr/>
          <p:nvPr/>
        </p:nvSpPr>
        <p:spPr>
          <a:xfrm>
            <a:off x="2696664" y="2534201"/>
            <a:ext cx="898392" cy="347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airplane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5F003-2386-C723-91E2-F3F979D10732}"/>
              </a:ext>
            </a:extLst>
          </p:cNvPr>
          <p:cNvSpPr/>
          <p:nvPr/>
        </p:nvSpPr>
        <p:spPr>
          <a:xfrm>
            <a:off x="2696664" y="3009601"/>
            <a:ext cx="898392" cy="3840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 dirty="0"/>
              <a:t>aircraft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E5189C-3F7D-AF73-F082-9419349CB047}"/>
              </a:ext>
            </a:extLst>
          </p:cNvPr>
          <p:cNvSpPr/>
          <p:nvPr/>
        </p:nvSpPr>
        <p:spPr>
          <a:xfrm>
            <a:off x="2696664" y="3521752"/>
            <a:ext cx="898392" cy="374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aeroplane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F55DAE-A282-C6F9-BC7A-59A3205E14BF}"/>
              </a:ext>
            </a:extLst>
          </p:cNvPr>
          <p:cNvSpPr/>
          <p:nvPr/>
        </p:nvSpPr>
        <p:spPr>
          <a:xfrm>
            <a:off x="2694047" y="3987525"/>
            <a:ext cx="921253" cy="3174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vehicle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69C24E-C1B9-6872-30DF-22C35F6854DE}"/>
              </a:ext>
            </a:extLst>
          </p:cNvPr>
          <p:cNvSpPr/>
          <p:nvPr/>
        </p:nvSpPr>
        <p:spPr>
          <a:xfrm>
            <a:off x="2694048" y="4453297"/>
            <a:ext cx="901008" cy="3851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visible airplane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2D7001-FC39-E627-E3AA-8C007263AC60}"/>
              </a:ext>
            </a:extLst>
          </p:cNvPr>
          <p:cNvSpPr/>
          <p:nvPr/>
        </p:nvSpPr>
        <p:spPr>
          <a:xfrm>
            <a:off x="2703952" y="5057458"/>
            <a:ext cx="911349" cy="3082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a photo of airplane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6D91E6-17E5-A620-6FA7-61A429D94D7A}"/>
              </a:ext>
            </a:extLst>
          </p:cNvPr>
          <p:cNvSpPr/>
          <p:nvPr/>
        </p:nvSpPr>
        <p:spPr>
          <a:xfrm>
            <a:off x="3845761" y="2561765"/>
            <a:ext cx="876422" cy="265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primary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BB5786-B160-6247-6A30-69DE6DC926A9}"/>
              </a:ext>
            </a:extLst>
          </p:cNvPr>
          <p:cNvSpPr/>
          <p:nvPr/>
        </p:nvSpPr>
        <p:spPr>
          <a:xfrm>
            <a:off x="3845762" y="2991735"/>
            <a:ext cx="876422" cy="237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synonym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787ED-5783-7783-B263-6282F7A2B199}"/>
              </a:ext>
            </a:extLst>
          </p:cNvPr>
          <p:cNvSpPr/>
          <p:nvPr/>
        </p:nvSpPr>
        <p:spPr>
          <a:xfrm>
            <a:off x="3845762" y="3495035"/>
            <a:ext cx="876422" cy="274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hypernym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813A9C-EFB0-F888-0248-A9601A0B440B}"/>
              </a:ext>
            </a:extLst>
          </p:cNvPr>
          <p:cNvSpPr/>
          <p:nvPr/>
        </p:nvSpPr>
        <p:spPr>
          <a:xfrm>
            <a:off x="3845762" y="3969961"/>
            <a:ext cx="876422" cy="308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attribute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9E3D28-47D0-2E2E-6649-D63B70A3B024}"/>
              </a:ext>
            </a:extLst>
          </p:cNvPr>
          <p:cNvSpPr/>
          <p:nvPr/>
        </p:nvSpPr>
        <p:spPr>
          <a:xfrm>
            <a:off x="3863667" y="5060049"/>
            <a:ext cx="858516" cy="3083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description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C7C187-B630-79DC-1A0C-38D0F0904D7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437707" y="3055161"/>
            <a:ext cx="209903" cy="252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079919-DCCB-9609-0681-3FA8EE9C1D1E}"/>
              </a:ext>
            </a:extLst>
          </p:cNvPr>
          <p:cNvCxnSpPr>
            <a:cxnSpLocks/>
          </p:cNvCxnSpPr>
          <p:nvPr/>
        </p:nvCxnSpPr>
        <p:spPr>
          <a:xfrm>
            <a:off x="3595063" y="2671356"/>
            <a:ext cx="25069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DF5C32C-0B4E-94F1-E770-DE2241B2C6F1}"/>
              </a:ext>
            </a:extLst>
          </p:cNvPr>
          <p:cNvCxnSpPr>
            <a:cxnSpLocks/>
          </p:cNvCxnSpPr>
          <p:nvPr/>
        </p:nvCxnSpPr>
        <p:spPr>
          <a:xfrm>
            <a:off x="3597016" y="3143328"/>
            <a:ext cx="2487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F14DBA5-64DB-3AF9-44DB-EAA361D46AD4}"/>
              </a:ext>
            </a:extLst>
          </p:cNvPr>
          <p:cNvCxnSpPr>
            <a:cxnSpLocks/>
          </p:cNvCxnSpPr>
          <p:nvPr/>
        </p:nvCxnSpPr>
        <p:spPr>
          <a:xfrm>
            <a:off x="3595056" y="3632885"/>
            <a:ext cx="230462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D2D1201-8DB5-0094-9E35-6E4E416E70C7}"/>
              </a:ext>
            </a:extLst>
          </p:cNvPr>
          <p:cNvCxnSpPr>
            <a:cxnSpLocks/>
          </p:cNvCxnSpPr>
          <p:nvPr/>
        </p:nvCxnSpPr>
        <p:spPr>
          <a:xfrm>
            <a:off x="3615300" y="4107116"/>
            <a:ext cx="23046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58C7E5B-75BB-5F3B-4757-F9B2C79150EC}"/>
              </a:ext>
            </a:extLst>
          </p:cNvPr>
          <p:cNvCxnSpPr>
            <a:cxnSpLocks/>
          </p:cNvCxnSpPr>
          <p:nvPr/>
        </p:nvCxnSpPr>
        <p:spPr>
          <a:xfrm>
            <a:off x="3595061" y="5194617"/>
            <a:ext cx="25069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BF85977-2642-05EE-78DA-B7B145CA3F3C}"/>
              </a:ext>
            </a:extLst>
          </p:cNvPr>
          <p:cNvCxnSpPr>
            <a:cxnSpLocks/>
          </p:cNvCxnSpPr>
          <p:nvPr/>
        </p:nvCxnSpPr>
        <p:spPr>
          <a:xfrm>
            <a:off x="3730534" y="4590456"/>
            <a:ext cx="0" cy="604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1176BB5-66A6-7A9B-8494-014DC57112D4}"/>
              </a:ext>
            </a:extLst>
          </p:cNvPr>
          <p:cNvCxnSpPr/>
          <p:nvPr/>
        </p:nvCxnSpPr>
        <p:spPr>
          <a:xfrm>
            <a:off x="3615306" y="4590456"/>
            <a:ext cx="1152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B7A24EC-65FD-078C-0735-C9E491C63D80}"/>
              </a:ext>
            </a:extLst>
          </p:cNvPr>
          <p:cNvSpPr/>
          <p:nvPr/>
        </p:nvSpPr>
        <p:spPr>
          <a:xfrm>
            <a:off x="5114383" y="1688026"/>
            <a:ext cx="658368" cy="431986"/>
          </a:xfrm>
          <a:prstGeom prst="parallelogram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5E60B0E-4D7B-0D22-43B4-6F6BAC830B2D}"/>
              </a:ext>
            </a:extLst>
          </p:cNvPr>
          <p:cNvSpPr/>
          <p:nvPr/>
        </p:nvSpPr>
        <p:spPr>
          <a:xfrm>
            <a:off x="6196102" y="1671956"/>
            <a:ext cx="658368" cy="431986"/>
          </a:xfrm>
          <a:prstGeom prst="parallelogram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35475-F8A9-572E-F0DE-E5A0EA33457A}"/>
              </a:ext>
            </a:extLst>
          </p:cNvPr>
          <p:cNvSpPr/>
          <p:nvPr/>
        </p:nvSpPr>
        <p:spPr>
          <a:xfrm>
            <a:off x="5081622" y="1221637"/>
            <a:ext cx="1949539" cy="3766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 dirty="0"/>
              <a:t>OWL-</a:t>
            </a:r>
            <a:r>
              <a:rPr sz="1000" dirty="0" err="1"/>
              <a:t>ViT</a:t>
            </a:r>
            <a:r>
              <a:rPr sz="1000" dirty="0"/>
              <a:t> zero-shot detector</a:t>
            </a:r>
          </a:p>
          <a:p>
            <a:pPr algn="ctr"/>
            <a:r>
              <a:rPr sz="1000" dirty="0"/>
              <a:t>(owlvit-base-patch32)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9634A2-B156-1F0E-05B8-84787711DB44}"/>
              </a:ext>
            </a:extLst>
          </p:cNvPr>
          <p:cNvSpPr/>
          <p:nvPr/>
        </p:nvSpPr>
        <p:spPr>
          <a:xfrm>
            <a:off x="5093047" y="2302549"/>
            <a:ext cx="658368" cy="3022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Image</a:t>
            </a:r>
            <a:endParaRPr lang="en-GB" sz="1000" b="1" dirty="0"/>
          </a:p>
          <a:p>
            <a:pPr algn="ctr"/>
            <a:r>
              <a:rPr sz="1000"/>
              <a:t>encoder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73EC70-D2A4-6FBE-69FC-FFD66A5F5A27}"/>
              </a:ext>
            </a:extLst>
          </p:cNvPr>
          <p:cNvSpPr/>
          <p:nvPr/>
        </p:nvSpPr>
        <p:spPr>
          <a:xfrm>
            <a:off x="6180481" y="2282033"/>
            <a:ext cx="658368" cy="3022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Text prompt</a:t>
            </a:r>
            <a:endParaRPr lang="en-GB" sz="1000" b="1" dirty="0"/>
          </a:p>
          <a:p>
            <a:pPr algn="ctr"/>
            <a:r>
              <a:rPr sz="100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AC3C16-BB8D-878D-5D21-30617B68179C}"/>
              </a:ext>
            </a:extLst>
          </p:cNvPr>
          <p:cNvCxnSpPr>
            <a:cxnSpLocks/>
          </p:cNvCxnSpPr>
          <p:nvPr/>
        </p:nvCxnSpPr>
        <p:spPr>
          <a:xfrm>
            <a:off x="5783220" y="1887949"/>
            <a:ext cx="37053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84DDE-F77C-3173-2634-44597D1870DD}"/>
              </a:ext>
            </a:extLst>
          </p:cNvPr>
          <p:cNvSpPr/>
          <p:nvPr/>
        </p:nvSpPr>
        <p:spPr>
          <a:xfrm>
            <a:off x="5051258" y="2684603"/>
            <a:ext cx="1997355" cy="1550131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572B4C-C330-3B80-7E89-964763F2EE3F}"/>
              </a:ext>
            </a:extLst>
          </p:cNvPr>
          <p:cNvSpPr/>
          <p:nvPr/>
        </p:nvSpPr>
        <p:spPr>
          <a:xfrm>
            <a:off x="5081622" y="2710274"/>
            <a:ext cx="1901616" cy="25921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Image–prompt evidence</a:t>
            </a:r>
            <a:endParaRPr lang="en-GB" sz="10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4F8E0C-19FC-EB03-8CC4-05191F914376}"/>
              </a:ext>
            </a:extLst>
          </p:cNvPr>
          <p:cNvSpPr/>
          <p:nvPr/>
        </p:nvSpPr>
        <p:spPr>
          <a:xfrm>
            <a:off x="5474489" y="3089558"/>
            <a:ext cx="1508754" cy="20348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F5882B-1CAC-65AA-D29B-4FE2174EF9AF}"/>
              </a:ext>
            </a:extLst>
          </p:cNvPr>
          <p:cNvSpPr/>
          <p:nvPr/>
        </p:nvSpPr>
        <p:spPr>
          <a:xfrm>
            <a:off x="5474489" y="3634358"/>
            <a:ext cx="1512684" cy="2169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F71D08-DD56-C4B9-D9F7-17D6108766B7}"/>
              </a:ext>
            </a:extLst>
          </p:cNvPr>
          <p:cNvSpPr/>
          <p:nvPr/>
        </p:nvSpPr>
        <p:spPr>
          <a:xfrm>
            <a:off x="5482611" y="3918915"/>
            <a:ext cx="1500626" cy="21134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410A8D-C6AD-7AB0-296B-0850B6300378}"/>
              </a:ext>
            </a:extLst>
          </p:cNvPr>
          <p:cNvCxnSpPr>
            <a:cxnSpLocks/>
            <a:stCxn id="39" idx="0"/>
            <a:endCxn id="39" idx="2"/>
          </p:cNvCxnSpPr>
          <p:nvPr/>
        </p:nvCxnSpPr>
        <p:spPr>
          <a:xfrm>
            <a:off x="6228866" y="3089558"/>
            <a:ext cx="0" cy="20348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D0ED1A-1E39-EF49-8A8E-20EC09120D43}"/>
              </a:ext>
            </a:extLst>
          </p:cNvPr>
          <p:cNvCxnSpPr>
            <a:cxnSpLocks/>
          </p:cNvCxnSpPr>
          <p:nvPr/>
        </p:nvCxnSpPr>
        <p:spPr>
          <a:xfrm>
            <a:off x="6576252" y="3093380"/>
            <a:ext cx="0" cy="19966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97CB7D0-F809-CDAD-70B0-C576AE79C635}"/>
              </a:ext>
            </a:extLst>
          </p:cNvPr>
          <p:cNvSpPr/>
          <p:nvPr/>
        </p:nvSpPr>
        <p:spPr>
          <a:xfrm>
            <a:off x="5482617" y="3350926"/>
            <a:ext cx="1500627" cy="2116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D64906-D7EF-7215-EB6F-DA946D7E4335}"/>
              </a:ext>
            </a:extLst>
          </p:cNvPr>
          <p:cNvCxnSpPr>
            <a:cxnSpLocks/>
          </p:cNvCxnSpPr>
          <p:nvPr/>
        </p:nvCxnSpPr>
        <p:spPr>
          <a:xfrm>
            <a:off x="5802862" y="3361236"/>
            <a:ext cx="0" cy="1980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39FDA0E-43A2-27EC-D79B-8B5D10DBCB67}"/>
              </a:ext>
            </a:extLst>
          </p:cNvPr>
          <p:cNvCxnSpPr>
            <a:cxnSpLocks/>
            <a:stCxn id="74" idx="0"/>
            <a:endCxn id="74" idx="2"/>
          </p:cNvCxnSpPr>
          <p:nvPr/>
        </p:nvCxnSpPr>
        <p:spPr>
          <a:xfrm>
            <a:off x="6232931" y="3350926"/>
            <a:ext cx="0" cy="21160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EBE63EC-8081-1C14-B8BF-108DF3A69867}"/>
              </a:ext>
            </a:extLst>
          </p:cNvPr>
          <p:cNvCxnSpPr>
            <a:cxnSpLocks/>
          </p:cNvCxnSpPr>
          <p:nvPr/>
        </p:nvCxnSpPr>
        <p:spPr>
          <a:xfrm flipH="1">
            <a:off x="6555016" y="3361236"/>
            <a:ext cx="1" cy="1980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A090A0E-8EF5-1870-C9A9-4800965F53A1}"/>
              </a:ext>
            </a:extLst>
          </p:cNvPr>
          <p:cNvCxnSpPr>
            <a:cxnSpLocks/>
          </p:cNvCxnSpPr>
          <p:nvPr/>
        </p:nvCxnSpPr>
        <p:spPr>
          <a:xfrm>
            <a:off x="5802862" y="3650054"/>
            <a:ext cx="0" cy="19883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B07F43B-4218-1CEA-BE1F-F68A9A7B4E42}"/>
              </a:ext>
            </a:extLst>
          </p:cNvPr>
          <p:cNvCxnSpPr>
            <a:cxnSpLocks/>
          </p:cNvCxnSpPr>
          <p:nvPr/>
        </p:nvCxnSpPr>
        <p:spPr>
          <a:xfrm>
            <a:off x="6195479" y="363288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A5F4787-043B-1D58-D0A8-977B2C521E83}"/>
              </a:ext>
            </a:extLst>
          </p:cNvPr>
          <p:cNvCxnSpPr>
            <a:cxnSpLocks/>
          </p:cNvCxnSpPr>
          <p:nvPr/>
        </p:nvCxnSpPr>
        <p:spPr>
          <a:xfrm>
            <a:off x="6555016" y="363288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1474187-F327-8208-E6E1-4E02DB451E0B}"/>
              </a:ext>
            </a:extLst>
          </p:cNvPr>
          <p:cNvCxnSpPr>
            <a:cxnSpLocks/>
          </p:cNvCxnSpPr>
          <p:nvPr/>
        </p:nvCxnSpPr>
        <p:spPr>
          <a:xfrm>
            <a:off x="5818102" y="391362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E7CA949-13B4-2FCB-EDBF-2F9BC33BC92D}"/>
              </a:ext>
            </a:extLst>
          </p:cNvPr>
          <p:cNvCxnSpPr>
            <a:cxnSpLocks/>
          </p:cNvCxnSpPr>
          <p:nvPr/>
        </p:nvCxnSpPr>
        <p:spPr>
          <a:xfrm flipV="1">
            <a:off x="6539646" y="3932027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D9DAF08-70D2-C8C0-05A2-3AC7D05DDC03}"/>
              </a:ext>
            </a:extLst>
          </p:cNvPr>
          <p:cNvCxnSpPr>
            <a:cxnSpLocks/>
          </p:cNvCxnSpPr>
          <p:nvPr/>
        </p:nvCxnSpPr>
        <p:spPr>
          <a:xfrm flipV="1">
            <a:off x="6176626" y="3912945"/>
            <a:ext cx="0" cy="21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3DC8B-8CDA-25B5-2220-8E73369E51D9}"/>
              </a:ext>
            </a:extLst>
          </p:cNvPr>
          <p:cNvSpPr/>
          <p:nvPr/>
        </p:nvSpPr>
        <p:spPr>
          <a:xfrm>
            <a:off x="5093047" y="3083656"/>
            <a:ext cx="348079" cy="209385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p1</a:t>
            </a:r>
            <a:endParaRPr lang="en-GB" sz="1000" b="1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3EEC933-E0C6-B2AF-EBAA-DFBE848A71AB}"/>
              </a:ext>
            </a:extLst>
          </p:cNvPr>
          <p:cNvSpPr/>
          <p:nvPr/>
        </p:nvSpPr>
        <p:spPr>
          <a:xfrm>
            <a:off x="5092899" y="3346492"/>
            <a:ext cx="348077" cy="21280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p2</a:t>
            </a:r>
            <a:endParaRPr lang="en-GB" sz="10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CABBC5-03BD-35F0-7BB2-E808800EE1C4}"/>
              </a:ext>
            </a:extLst>
          </p:cNvPr>
          <p:cNvSpPr/>
          <p:nvPr/>
        </p:nvSpPr>
        <p:spPr>
          <a:xfrm>
            <a:off x="5092895" y="3632928"/>
            <a:ext cx="348079" cy="22086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p3</a:t>
            </a:r>
            <a:endParaRPr lang="en-GB" sz="1000" b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A633160-C45F-59AF-4073-301C5A42CCEC}"/>
              </a:ext>
            </a:extLst>
          </p:cNvPr>
          <p:cNvSpPr/>
          <p:nvPr/>
        </p:nvSpPr>
        <p:spPr>
          <a:xfrm>
            <a:off x="5092895" y="3923116"/>
            <a:ext cx="348078" cy="220869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 dirty="0"/>
              <a:t>p</a:t>
            </a:r>
            <a:r>
              <a:rPr lang="en-IN" sz="1000" dirty="0"/>
              <a:t>n</a:t>
            </a:r>
            <a:endParaRPr lang="en-GB" sz="1000" b="1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60FD8D6-B4DE-4A16-EC15-E66FFA264DD7}"/>
              </a:ext>
            </a:extLst>
          </p:cNvPr>
          <p:cNvCxnSpPr>
            <a:cxnSpLocks/>
          </p:cNvCxnSpPr>
          <p:nvPr/>
        </p:nvCxnSpPr>
        <p:spPr>
          <a:xfrm>
            <a:off x="4774998" y="3055161"/>
            <a:ext cx="2155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F0AE2A0-174D-46E9-11C9-ED61C92406F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166196" y="3101477"/>
            <a:ext cx="288316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B4ED3CB-B9E9-FFC8-2E74-428984FF107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9575800" y="3061636"/>
            <a:ext cx="208119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EDB7E58-28AA-F94F-49EE-F8C21A1DE754}"/>
              </a:ext>
            </a:extLst>
          </p:cNvPr>
          <p:cNvSpPr/>
          <p:nvPr/>
        </p:nvSpPr>
        <p:spPr>
          <a:xfrm>
            <a:off x="6410214" y="4360923"/>
            <a:ext cx="620947" cy="219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5DC9701-7ABC-D036-6B46-2B16D84B1F10}"/>
              </a:ext>
            </a:extLst>
          </p:cNvPr>
          <p:cNvCxnSpPr>
            <a:cxnSpLocks/>
          </p:cNvCxnSpPr>
          <p:nvPr/>
        </p:nvCxnSpPr>
        <p:spPr>
          <a:xfrm>
            <a:off x="6614823" y="4371409"/>
            <a:ext cx="0" cy="219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2B43CDA-8B30-C755-F89B-89B7C1053CAA}"/>
              </a:ext>
            </a:extLst>
          </p:cNvPr>
          <p:cNvCxnSpPr>
            <a:cxnSpLocks/>
          </p:cNvCxnSpPr>
          <p:nvPr/>
        </p:nvCxnSpPr>
        <p:spPr>
          <a:xfrm>
            <a:off x="6838849" y="4371409"/>
            <a:ext cx="0" cy="219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A721EEF2-EE67-6CC0-8533-9C72F65D5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1622" y="4354803"/>
            <a:ext cx="1251469" cy="1016044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2A3D3887-CA36-F93D-FAA3-212191F1B153}"/>
              </a:ext>
            </a:extLst>
          </p:cNvPr>
          <p:cNvSpPr/>
          <p:nvPr/>
        </p:nvSpPr>
        <p:spPr>
          <a:xfrm>
            <a:off x="6370324" y="4713566"/>
            <a:ext cx="716273" cy="48038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/>
              <a:t>image evidence</a:t>
            </a:r>
            <a:endParaRPr lang="en-GB" sz="1000" b="1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8E6F069-774C-CB9D-5479-5520DCFE805D}"/>
              </a:ext>
            </a:extLst>
          </p:cNvPr>
          <p:cNvSpPr/>
          <p:nvPr/>
        </p:nvSpPr>
        <p:spPr>
          <a:xfrm>
            <a:off x="7514592" y="1246842"/>
            <a:ext cx="1946240" cy="2026291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 lang="en-GB" sz="1000" b="1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4A0145D-5335-82CB-84FB-24A8C8260963}"/>
              </a:ext>
            </a:extLst>
          </p:cNvPr>
          <p:cNvCxnSpPr>
            <a:cxnSpLocks/>
          </p:cNvCxnSpPr>
          <p:nvPr/>
        </p:nvCxnSpPr>
        <p:spPr>
          <a:xfrm>
            <a:off x="8502022" y="3301685"/>
            <a:ext cx="0" cy="1933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CF833CD-5BC0-04E1-B9E8-552CA6818AD5}"/>
              </a:ext>
            </a:extLst>
          </p:cNvPr>
          <p:cNvCxnSpPr>
            <a:cxnSpLocks/>
          </p:cNvCxnSpPr>
          <p:nvPr/>
        </p:nvCxnSpPr>
        <p:spPr>
          <a:xfrm>
            <a:off x="8571994" y="4278270"/>
            <a:ext cx="0" cy="21109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5F512-9DE5-032E-880A-B9618DB73539}"/>
              </a:ext>
            </a:extLst>
          </p:cNvPr>
          <p:cNvSpPr/>
          <p:nvPr/>
        </p:nvSpPr>
        <p:spPr>
          <a:xfrm>
            <a:off x="323024" y="5650777"/>
            <a:ext cx="11586589" cy="680876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00" b="1"/>
          </a:p>
        </p:txBody>
      </p:sp>
      <p:sp>
        <p:nvSpPr>
          <p:cNvPr id="22" name="TextBox 240">
            <a:extLst>
              <a:ext uri="{FF2B5EF4-FFF2-40B4-BE49-F238E27FC236}">
                <a16:creationId xmlns:a16="http://schemas.microsoft.com/office/drawing/2014/main" id="{E3147A7C-D18A-1F3F-263F-ED5A9EFDAB3C}"/>
              </a:ext>
            </a:extLst>
          </p:cNvPr>
          <p:cNvSpPr txBox="1"/>
          <p:nvPr/>
        </p:nvSpPr>
        <p:spPr>
          <a:xfrm>
            <a:off x="421414" y="5831225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🎯</a:t>
            </a:r>
          </a:p>
        </p:txBody>
      </p:sp>
      <p:sp>
        <p:nvSpPr>
          <p:cNvPr id="24" name="TextBox 241">
            <a:extLst>
              <a:ext uri="{FF2B5EF4-FFF2-40B4-BE49-F238E27FC236}">
                <a16:creationId xmlns:a16="http://schemas.microsoft.com/office/drawing/2014/main" id="{6246BC44-A88F-8969-E1FB-3220A11BE56A}"/>
              </a:ext>
            </a:extLst>
          </p:cNvPr>
          <p:cNvSpPr txBox="1"/>
          <p:nvPr/>
        </p:nvSpPr>
        <p:spPr>
          <a:xfrm>
            <a:off x="465381" y="5831225"/>
            <a:ext cx="2164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dirty="0"/>
              <a:t>MEASURED</a:t>
            </a:r>
            <a:r>
              <a:rPr lang="en-IN" sz="1000" dirty="0"/>
              <a:t> </a:t>
            </a:r>
            <a:r>
              <a:rPr sz="1000" dirty="0"/>
              <a:t>IMPACT</a:t>
            </a:r>
          </a:p>
        </p:txBody>
      </p:sp>
      <p:sp>
        <p:nvSpPr>
          <p:cNvPr id="28" name="TextBox 242">
            <a:extLst>
              <a:ext uri="{FF2B5EF4-FFF2-40B4-BE49-F238E27FC236}">
                <a16:creationId xmlns:a16="http://schemas.microsoft.com/office/drawing/2014/main" id="{8772E145-B598-E5C8-F0E3-4C3F8FB555C6}"/>
              </a:ext>
            </a:extLst>
          </p:cNvPr>
          <p:cNvSpPr txBox="1"/>
          <p:nvPr/>
        </p:nvSpPr>
        <p:spPr>
          <a:xfrm>
            <a:off x="2266350" y="5858096"/>
            <a:ext cx="4276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📈</a:t>
            </a:r>
          </a:p>
        </p:txBody>
      </p:sp>
      <p:sp>
        <p:nvSpPr>
          <p:cNvPr id="40" name="TextBox 243">
            <a:extLst>
              <a:ext uri="{FF2B5EF4-FFF2-40B4-BE49-F238E27FC236}">
                <a16:creationId xmlns:a16="http://schemas.microsoft.com/office/drawing/2014/main" id="{EE0D255E-F48F-84DC-E5C7-21B3DDBB3752}"/>
              </a:ext>
            </a:extLst>
          </p:cNvPr>
          <p:cNvSpPr txBox="1"/>
          <p:nvPr/>
        </p:nvSpPr>
        <p:spPr>
          <a:xfrm>
            <a:off x="2671162" y="5824011"/>
            <a:ext cx="2188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dirty="0"/>
              <a:t>Higher image-level category recall</a:t>
            </a:r>
            <a:endParaRPr sz="1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4" name="TextBox 244">
            <a:extLst>
              <a:ext uri="{FF2B5EF4-FFF2-40B4-BE49-F238E27FC236}">
                <a16:creationId xmlns:a16="http://schemas.microsoft.com/office/drawing/2014/main" id="{E0B9A2D0-DA0B-9A16-8A8D-6253D76BF382}"/>
              </a:ext>
            </a:extLst>
          </p:cNvPr>
          <p:cNvSpPr txBox="1"/>
          <p:nvPr/>
        </p:nvSpPr>
        <p:spPr>
          <a:xfrm>
            <a:off x="4742776" y="5792865"/>
            <a:ext cx="38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🛡</a:t>
            </a:r>
          </a:p>
        </p:txBody>
      </p:sp>
      <p:sp>
        <p:nvSpPr>
          <p:cNvPr id="61" name="TextBox 245">
            <a:extLst>
              <a:ext uri="{FF2B5EF4-FFF2-40B4-BE49-F238E27FC236}">
                <a16:creationId xmlns:a16="http://schemas.microsoft.com/office/drawing/2014/main" id="{DA9D7E6F-DC58-CD12-F7AD-C2CE6F657846}"/>
              </a:ext>
            </a:extLst>
          </p:cNvPr>
          <p:cNvSpPr txBox="1"/>
          <p:nvPr/>
        </p:nvSpPr>
        <p:spPr>
          <a:xfrm>
            <a:off x="5181348" y="5830390"/>
            <a:ext cx="17371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dirty="0"/>
              <a:t>Uncertainty explains FP risk</a:t>
            </a:r>
          </a:p>
        </p:txBody>
      </p:sp>
      <p:sp>
        <p:nvSpPr>
          <p:cNvPr id="63" name="TextBox 246">
            <a:extLst>
              <a:ext uri="{FF2B5EF4-FFF2-40B4-BE49-F238E27FC236}">
                <a16:creationId xmlns:a16="http://schemas.microsoft.com/office/drawing/2014/main" id="{3B88B29D-C2CE-E469-2744-3215C4174B76}"/>
              </a:ext>
            </a:extLst>
          </p:cNvPr>
          <p:cNvSpPr txBox="1"/>
          <p:nvPr/>
        </p:nvSpPr>
        <p:spPr>
          <a:xfrm>
            <a:off x="6838849" y="5835256"/>
            <a:ext cx="6156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🗄</a:t>
            </a:r>
          </a:p>
        </p:txBody>
      </p:sp>
      <p:sp>
        <p:nvSpPr>
          <p:cNvPr id="65" name="TextBox 247">
            <a:extLst>
              <a:ext uri="{FF2B5EF4-FFF2-40B4-BE49-F238E27FC236}">
                <a16:creationId xmlns:a16="http://schemas.microsoft.com/office/drawing/2014/main" id="{86E78FDC-9487-6F46-7728-E359088942E3}"/>
              </a:ext>
            </a:extLst>
          </p:cNvPr>
          <p:cNvSpPr txBox="1"/>
          <p:nvPr/>
        </p:nvSpPr>
        <p:spPr>
          <a:xfrm>
            <a:off x="7366571" y="5748876"/>
            <a:ext cx="2168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dirty="0"/>
              <a:t>Prompt sources show redundancy + complementarity</a:t>
            </a:r>
            <a:endParaRPr sz="1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7" name="TextBox 248">
            <a:extLst>
              <a:ext uri="{FF2B5EF4-FFF2-40B4-BE49-F238E27FC236}">
                <a16:creationId xmlns:a16="http://schemas.microsoft.com/office/drawing/2014/main" id="{065C1439-2439-255D-C6C7-6136416280BE}"/>
              </a:ext>
            </a:extLst>
          </p:cNvPr>
          <p:cNvSpPr txBox="1"/>
          <p:nvPr/>
        </p:nvSpPr>
        <p:spPr>
          <a:xfrm>
            <a:off x="9374742" y="5832483"/>
            <a:ext cx="5778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 dirty="0"/>
              <a:t>💡</a:t>
            </a:r>
          </a:p>
        </p:txBody>
      </p:sp>
      <p:sp>
        <p:nvSpPr>
          <p:cNvPr id="68" name="TextBox 249">
            <a:extLst>
              <a:ext uri="{FF2B5EF4-FFF2-40B4-BE49-F238E27FC236}">
                <a16:creationId xmlns:a16="http://schemas.microsoft.com/office/drawing/2014/main" id="{1BBD9056-343E-4544-CD40-5A7711947402}"/>
              </a:ext>
            </a:extLst>
          </p:cNvPr>
          <p:cNvSpPr txBox="1"/>
          <p:nvPr/>
        </p:nvSpPr>
        <p:spPr>
          <a:xfrm>
            <a:off x="9575800" y="5830567"/>
            <a:ext cx="2256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dirty="0"/>
              <a:t>Information Fusion view of OVD</a:t>
            </a:r>
            <a:r>
              <a:rPr lang="en-IN" sz="1000" dirty="0"/>
              <a:t> </a:t>
            </a:r>
            <a:r>
              <a:rPr sz="1000" dirty="0"/>
              <a:t>evidence</a:t>
            </a:r>
            <a:endParaRPr sz="1000" b="1" dirty="0">
              <a:solidFill>
                <a:srgbClr val="F57C00"/>
              </a:solidFill>
            </a:endParaRPr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DEAC13D6-9519-48DD-51A5-9AB27206350F}"/>
              </a:ext>
            </a:extLst>
          </p:cNvPr>
          <p:cNvSpPr/>
          <p:nvPr/>
        </p:nvSpPr>
        <p:spPr>
          <a:xfrm>
            <a:off x="1116811" y="214046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r>
              <a:rPr lang="en-IN" sz="1000" dirty="0"/>
              <a:t>1</a:t>
            </a:r>
            <a:endParaRPr lang="en-GB" sz="1000" dirty="0"/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7FC503F5-376A-A36B-561F-6C63D18E464B}"/>
              </a:ext>
            </a:extLst>
          </p:cNvPr>
          <p:cNvSpPr/>
          <p:nvPr/>
        </p:nvSpPr>
        <p:spPr>
          <a:xfrm>
            <a:off x="3413661" y="195279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r>
              <a:rPr lang="en-IN" sz="1000" dirty="0"/>
              <a:t>2</a:t>
            </a:r>
            <a:endParaRPr lang="en-GB" sz="1000" dirty="0"/>
          </a:p>
        </p:txBody>
      </p:sp>
      <p:sp>
        <p:nvSpPr>
          <p:cNvPr id="97" name="Shape 5">
            <a:extLst>
              <a:ext uri="{FF2B5EF4-FFF2-40B4-BE49-F238E27FC236}">
                <a16:creationId xmlns:a16="http://schemas.microsoft.com/office/drawing/2014/main" id="{EB2D7F5E-0E16-4CA5-1A2F-9AC1A1A3AF86}"/>
              </a:ext>
            </a:extLst>
          </p:cNvPr>
          <p:cNvSpPr/>
          <p:nvPr/>
        </p:nvSpPr>
        <p:spPr>
          <a:xfrm>
            <a:off x="10626751" y="215318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r>
              <a:rPr lang="en-IN" sz="1000" dirty="0"/>
              <a:t>5</a:t>
            </a:r>
            <a:endParaRPr lang="en-GB" sz="1000" dirty="0"/>
          </a:p>
        </p:txBody>
      </p:sp>
      <p:sp>
        <p:nvSpPr>
          <p:cNvPr id="99" name="Shape 5">
            <a:extLst>
              <a:ext uri="{FF2B5EF4-FFF2-40B4-BE49-F238E27FC236}">
                <a16:creationId xmlns:a16="http://schemas.microsoft.com/office/drawing/2014/main" id="{AC37D7A9-6BC7-943B-EBFB-ACB915A1A7FA}"/>
              </a:ext>
            </a:extLst>
          </p:cNvPr>
          <p:cNvSpPr/>
          <p:nvPr/>
        </p:nvSpPr>
        <p:spPr>
          <a:xfrm>
            <a:off x="8298248" y="211591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r>
              <a:rPr lang="en-IN" sz="1000" dirty="0"/>
              <a:t>4</a:t>
            </a:r>
            <a:endParaRPr lang="en-GB" sz="1000" dirty="0"/>
          </a:p>
        </p:txBody>
      </p:sp>
      <p:sp>
        <p:nvSpPr>
          <p:cNvPr id="105" name="Shape 5">
            <a:extLst>
              <a:ext uri="{FF2B5EF4-FFF2-40B4-BE49-F238E27FC236}">
                <a16:creationId xmlns:a16="http://schemas.microsoft.com/office/drawing/2014/main" id="{C02C8229-0F9B-4113-E101-F7D42E96625F}"/>
              </a:ext>
            </a:extLst>
          </p:cNvPr>
          <p:cNvSpPr/>
          <p:nvPr/>
        </p:nvSpPr>
        <p:spPr>
          <a:xfrm>
            <a:off x="5793766" y="213530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r>
              <a:rPr lang="en-IN" sz="1000" dirty="0"/>
              <a:t>3</a:t>
            </a:r>
            <a:endParaRPr lang="en-GB" sz="1000" dirty="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8A3F1C02-5E80-5B31-79A6-7A075C8B1956}"/>
              </a:ext>
            </a:extLst>
          </p:cNvPr>
          <p:cNvSpPr/>
          <p:nvPr/>
        </p:nvSpPr>
        <p:spPr>
          <a:xfrm>
            <a:off x="7669284" y="1319462"/>
            <a:ext cx="1659467" cy="295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/>
              <a:t>Fusion strategies</a:t>
            </a:r>
            <a:endParaRPr lang="en-US" sz="1000" dirty="0"/>
          </a:p>
        </p:txBody>
      </p:sp>
      <p:sp>
        <p:nvSpPr>
          <p:cNvPr id="115" name="Shape 5">
            <a:extLst>
              <a:ext uri="{FF2B5EF4-FFF2-40B4-BE49-F238E27FC236}">
                <a16:creationId xmlns:a16="http://schemas.microsoft.com/office/drawing/2014/main" id="{883E6E90-9EA9-41F1-8137-25FD728A6D62}"/>
              </a:ext>
            </a:extLst>
          </p:cNvPr>
          <p:cNvSpPr/>
          <p:nvPr/>
        </p:nvSpPr>
        <p:spPr>
          <a:xfrm>
            <a:off x="7581295" y="1721524"/>
            <a:ext cx="483137" cy="3649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117" name="Text 7">
            <a:extLst>
              <a:ext uri="{FF2B5EF4-FFF2-40B4-BE49-F238E27FC236}">
                <a16:creationId xmlns:a16="http://schemas.microsoft.com/office/drawing/2014/main" id="{96D90600-2EC6-7489-8EA7-B45120F702C0}"/>
              </a:ext>
            </a:extLst>
          </p:cNvPr>
          <p:cNvSpPr/>
          <p:nvPr/>
        </p:nvSpPr>
        <p:spPr>
          <a:xfrm>
            <a:off x="8064433" y="1681792"/>
            <a:ext cx="1298008" cy="422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dirty="0"/>
              <a:t>Max / Mean / Weighted</a:t>
            </a:r>
            <a:endParaRPr lang="en-US" sz="1000" b="1" dirty="0"/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234F654D-387A-21A3-D406-9D6A8BEA2F0C}"/>
              </a:ext>
            </a:extLst>
          </p:cNvPr>
          <p:cNvSpPr/>
          <p:nvPr/>
        </p:nvSpPr>
        <p:spPr>
          <a:xfrm>
            <a:off x="8149870" y="2254561"/>
            <a:ext cx="1312713" cy="39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dirty="0"/>
              <a:t>Adaptive + Prior-aware</a:t>
            </a:r>
            <a:endParaRPr lang="en-US" sz="1000" b="1" dirty="0"/>
          </a:p>
        </p:txBody>
      </p:sp>
      <p:sp>
        <p:nvSpPr>
          <p:cNvPr id="120" name="Text 12">
            <a:extLst>
              <a:ext uri="{FF2B5EF4-FFF2-40B4-BE49-F238E27FC236}">
                <a16:creationId xmlns:a16="http://schemas.microsoft.com/office/drawing/2014/main" id="{9F47A58A-9E57-A540-1BEE-CAAC4CA9F54D}"/>
              </a:ext>
            </a:extLst>
          </p:cNvPr>
          <p:cNvSpPr/>
          <p:nvPr/>
        </p:nvSpPr>
        <p:spPr>
          <a:xfrm>
            <a:off x="7626590" y="2455794"/>
            <a:ext cx="410726" cy="36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1" name="Text 13">
            <a:extLst>
              <a:ext uri="{FF2B5EF4-FFF2-40B4-BE49-F238E27FC236}">
                <a16:creationId xmlns:a16="http://schemas.microsoft.com/office/drawing/2014/main" id="{C260E8AA-50D8-1DEF-033F-BC62266EB94E}"/>
              </a:ext>
            </a:extLst>
          </p:cNvPr>
          <p:cNvSpPr/>
          <p:nvPr/>
        </p:nvSpPr>
        <p:spPr>
          <a:xfrm>
            <a:off x="8229627" y="2455794"/>
            <a:ext cx="1185483" cy="2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123" name="Text 16">
            <a:extLst>
              <a:ext uri="{FF2B5EF4-FFF2-40B4-BE49-F238E27FC236}">
                <a16:creationId xmlns:a16="http://schemas.microsoft.com/office/drawing/2014/main" id="{304A6FD2-057E-0135-B0AE-62F631C5BB2A}"/>
              </a:ext>
            </a:extLst>
          </p:cNvPr>
          <p:cNvSpPr/>
          <p:nvPr/>
        </p:nvSpPr>
        <p:spPr>
          <a:xfrm>
            <a:off x="8202847" y="2827000"/>
            <a:ext cx="1212264" cy="45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dirty="0"/>
              <a:t>Entropy + conflict analysis</a:t>
            </a:r>
            <a:endParaRPr lang="en-US" sz="1000" b="1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40967A66-3CF3-A5AF-F2DE-C3C937E8C7A4}"/>
              </a:ext>
            </a:extLst>
          </p:cNvPr>
          <p:cNvSpPr/>
          <p:nvPr/>
        </p:nvSpPr>
        <p:spPr>
          <a:xfrm>
            <a:off x="7622717" y="2881490"/>
            <a:ext cx="469901" cy="33833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222222"/>
                </a:solidFill>
              </a:rPr>
              <a:t>Σ</a:t>
            </a:r>
            <a:endParaRPr lang="en-GB" sz="1000" dirty="0"/>
          </a:p>
        </p:txBody>
      </p:sp>
      <p:sp>
        <p:nvSpPr>
          <p:cNvPr id="148" name="Shape 5">
            <a:extLst>
              <a:ext uri="{FF2B5EF4-FFF2-40B4-BE49-F238E27FC236}">
                <a16:creationId xmlns:a16="http://schemas.microsoft.com/office/drawing/2014/main" id="{70BC0AB2-02AE-8AA5-2895-A962233DFF79}"/>
              </a:ext>
            </a:extLst>
          </p:cNvPr>
          <p:cNvSpPr/>
          <p:nvPr/>
        </p:nvSpPr>
        <p:spPr>
          <a:xfrm>
            <a:off x="7570788" y="2243138"/>
            <a:ext cx="548604" cy="3885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824A"/>
            </a:solidFill>
            <a:prstDash val="solid"/>
          </a:ln>
        </p:spPr>
        <p:txBody>
          <a:bodyPr wrap="square" anchor="ctr"/>
          <a:lstStyle/>
          <a:p>
            <a:pPr algn="ctr"/>
            <a:r>
              <a:rPr lang="en-US" sz="1000" dirty="0">
                <a:solidFill>
                  <a:srgbClr val="222222"/>
                </a:solidFill>
              </a:rPr>
              <a:t>🚗</a:t>
            </a:r>
            <a:endParaRPr lang="en-US" sz="10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A8264AE-0861-EEEA-3A5E-6248CF9DEAB0}"/>
              </a:ext>
            </a:extLst>
          </p:cNvPr>
          <p:cNvSpPr txBox="1"/>
          <p:nvPr/>
        </p:nvSpPr>
        <p:spPr>
          <a:xfrm>
            <a:off x="7439901" y="1764838"/>
            <a:ext cx="74207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</a:rPr>
              <a:t>⟐</a:t>
            </a:r>
            <a:endParaRPr lang="en-US" sz="1000" dirty="0"/>
          </a:p>
        </p:txBody>
      </p:sp>
      <p:sp>
        <p:nvSpPr>
          <p:cNvPr id="204" name="Shape 19">
            <a:extLst>
              <a:ext uri="{FF2B5EF4-FFF2-40B4-BE49-F238E27FC236}">
                <a16:creationId xmlns:a16="http://schemas.microsoft.com/office/drawing/2014/main" id="{8A90F7F5-F9AB-58A9-03BF-B5E8C3B362C2}"/>
              </a:ext>
            </a:extLst>
          </p:cNvPr>
          <p:cNvSpPr/>
          <p:nvPr/>
        </p:nvSpPr>
        <p:spPr>
          <a:xfrm>
            <a:off x="7517487" y="3505088"/>
            <a:ext cx="1940239" cy="729646"/>
          </a:xfrm>
          <a:prstGeom prst="rect">
            <a:avLst/>
          </a:prstGeom>
          <a:noFill/>
          <a:ln w="15240">
            <a:solidFill>
              <a:srgbClr val="E882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05" name="Text 20">
            <a:extLst>
              <a:ext uri="{FF2B5EF4-FFF2-40B4-BE49-F238E27FC236}">
                <a16:creationId xmlns:a16="http://schemas.microsoft.com/office/drawing/2014/main" id="{6896578E-EC52-E015-BD4D-DB924343EABF}"/>
              </a:ext>
            </a:extLst>
          </p:cNvPr>
          <p:cNvSpPr/>
          <p:nvPr/>
        </p:nvSpPr>
        <p:spPr>
          <a:xfrm>
            <a:off x="6877102" y="3563354"/>
            <a:ext cx="3203490" cy="227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/>
              <a:t>Fused evidence score</a:t>
            </a:r>
            <a:endParaRPr lang="en-US" sz="1000" dirty="0"/>
          </a:p>
        </p:txBody>
      </p:sp>
      <p:sp>
        <p:nvSpPr>
          <p:cNvPr id="206" name="Text 21">
            <a:extLst>
              <a:ext uri="{FF2B5EF4-FFF2-40B4-BE49-F238E27FC236}">
                <a16:creationId xmlns:a16="http://schemas.microsoft.com/office/drawing/2014/main" id="{2C158A8C-939C-00A3-6584-20F75DA58067}"/>
              </a:ext>
            </a:extLst>
          </p:cNvPr>
          <p:cNvSpPr/>
          <p:nvPr/>
        </p:nvSpPr>
        <p:spPr>
          <a:xfrm>
            <a:off x="6928231" y="3732169"/>
            <a:ext cx="3203490" cy="178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/>
              <a:t>Prompt-level aggregation</a:t>
            </a:r>
            <a:endParaRPr lang="en-US" sz="1000" dirty="0"/>
          </a:p>
        </p:txBody>
      </p:sp>
      <p:sp>
        <p:nvSpPr>
          <p:cNvPr id="207" name="Text 22">
            <a:extLst>
              <a:ext uri="{FF2B5EF4-FFF2-40B4-BE49-F238E27FC236}">
                <a16:creationId xmlns:a16="http://schemas.microsoft.com/office/drawing/2014/main" id="{0B363CEE-B9C7-A905-68A9-0E6BA812A151}"/>
              </a:ext>
            </a:extLst>
          </p:cNvPr>
          <p:cNvSpPr/>
          <p:nvPr/>
        </p:nvSpPr>
        <p:spPr>
          <a:xfrm>
            <a:off x="7543324" y="3948112"/>
            <a:ext cx="316887" cy="225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" dirty="0"/>
              <a:t>score</a:t>
            </a:r>
            <a:endParaRPr lang="en-US" sz="400" dirty="0"/>
          </a:p>
        </p:txBody>
      </p:sp>
      <p:sp>
        <p:nvSpPr>
          <p:cNvPr id="211" name="Shape 26">
            <a:extLst>
              <a:ext uri="{FF2B5EF4-FFF2-40B4-BE49-F238E27FC236}">
                <a16:creationId xmlns:a16="http://schemas.microsoft.com/office/drawing/2014/main" id="{9BA7054F-3F38-D72B-D508-0EB4311C95F5}"/>
              </a:ext>
            </a:extLst>
          </p:cNvPr>
          <p:cNvSpPr/>
          <p:nvPr/>
        </p:nvSpPr>
        <p:spPr>
          <a:xfrm>
            <a:off x="7885853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2" name="Shape 27">
            <a:extLst>
              <a:ext uri="{FF2B5EF4-FFF2-40B4-BE49-F238E27FC236}">
                <a16:creationId xmlns:a16="http://schemas.microsoft.com/office/drawing/2014/main" id="{C3987B44-FB43-2580-C7F0-A4E881E0175E}"/>
              </a:ext>
            </a:extLst>
          </p:cNvPr>
          <p:cNvSpPr/>
          <p:nvPr/>
        </p:nvSpPr>
        <p:spPr>
          <a:xfrm>
            <a:off x="8064361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3" name="Shape 28">
            <a:extLst>
              <a:ext uri="{FF2B5EF4-FFF2-40B4-BE49-F238E27FC236}">
                <a16:creationId xmlns:a16="http://schemas.microsoft.com/office/drawing/2014/main" id="{146BC105-0292-3719-41F0-2A7460617989}"/>
              </a:ext>
            </a:extLst>
          </p:cNvPr>
          <p:cNvSpPr/>
          <p:nvPr/>
        </p:nvSpPr>
        <p:spPr>
          <a:xfrm>
            <a:off x="8249917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4" name="Shape 29">
            <a:extLst>
              <a:ext uri="{FF2B5EF4-FFF2-40B4-BE49-F238E27FC236}">
                <a16:creationId xmlns:a16="http://schemas.microsoft.com/office/drawing/2014/main" id="{C387A67F-D124-B59A-511E-111D3C672B34}"/>
              </a:ext>
            </a:extLst>
          </p:cNvPr>
          <p:cNvSpPr/>
          <p:nvPr/>
        </p:nvSpPr>
        <p:spPr>
          <a:xfrm>
            <a:off x="8403413" y="3963160"/>
            <a:ext cx="105351" cy="185249"/>
          </a:xfrm>
          <a:prstGeom prst="rect">
            <a:avLst/>
          </a:prstGeom>
          <a:solidFill>
            <a:srgbClr val="FAD7C0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5" name="Shape 30">
            <a:extLst>
              <a:ext uri="{FF2B5EF4-FFF2-40B4-BE49-F238E27FC236}">
                <a16:creationId xmlns:a16="http://schemas.microsoft.com/office/drawing/2014/main" id="{3B4F32E1-F93C-A6DE-9664-64C9212A070B}"/>
              </a:ext>
            </a:extLst>
          </p:cNvPr>
          <p:cNvSpPr/>
          <p:nvPr/>
        </p:nvSpPr>
        <p:spPr>
          <a:xfrm>
            <a:off x="8570122" y="3963160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6" name="Shape 31">
            <a:extLst>
              <a:ext uri="{FF2B5EF4-FFF2-40B4-BE49-F238E27FC236}">
                <a16:creationId xmlns:a16="http://schemas.microsoft.com/office/drawing/2014/main" id="{530177F4-598C-5826-3120-DA1E424369B8}"/>
              </a:ext>
            </a:extLst>
          </p:cNvPr>
          <p:cNvSpPr/>
          <p:nvPr/>
        </p:nvSpPr>
        <p:spPr>
          <a:xfrm>
            <a:off x="8724554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7" name="Shape 32">
            <a:extLst>
              <a:ext uri="{FF2B5EF4-FFF2-40B4-BE49-F238E27FC236}">
                <a16:creationId xmlns:a16="http://schemas.microsoft.com/office/drawing/2014/main" id="{0C354468-07A6-BEEC-9994-D4A2980A21EC}"/>
              </a:ext>
            </a:extLst>
          </p:cNvPr>
          <p:cNvSpPr/>
          <p:nvPr/>
        </p:nvSpPr>
        <p:spPr>
          <a:xfrm>
            <a:off x="8899306" y="3963160"/>
            <a:ext cx="105351" cy="185249"/>
          </a:xfrm>
          <a:prstGeom prst="rect">
            <a:avLst/>
          </a:prstGeom>
          <a:solidFill>
            <a:srgbClr val="FAD7C0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8" name="Shape 33">
            <a:extLst>
              <a:ext uri="{FF2B5EF4-FFF2-40B4-BE49-F238E27FC236}">
                <a16:creationId xmlns:a16="http://schemas.microsoft.com/office/drawing/2014/main" id="{82936F64-74B9-D9A3-DB87-FEEE195905EB}"/>
              </a:ext>
            </a:extLst>
          </p:cNvPr>
          <p:cNvSpPr/>
          <p:nvPr/>
        </p:nvSpPr>
        <p:spPr>
          <a:xfrm>
            <a:off x="9043578" y="3962604"/>
            <a:ext cx="105351" cy="185249"/>
          </a:xfrm>
          <a:prstGeom prst="rect">
            <a:avLst/>
          </a:prstGeom>
          <a:solidFill>
            <a:srgbClr val="E8824A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19" name="Shape 34">
            <a:extLst>
              <a:ext uri="{FF2B5EF4-FFF2-40B4-BE49-F238E27FC236}">
                <a16:creationId xmlns:a16="http://schemas.microsoft.com/office/drawing/2014/main" id="{C35E61ED-0144-39A3-B8E0-5C83B983EE9B}"/>
              </a:ext>
            </a:extLst>
          </p:cNvPr>
          <p:cNvSpPr/>
          <p:nvPr/>
        </p:nvSpPr>
        <p:spPr>
          <a:xfrm>
            <a:off x="9203090" y="3963160"/>
            <a:ext cx="105351" cy="185249"/>
          </a:xfrm>
          <a:prstGeom prst="rect">
            <a:avLst/>
          </a:prstGeom>
          <a:solidFill>
            <a:srgbClr val="F09A68"/>
          </a:solidFill>
          <a:ln w="381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23" name="Shape 37">
            <a:extLst>
              <a:ext uri="{FF2B5EF4-FFF2-40B4-BE49-F238E27FC236}">
                <a16:creationId xmlns:a16="http://schemas.microsoft.com/office/drawing/2014/main" id="{589AB67F-B032-644E-504B-5131A892A40E}"/>
              </a:ext>
            </a:extLst>
          </p:cNvPr>
          <p:cNvSpPr/>
          <p:nvPr/>
        </p:nvSpPr>
        <p:spPr>
          <a:xfrm>
            <a:off x="7519767" y="4504623"/>
            <a:ext cx="1959298" cy="868711"/>
          </a:xfrm>
          <a:prstGeom prst="rect">
            <a:avLst/>
          </a:prstGeom>
          <a:solidFill>
            <a:srgbClr val="FAD7C0"/>
          </a:solidFill>
          <a:ln w="15240">
            <a:solidFill>
              <a:srgbClr val="E882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24" name="Text 38">
            <a:extLst>
              <a:ext uri="{FF2B5EF4-FFF2-40B4-BE49-F238E27FC236}">
                <a16:creationId xmlns:a16="http://schemas.microsoft.com/office/drawing/2014/main" id="{4541B881-7CB1-BBC4-E996-C40B629EFEE3}"/>
              </a:ext>
            </a:extLst>
          </p:cNvPr>
          <p:cNvSpPr/>
          <p:nvPr/>
        </p:nvSpPr>
        <p:spPr>
          <a:xfrm>
            <a:off x="7516884" y="4519870"/>
            <a:ext cx="1998931" cy="276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/>
              <a:t>Detection evidence</a:t>
            </a:r>
            <a:endParaRPr lang="en-US" sz="1000" b="1" dirty="0"/>
          </a:p>
        </p:txBody>
      </p:sp>
      <p:sp>
        <p:nvSpPr>
          <p:cNvPr id="225" name="Text 39">
            <a:extLst>
              <a:ext uri="{FF2B5EF4-FFF2-40B4-BE49-F238E27FC236}">
                <a16:creationId xmlns:a16="http://schemas.microsoft.com/office/drawing/2014/main" id="{3AFE16D8-864A-425C-3320-6BE5AD8E2D73}"/>
              </a:ext>
            </a:extLst>
          </p:cNvPr>
          <p:cNvSpPr/>
          <p:nvPr/>
        </p:nvSpPr>
        <p:spPr>
          <a:xfrm>
            <a:off x="7516884" y="4728330"/>
            <a:ext cx="1998931" cy="220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/>
              <a:t>Box + class score analysis</a:t>
            </a:r>
            <a:endParaRPr lang="en-US" sz="1000" b="1" dirty="0"/>
          </a:p>
        </p:txBody>
      </p:sp>
      <p:sp>
        <p:nvSpPr>
          <p:cNvPr id="226" name="Shape 40">
            <a:extLst>
              <a:ext uri="{FF2B5EF4-FFF2-40B4-BE49-F238E27FC236}">
                <a16:creationId xmlns:a16="http://schemas.microsoft.com/office/drawing/2014/main" id="{61469273-9547-8E65-F16C-1732D443BA35}"/>
              </a:ext>
            </a:extLst>
          </p:cNvPr>
          <p:cNvSpPr/>
          <p:nvPr/>
        </p:nvSpPr>
        <p:spPr>
          <a:xfrm>
            <a:off x="7544401" y="4961188"/>
            <a:ext cx="1895475" cy="318318"/>
          </a:xfrm>
          <a:prstGeom prst="rect">
            <a:avLst/>
          </a:prstGeom>
          <a:solidFill>
            <a:srgbClr val="FFFFFF"/>
          </a:solidFill>
          <a:ln w="10160">
            <a:solidFill>
              <a:srgbClr val="E8824A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27" name="Text 41">
            <a:extLst>
              <a:ext uri="{FF2B5EF4-FFF2-40B4-BE49-F238E27FC236}">
                <a16:creationId xmlns:a16="http://schemas.microsoft.com/office/drawing/2014/main" id="{E5AF7DD0-5E85-EB6F-BADB-B10EB1417B0F}"/>
              </a:ext>
            </a:extLst>
          </p:cNvPr>
          <p:cNvSpPr/>
          <p:nvPr/>
        </p:nvSpPr>
        <p:spPr>
          <a:xfrm>
            <a:off x="7577666" y="4921836"/>
            <a:ext cx="1913363" cy="442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000" dirty="0"/>
              <a:t>AP50-proxy and recall metrics</a:t>
            </a:r>
            <a:endParaRPr lang="en-US" sz="1000" b="1" dirty="0"/>
          </a:p>
        </p:txBody>
      </p:sp>
      <p:sp>
        <p:nvSpPr>
          <p:cNvPr id="234" name="Shape 47">
            <a:extLst>
              <a:ext uri="{FF2B5EF4-FFF2-40B4-BE49-F238E27FC236}">
                <a16:creationId xmlns:a16="http://schemas.microsoft.com/office/drawing/2014/main" id="{A9B03B64-76F8-8F5F-64DE-97C2C3A13DE2}"/>
              </a:ext>
            </a:extLst>
          </p:cNvPr>
          <p:cNvSpPr/>
          <p:nvPr/>
        </p:nvSpPr>
        <p:spPr>
          <a:xfrm>
            <a:off x="9855142" y="1298296"/>
            <a:ext cx="1986979" cy="1285975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35" name="Text 48">
            <a:extLst>
              <a:ext uri="{FF2B5EF4-FFF2-40B4-BE49-F238E27FC236}">
                <a16:creationId xmlns:a16="http://schemas.microsoft.com/office/drawing/2014/main" id="{362762A8-ABFD-8613-FD59-5922BB447744}"/>
              </a:ext>
            </a:extLst>
          </p:cNvPr>
          <p:cNvSpPr/>
          <p:nvPr/>
        </p:nvSpPr>
        <p:spPr>
          <a:xfrm>
            <a:off x="9891784" y="1391429"/>
            <a:ext cx="2125694" cy="280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b="1"/>
              <a:t>LVIS + COCO evaluation</a:t>
            </a:r>
            <a:endParaRPr lang="en-US" sz="1000" b="1" dirty="0"/>
          </a:p>
        </p:txBody>
      </p:sp>
      <p:sp>
        <p:nvSpPr>
          <p:cNvPr id="236" name="Shape 49">
            <a:extLst>
              <a:ext uri="{FF2B5EF4-FFF2-40B4-BE49-F238E27FC236}">
                <a16:creationId xmlns:a16="http://schemas.microsoft.com/office/drawing/2014/main" id="{4382D8E2-6B3E-18DE-CFCB-72A5481E6168}"/>
              </a:ext>
            </a:extLst>
          </p:cNvPr>
          <p:cNvSpPr/>
          <p:nvPr/>
        </p:nvSpPr>
        <p:spPr>
          <a:xfrm>
            <a:off x="9925651" y="1887949"/>
            <a:ext cx="579967" cy="646252"/>
          </a:xfrm>
          <a:prstGeom prst="rect">
            <a:avLst/>
          </a:prstGeom>
          <a:solidFill>
            <a:srgbClr val="C9ECEE"/>
          </a:solidFill>
          <a:ln w="1270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37" name="Text 50">
            <a:extLst>
              <a:ext uri="{FF2B5EF4-FFF2-40B4-BE49-F238E27FC236}">
                <a16:creationId xmlns:a16="http://schemas.microsoft.com/office/drawing/2014/main" id="{8C817DE5-5310-792D-B182-1D896A880642}"/>
              </a:ext>
            </a:extLst>
          </p:cNvPr>
          <p:cNvSpPr/>
          <p:nvPr/>
        </p:nvSpPr>
        <p:spPr>
          <a:xfrm>
            <a:off x="9925651" y="1887949"/>
            <a:ext cx="571499" cy="646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🚌</a:t>
            </a:r>
            <a:endParaRPr lang="en-US" sz="1000" dirty="0"/>
          </a:p>
        </p:txBody>
      </p:sp>
      <p:sp>
        <p:nvSpPr>
          <p:cNvPr id="238" name="Shape 51">
            <a:extLst>
              <a:ext uri="{FF2B5EF4-FFF2-40B4-BE49-F238E27FC236}">
                <a16:creationId xmlns:a16="http://schemas.microsoft.com/office/drawing/2014/main" id="{F3F23173-40E6-FA24-A022-210CD203784A}"/>
              </a:ext>
            </a:extLst>
          </p:cNvPr>
          <p:cNvSpPr/>
          <p:nvPr/>
        </p:nvSpPr>
        <p:spPr>
          <a:xfrm>
            <a:off x="10590284" y="1880868"/>
            <a:ext cx="550037" cy="650750"/>
          </a:xfrm>
          <a:prstGeom prst="rect">
            <a:avLst/>
          </a:prstGeom>
          <a:solidFill>
            <a:srgbClr val="F5F5F5"/>
          </a:solidFill>
          <a:ln w="254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39" name="Text 52">
            <a:extLst>
              <a:ext uri="{FF2B5EF4-FFF2-40B4-BE49-F238E27FC236}">
                <a16:creationId xmlns:a16="http://schemas.microsoft.com/office/drawing/2014/main" id="{E4EF0CD5-0168-2312-2511-C22A63558E65}"/>
              </a:ext>
            </a:extLst>
          </p:cNvPr>
          <p:cNvSpPr/>
          <p:nvPr/>
        </p:nvSpPr>
        <p:spPr>
          <a:xfrm>
            <a:off x="10594518" y="1887948"/>
            <a:ext cx="533400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🐕</a:t>
            </a:r>
            <a:endParaRPr lang="en-US" sz="1000" dirty="0"/>
          </a:p>
        </p:txBody>
      </p:sp>
      <p:sp>
        <p:nvSpPr>
          <p:cNvPr id="240" name="Shape 53">
            <a:extLst>
              <a:ext uri="{FF2B5EF4-FFF2-40B4-BE49-F238E27FC236}">
                <a16:creationId xmlns:a16="http://schemas.microsoft.com/office/drawing/2014/main" id="{137BF13B-FEC7-6880-1E16-0C4E731AE5EF}"/>
              </a:ext>
            </a:extLst>
          </p:cNvPr>
          <p:cNvSpPr/>
          <p:nvPr/>
        </p:nvSpPr>
        <p:spPr>
          <a:xfrm>
            <a:off x="11237984" y="1880867"/>
            <a:ext cx="526398" cy="653333"/>
          </a:xfrm>
          <a:prstGeom prst="rect">
            <a:avLst/>
          </a:prstGeom>
          <a:solidFill>
            <a:srgbClr val="C9ECEE"/>
          </a:solidFill>
          <a:ln w="1270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41" name="Text 54">
            <a:extLst>
              <a:ext uri="{FF2B5EF4-FFF2-40B4-BE49-F238E27FC236}">
                <a16:creationId xmlns:a16="http://schemas.microsoft.com/office/drawing/2014/main" id="{890602A0-35A7-D536-39C2-DED6B46F99AE}"/>
              </a:ext>
            </a:extLst>
          </p:cNvPr>
          <p:cNvSpPr/>
          <p:nvPr/>
        </p:nvSpPr>
        <p:spPr>
          <a:xfrm>
            <a:off x="11246451" y="1887948"/>
            <a:ext cx="517931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🚲</a:t>
            </a:r>
            <a:endParaRPr lang="en-US" sz="1000" dirty="0"/>
          </a:p>
        </p:txBody>
      </p:sp>
      <p:sp>
        <p:nvSpPr>
          <p:cNvPr id="278" name="Shape 57">
            <a:extLst>
              <a:ext uri="{FF2B5EF4-FFF2-40B4-BE49-F238E27FC236}">
                <a16:creationId xmlns:a16="http://schemas.microsoft.com/office/drawing/2014/main" id="{74786A70-6C46-AC90-10B9-8207AF376975}"/>
              </a:ext>
            </a:extLst>
          </p:cNvPr>
          <p:cNvSpPr/>
          <p:nvPr/>
        </p:nvSpPr>
        <p:spPr>
          <a:xfrm>
            <a:off x="9852701" y="2660585"/>
            <a:ext cx="1986418" cy="1108762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/>
          <a:lstStyle/>
          <a:p>
            <a:pPr algn="ctr"/>
            <a:endParaRPr lang="en-GB" sz="1000" dirty="0"/>
          </a:p>
        </p:txBody>
      </p:sp>
      <p:sp>
        <p:nvSpPr>
          <p:cNvPr id="279" name="Text 58">
            <a:extLst>
              <a:ext uri="{FF2B5EF4-FFF2-40B4-BE49-F238E27FC236}">
                <a16:creationId xmlns:a16="http://schemas.microsoft.com/office/drawing/2014/main" id="{B9FE0699-7D91-D506-B1C9-A048861214B2}"/>
              </a:ext>
            </a:extLst>
          </p:cNvPr>
          <p:cNvSpPr/>
          <p:nvPr/>
        </p:nvSpPr>
        <p:spPr>
          <a:xfrm>
            <a:off x="9984917" y="2684603"/>
            <a:ext cx="1824567" cy="307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b="1"/>
              <a:t>Frequency-aware reweighting</a:t>
            </a:r>
            <a:endParaRPr lang="en-US" sz="1000" b="1" dirty="0"/>
          </a:p>
        </p:txBody>
      </p:sp>
      <p:sp>
        <p:nvSpPr>
          <p:cNvPr id="280" name="Text 59">
            <a:extLst>
              <a:ext uri="{FF2B5EF4-FFF2-40B4-BE49-F238E27FC236}">
                <a16:creationId xmlns:a16="http://schemas.microsoft.com/office/drawing/2014/main" id="{8BFA449D-E8FE-95BE-C816-A4400CF4CA57}"/>
              </a:ext>
            </a:extLst>
          </p:cNvPr>
          <p:cNvSpPr/>
          <p:nvPr/>
        </p:nvSpPr>
        <p:spPr>
          <a:xfrm>
            <a:off x="9980716" y="3114636"/>
            <a:ext cx="310376" cy="161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1" name="Shape 60">
            <a:extLst>
              <a:ext uri="{FF2B5EF4-FFF2-40B4-BE49-F238E27FC236}">
                <a16:creationId xmlns:a16="http://schemas.microsoft.com/office/drawing/2014/main" id="{B334A822-B5DE-963C-8C4A-AA072A980C17}"/>
              </a:ext>
            </a:extLst>
          </p:cNvPr>
          <p:cNvSpPr/>
          <p:nvPr/>
        </p:nvSpPr>
        <p:spPr>
          <a:xfrm>
            <a:off x="10024421" y="2975918"/>
            <a:ext cx="45719" cy="61351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2" name="Shape 61">
            <a:extLst>
              <a:ext uri="{FF2B5EF4-FFF2-40B4-BE49-F238E27FC236}">
                <a16:creationId xmlns:a16="http://schemas.microsoft.com/office/drawing/2014/main" id="{03248411-39C4-30E2-2A61-1B20B4B7E782}"/>
              </a:ext>
            </a:extLst>
          </p:cNvPr>
          <p:cNvSpPr/>
          <p:nvPr/>
        </p:nvSpPr>
        <p:spPr>
          <a:xfrm>
            <a:off x="10094830" y="2964570"/>
            <a:ext cx="49532" cy="62380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3" name="Shape 62">
            <a:extLst>
              <a:ext uri="{FF2B5EF4-FFF2-40B4-BE49-F238E27FC236}">
                <a16:creationId xmlns:a16="http://schemas.microsoft.com/office/drawing/2014/main" id="{3ADE99AE-DB1C-38C5-26BE-581603089DE3}"/>
              </a:ext>
            </a:extLst>
          </p:cNvPr>
          <p:cNvSpPr/>
          <p:nvPr/>
        </p:nvSpPr>
        <p:spPr>
          <a:xfrm>
            <a:off x="10165239" y="3021637"/>
            <a:ext cx="45719" cy="573437"/>
          </a:xfrm>
          <a:prstGeom prst="rect">
            <a:avLst/>
          </a:prstGeom>
          <a:solidFill>
            <a:srgbClr val="4AACB0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4" name="Shape 63">
            <a:extLst>
              <a:ext uri="{FF2B5EF4-FFF2-40B4-BE49-F238E27FC236}">
                <a16:creationId xmlns:a16="http://schemas.microsoft.com/office/drawing/2014/main" id="{8E0DA566-992D-8EA4-2528-A86C34AC2E24}"/>
              </a:ext>
            </a:extLst>
          </p:cNvPr>
          <p:cNvSpPr/>
          <p:nvPr/>
        </p:nvSpPr>
        <p:spPr>
          <a:xfrm>
            <a:off x="10235647" y="3113078"/>
            <a:ext cx="45719" cy="479685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5" name="Shape 64">
            <a:extLst>
              <a:ext uri="{FF2B5EF4-FFF2-40B4-BE49-F238E27FC236}">
                <a16:creationId xmlns:a16="http://schemas.microsoft.com/office/drawing/2014/main" id="{5A0F6CFC-6098-F388-4D4C-23574BA83CC4}"/>
              </a:ext>
            </a:extLst>
          </p:cNvPr>
          <p:cNvSpPr/>
          <p:nvPr/>
        </p:nvSpPr>
        <p:spPr>
          <a:xfrm>
            <a:off x="10306056" y="3204518"/>
            <a:ext cx="45719" cy="388245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6" name="Shape 65">
            <a:extLst>
              <a:ext uri="{FF2B5EF4-FFF2-40B4-BE49-F238E27FC236}">
                <a16:creationId xmlns:a16="http://schemas.microsoft.com/office/drawing/2014/main" id="{D4CCCA8C-914F-195F-E5D4-EB341B1B003D}"/>
              </a:ext>
            </a:extLst>
          </p:cNvPr>
          <p:cNvSpPr/>
          <p:nvPr/>
        </p:nvSpPr>
        <p:spPr>
          <a:xfrm>
            <a:off x="10376465" y="3287772"/>
            <a:ext cx="45719" cy="309224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7" name="Shape 66">
            <a:extLst>
              <a:ext uri="{FF2B5EF4-FFF2-40B4-BE49-F238E27FC236}">
                <a16:creationId xmlns:a16="http://schemas.microsoft.com/office/drawing/2014/main" id="{F72282E7-3F46-D916-6300-EA27110E1622}"/>
              </a:ext>
            </a:extLst>
          </p:cNvPr>
          <p:cNvSpPr/>
          <p:nvPr/>
        </p:nvSpPr>
        <p:spPr>
          <a:xfrm>
            <a:off x="10438407" y="3361236"/>
            <a:ext cx="45719" cy="235911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8" name="Shape 67">
            <a:extLst>
              <a:ext uri="{FF2B5EF4-FFF2-40B4-BE49-F238E27FC236}">
                <a16:creationId xmlns:a16="http://schemas.microsoft.com/office/drawing/2014/main" id="{84A644C9-8A36-C278-D261-82FC343509B6}"/>
              </a:ext>
            </a:extLst>
          </p:cNvPr>
          <p:cNvSpPr/>
          <p:nvPr/>
        </p:nvSpPr>
        <p:spPr>
          <a:xfrm>
            <a:off x="10513050" y="3361236"/>
            <a:ext cx="45719" cy="233562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89" name="Shape 68">
            <a:extLst>
              <a:ext uri="{FF2B5EF4-FFF2-40B4-BE49-F238E27FC236}">
                <a16:creationId xmlns:a16="http://schemas.microsoft.com/office/drawing/2014/main" id="{476D7F99-6741-28E7-0369-A3FFDCA2961F}"/>
              </a:ext>
            </a:extLst>
          </p:cNvPr>
          <p:cNvSpPr/>
          <p:nvPr/>
        </p:nvSpPr>
        <p:spPr>
          <a:xfrm>
            <a:off x="10587691" y="3393642"/>
            <a:ext cx="45719" cy="197629"/>
          </a:xfrm>
          <a:prstGeom prst="rect">
            <a:avLst/>
          </a:prstGeom>
          <a:solidFill>
            <a:srgbClr val="90D0D5"/>
          </a:solidFill>
          <a:ln w="12700">
            <a:solidFill>
              <a:srgbClr val="90D0D5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0" name="Shape 69">
            <a:extLst>
              <a:ext uri="{FF2B5EF4-FFF2-40B4-BE49-F238E27FC236}">
                <a16:creationId xmlns:a16="http://schemas.microsoft.com/office/drawing/2014/main" id="{0988D20D-00F2-03D1-A5BD-3EED25E229AE}"/>
              </a:ext>
            </a:extLst>
          </p:cNvPr>
          <p:cNvSpPr/>
          <p:nvPr/>
        </p:nvSpPr>
        <p:spPr>
          <a:xfrm>
            <a:off x="10658100" y="3451407"/>
            <a:ext cx="45719" cy="138182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1" name="Shape 70">
            <a:extLst>
              <a:ext uri="{FF2B5EF4-FFF2-40B4-BE49-F238E27FC236}">
                <a16:creationId xmlns:a16="http://schemas.microsoft.com/office/drawing/2014/main" id="{3835DD1E-8992-C5A0-79AB-983EB82B3496}"/>
              </a:ext>
            </a:extLst>
          </p:cNvPr>
          <p:cNvSpPr/>
          <p:nvPr/>
        </p:nvSpPr>
        <p:spPr>
          <a:xfrm>
            <a:off x="10728509" y="3478839"/>
            <a:ext cx="49630" cy="110750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2" name="Shape 71">
            <a:extLst>
              <a:ext uri="{FF2B5EF4-FFF2-40B4-BE49-F238E27FC236}">
                <a16:creationId xmlns:a16="http://schemas.microsoft.com/office/drawing/2014/main" id="{7E1641E0-6E5F-E775-936A-B185BF2314A1}"/>
              </a:ext>
            </a:extLst>
          </p:cNvPr>
          <p:cNvSpPr/>
          <p:nvPr/>
        </p:nvSpPr>
        <p:spPr>
          <a:xfrm>
            <a:off x="10798918" y="3497126"/>
            <a:ext cx="47483" cy="8928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3" name="Shape 72">
            <a:extLst>
              <a:ext uri="{FF2B5EF4-FFF2-40B4-BE49-F238E27FC236}">
                <a16:creationId xmlns:a16="http://schemas.microsoft.com/office/drawing/2014/main" id="{5E483627-1136-469A-B87E-48C9A7A80C6B}"/>
              </a:ext>
            </a:extLst>
          </p:cNvPr>
          <p:cNvSpPr/>
          <p:nvPr/>
        </p:nvSpPr>
        <p:spPr>
          <a:xfrm>
            <a:off x="10869327" y="3515414"/>
            <a:ext cx="45719" cy="7258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4" name="Shape 73">
            <a:extLst>
              <a:ext uri="{FF2B5EF4-FFF2-40B4-BE49-F238E27FC236}">
                <a16:creationId xmlns:a16="http://schemas.microsoft.com/office/drawing/2014/main" id="{6ECE5FA3-4E22-FB03-93B1-D39B094414C9}"/>
              </a:ext>
            </a:extLst>
          </p:cNvPr>
          <p:cNvSpPr/>
          <p:nvPr/>
        </p:nvSpPr>
        <p:spPr>
          <a:xfrm>
            <a:off x="10939735" y="3524559"/>
            <a:ext cx="52716" cy="65030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5" name="Shape 74">
            <a:extLst>
              <a:ext uri="{FF2B5EF4-FFF2-40B4-BE49-F238E27FC236}">
                <a16:creationId xmlns:a16="http://schemas.microsoft.com/office/drawing/2014/main" id="{FB1CFF9C-28FC-76C5-8443-238A8EC06709}"/>
              </a:ext>
            </a:extLst>
          </p:cNvPr>
          <p:cNvSpPr/>
          <p:nvPr/>
        </p:nvSpPr>
        <p:spPr>
          <a:xfrm>
            <a:off x="11010144" y="3533702"/>
            <a:ext cx="50570" cy="55886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6" name="Shape 75">
            <a:extLst>
              <a:ext uri="{FF2B5EF4-FFF2-40B4-BE49-F238E27FC236}">
                <a16:creationId xmlns:a16="http://schemas.microsoft.com/office/drawing/2014/main" id="{A692D562-1895-19EA-1886-B7F254E20E45}"/>
              </a:ext>
            </a:extLst>
          </p:cNvPr>
          <p:cNvSpPr/>
          <p:nvPr/>
        </p:nvSpPr>
        <p:spPr>
          <a:xfrm>
            <a:off x="11080553" y="3542846"/>
            <a:ext cx="53186" cy="49917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7" name="Shape 76">
            <a:extLst>
              <a:ext uri="{FF2B5EF4-FFF2-40B4-BE49-F238E27FC236}">
                <a16:creationId xmlns:a16="http://schemas.microsoft.com/office/drawing/2014/main" id="{860DF1BC-94AB-36D9-6D90-C335D30C4AFD}"/>
              </a:ext>
            </a:extLst>
          </p:cNvPr>
          <p:cNvSpPr/>
          <p:nvPr/>
        </p:nvSpPr>
        <p:spPr>
          <a:xfrm>
            <a:off x="11150962" y="3551990"/>
            <a:ext cx="45719" cy="45719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8" name="Shape 77">
            <a:extLst>
              <a:ext uri="{FF2B5EF4-FFF2-40B4-BE49-F238E27FC236}">
                <a16:creationId xmlns:a16="http://schemas.microsoft.com/office/drawing/2014/main" id="{94A73762-CD9D-460E-D25F-ABC723CCE256}"/>
              </a:ext>
            </a:extLst>
          </p:cNvPr>
          <p:cNvSpPr/>
          <p:nvPr/>
        </p:nvSpPr>
        <p:spPr>
          <a:xfrm>
            <a:off x="11221371" y="3551990"/>
            <a:ext cx="48893" cy="45719"/>
          </a:xfrm>
          <a:prstGeom prst="rect">
            <a:avLst/>
          </a:prstGeom>
          <a:solidFill>
            <a:srgbClr val="C9ECEE"/>
          </a:solidFill>
          <a:ln w="12700">
            <a:solidFill>
              <a:srgbClr val="C9ECEE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299" name="Shape 78">
            <a:extLst>
              <a:ext uri="{FF2B5EF4-FFF2-40B4-BE49-F238E27FC236}">
                <a16:creationId xmlns:a16="http://schemas.microsoft.com/office/drawing/2014/main" id="{CCC3C7A4-FE26-90C6-1784-7AC6F7BE1D84}"/>
              </a:ext>
            </a:extLst>
          </p:cNvPr>
          <p:cNvSpPr/>
          <p:nvPr/>
        </p:nvSpPr>
        <p:spPr>
          <a:xfrm>
            <a:off x="10010319" y="3596997"/>
            <a:ext cx="1333500" cy="4234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300" name="Text 79">
            <a:extLst>
              <a:ext uri="{FF2B5EF4-FFF2-40B4-BE49-F238E27FC236}">
                <a16:creationId xmlns:a16="http://schemas.microsoft.com/office/drawing/2014/main" id="{DC7D50F0-3626-2DBA-EB51-1BC3E2C34BC8}"/>
              </a:ext>
            </a:extLst>
          </p:cNvPr>
          <p:cNvSpPr/>
          <p:nvPr/>
        </p:nvSpPr>
        <p:spPr>
          <a:xfrm>
            <a:off x="10012681" y="3650054"/>
            <a:ext cx="442138" cy="73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dirty="0"/>
              <a:t>Rare</a:t>
            </a:r>
            <a:endParaRPr lang="en-US" sz="1000" dirty="0"/>
          </a:p>
        </p:txBody>
      </p:sp>
      <p:sp>
        <p:nvSpPr>
          <p:cNvPr id="301" name="Text 80">
            <a:extLst>
              <a:ext uri="{FF2B5EF4-FFF2-40B4-BE49-F238E27FC236}">
                <a16:creationId xmlns:a16="http://schemas.microsoft.com/office/drawing/2014/main" id="{8B0979BB-2032-7D79-A9D0-90B1F2B32889}"/>
              </a:ext>
            </a:extLst>
          </p:cNvPr>
          <p:cNvSpPr/>
          <p:nvPr/>
        </p:nvSpPr>
        <p:spPr>
          <a:xfrm>
            <a:off x="10342880" y="3632885"/>
            <a:ext cx="777240" cy="90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dirty="0"/>
              <a:t>Common</a:t>
            </a:r>
            <a:endParaRPr lang="en-US" sz="1000" dirty="0"/>
          </a:p>
        </p:txBody>
      </p:sp>
      <p:sp>
        <p:nvSpPr>
          <p:cNvPr id="302" name="Text 81">
            <a:extLst>
              <a:ext uri="{FF2B5EF4-FFF2-40B4-BE49-F238E27FC236}">
                <a16:creationId xmlns:a16="http://schemas.microsoft.com/office/drawing/2014/main" id="{C0899B91-2447-44A6-6300-A97653A5EA2C}"/>
              </a:ext>
            </a:extLst>
          </p:cNvPr>
          <p:cNvSpPr/>
          <p:nvPr/>
        </p:nvSpPr>
        <p:spPr>
          <a:xfrm>
            <a:off x="11064417" y="3632885"/>
            <a:ext cx="718007" cy="8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dirty="0"/>
              <a:t>Frequent</a:t>
            </a:r>
            <a:endParaRPr lang="en-US" sz="1000" dirty="0"/>
          </a:p>
        </p:txBody>
      </p:sp>
      <p:sp>
        <p:nvSpPr>
          <p:cNvPr id="305" name="Shape 84">
            <a:extLst>
              <a:ext uri="{FF2B5EF4-FFF2-40B4-BE49-F238E27FC236}">
                <a16:creationId xmlns:a16="http://schemas.microsoft.com/office/drawing/2014/main" id="{6C96F630-A49E-0962-CE84-928389916E61}"/>
              </a:ext>
            </a:extLst>
          </p:cNvPr>
          <p:cNvSpPr/>
          <p:nvPr/>
        </p:nvSpPr>
        <p:spPr>
          <a:xfrm>
            <a:off x="9855142" y="3923116"/>
            <a:ext cx="1985034" cy="1518034"/>
          </a:xfrm>
          <a:prstGeom prst="rect">
            <a:avLst/>
          </a:prstGeom>
          <a:noFill/>
          <a:ln w="15240">
            <a:solidFill>
              <a:srgbClr val="4AACB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306" name="Text 85">
            <a:extLst>
              <a:ext uri="{FF2B5EF4-FFF2-40B4-BE49-F238E27FC236}">
                <a16:creationId xmlns:a16="http://schemas.microsoft.com/office/drawing/2014/main" id="{B8BA673D-7AFA-8FBD-0B13-D0E7D4BA9B23}"/>
              </a:ext>
            </a:extLst>
          </p:cNvPr>
          <p:cNvSpPr/>
          <p:nvPr/>
        </p:nvSpPr>
        <p:spPr>
          <a:xfrm>
            <a:off x="9855142" y="3969962"/>
            <a:ext cx="2030944" cy="33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/>
              <a:t>Final safe claim</a:t>
            </a:r>
            <a:endParaRPr lang="en-US" sz="1000" dirty="0"/>
          </a:p>
        </p:txBody>
      </p:sp>
      <p:sp>
        <p:nvSpPr>
          <p:cNvPr id="307" name="Text 86">
            <a:extLst>
              <a:ext uri="{FF2B5EF4-FFF2-40B4-BE49-F238E27FC236}">
                <a16:creationId xmlns:a16="http://schemas.microsoft.com/office/drawing/2014/main" id="{C743DA82-62A6-C5DC-57F8-E0564B6CBE46}"/>
              </a:ext>
            </a:extLst>
          </p:cNvPr>
          <p:cNvSpPr/>
          <p:nvPr/>
        </p:nvSpPr>
        <p:spPr>
          <a:xfrm>
            <a:off x="9855142" y="4278271"/>
            <a:ext cx="1971276" cy="410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/>
              <a:t>Semantic evidence improves recall, but FP risk must be modelled</a:t>
            </a:r>
            <a:endParaRPr lang="en-US" sz="1000" b="1" dirty="0"/>
          </a:p>
        </p:txBody>
      </p:sp>
      <p:sp>
        <p:nvSpPr>
          <p:cNvPr id="308" name="Shape 87">
            <a:extLst>
              <a:ext uri="{FF2B5EF4-FFF2-40B4-BE49-F238E27FC236}">
                <a16:creationId xmlns:a16="http://schemas.microsoft.com/office/drawing/2014/main" id="{6A2E761E-C433-BC6D-2931-FE10FD4FD389}"/>
              </a:ext>
            </a:extLst>
          </p:cNvPr>
          <p:cNvSpPr/>
          <p:nvPr/>
        </p:nvSpPr>
        <p:spPr>
          <a:xfrm>
            <a:off x="9933732" y="4794462"/>
            <a:ext cx="604693" cy="525992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309" name="Text 88">
            <a:extLst>
              <a:ext uri="{FF2B5EF4-FFF2-40B4-BE49-F238E27FC236}">
                <a16:creationId xmlns:a16="http://schemas.microsoft.com/office/drawing/2014/main" id="{9EEAC4F5-82C6-57CA-4B56-3CC8CC91A0C1}"/>
              </a:ext>
            </a:extLst>
          </p:cNvPr>
          <p:cNvSpPr/>
          <p:nvPr/>
        </p:nvSpPr>
        <p:spPr>
          <a:xfrm>
            <a:off x="9915260" y="4794462"/>
            <a:ext cx="581891" cy="525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🐘</a:t>
            </a:r>
            <a:endParaRPr lang="en-US" sz="1000" dirty="0"/>
          </a:p>
        </p:txBody>
      </p:sp>
      <p:sp>
        <p:nvSpPr>
          <p:cNvPr id="310" name="Shape 89">
            <a:extLst>
              <a:ext uri="{FF2B5EF4-FFF2-40B4-BE49-F238E27FC236}">
                <a16:creationId xmlns:a16="http://schemas.microsoft.com/office/drawing/2014/main" id="{1D2D783D-3C78-1334-7750-C57D9F4E0E71}"/>
              </a:ext>
            </a:extLst>
          </p:cNvPr>
          <p:cNvSpPr/>
          <p:nvPr/>
        </p:nvSpPr>
        <p:spPr>
          <a:xfrm>
            <a:off x="10571042" y="4794461"/>
            <a:ext cx="637309" cy="525991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311" name="Text 90">
            <a:extLst>
              <a:ext uri="{FF2B5EF4-FFF2-40B4-BE49-F238E27FC236}">
                <a16:creationId xmlns:a16="http://schemas.microsoft.com/office/drawing/2014/main" id="{6F1732DC-35EB-5AAC-6012-A4F301C496AB}"/>
              </a:ext>
            </a:extLst>
          </p:cNvPr>
          <p:cNvSpPr/>
          <p:nvPr/>
        </p:nvSpPr>
        <p:spPr>
          <a:xfrm>
            <a:off x="10571043" y="4794463"/>
            <a:ext cx="572654" cy="52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🐦</a:t>
            </a:r>
            <a:endParaRPr lang="en-US" sz="1000" dirty="0"/>
          </a:p>
        </p:txBody>
      </p:sp>
      <p:sp>
        <p:nvSpPr>
          <p:cNvPr id="312" name="Shape 91">
            <a:extLst>
              <a:ext uri="{FF2B5EF4-FFF2-40B4-BE49-F238E27FC236}">
                <a16:creationId xmlns:a16="http://schemas.microsoft.com/office/drawing/2014/main" id="{C5B8108E-7A55-5977-A14D-B2BF27AD3222}"/>
              </a:ext>
            </a:extLst>
          </p:cNvPr>
          <p:cNvSpPr/>
          <p:nvPr/>
        </p:nvSpPr>
        <p:spPr>
          <a:xfrm>
            <a:off x="11233723" y="4794461"/>
            <a:ext cx="547284" cy="525991"/>
          </a:xfrm>
          <a:prstGeom prst="rect">
            <a:avLst/>
          </a:prstGeom>
          <a:solidFill>
            <a:srgbClr val="F0FAFA"/>
          </a:solidFill>
          <a:ln w="12700">
            <a:solidFill>
              <a:srgbClr val="4AACB0"/>
            </a:solidFill>
            <a:prstDash val="solid"/>
          </a:ln>
        </p:spPr>
        <p:txBody>
          <a:bodyPr wrap="square"/>
          <a:lstStyle/>
          <a:p>
            <a:pPr algn="ctr"/>
            <a:endParaRPr sz="1000"/>
          </a:p>
        </p:txBody>
      </p:sp>
      <p:sp>
        <p:nvSpPr>
          <p:cNvPr id="313" name="Text 92">
            <a:extLst>
              <a:ext uri="{FF2B5EF4-FFF2-40B4-BE49-F238E27FC236}">
                <a16:creationId xmlns:a16="http://schemas.microsoft.com/office/drawing/2014/main" id="{BF44889F-AB28-F7D3-4314-D7224C42E68F}"/>
              </a:ext>
            </a:extLst>
          </p:cNvPr>
          <p:cNvSpPr/>
          <p:nvPr/>
        </p:nvSpPr>
        <p:spPr>
          <a:xfrm>
            <a:off x="11282242" y="4794461"/>
            <a:ext cx="443344" cy="525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🪑</a:t>
            </a:r>
            <a:endParaRPr lang="en-US" sz="1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6D3903-1646-414E-3B0E-159834E74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0" y="1233864"/>
            <a:ext cx="1943391" cy="719032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E0FD396-D4DA-08DA-7D0D-70711BF87141}"/>
              </a:ext>
            </a:extLst>
          </p:cNvPr>
          <p:cNvSpPr/>
          <p:nvPr/>
        </p:nvSpPr>
        <p:spPr>
          <a:xfrm>
            <a:off x="421414" y="4143900"/>
            <a:ext cx="1631224" cy="1057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00" dirty="0"/>
              <a:t>Long-tail distribution</a:t>
            </a:r>
            <a:endParaRPr lang="en-GB" sz="10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76D889C-B0B4-A5F9-031A-EDD394478A12}"/>
              </a:ext>
            </a:extLst>
          </p:cNvPr>
          <p:cNvSpPr/>
          <p:nvPr/>
        </p:nvSpPr>
        <p:spPr>
          <a:xfrm rot="16200000">
            <a:off x="107169" y="4514116"/>
            <a:ext cx="641404" cy="1306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400"/>
              <a:t>Frequency</a:t>
            </a:r>
            <a:endParaRPr lang="en-GB" sz="4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5ED4A00-6989-79DB-F1FA-E18729F0FC29}"/>
              </a:ext>
            </a:extLst>
          </p:cNvPr>
          <p:cNvSpPr/>
          <p:nvPr/>
        </p:nvSpPr>
        <p:spPr>
          <a:xfrm>
            <a:off x="1033868" y="4953756"/>
            <a:ext cx="479053" cy="6966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300" dirty="0"/>
              <a:t>Class</a:t>
            </a:r>
            <a:endParaRPr lang="en-GB" sz="300" dirty="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01863FC-F74B-930E-7275-31585790E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481" y="4352279"/>
            <a:ext cx="1144819" cy="587087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8DCE5726-9D6C-3298-3870-E9ABB9B9B5B6}"/>
              </a:ext>
            </a:extLst>
          </p:cNvPr>
          <p:cNvSpPr/>
          <p:nvPr/>
        </p:nvSpPr>
        <p:spPr>
          <a:xfrm>
            <a:off x="609011" y="4917086"/>
            <a:ext cx="110728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0</a:t>
            </a:r>
            <a:endParaRPr lang="en-GB" sz="4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D7AF517-B073-2525-135C-CC240C692634}"/>
              </a:ext>
            </a:extLst>
          </p:cNvPr>
          <p:cNvSpPr/>
          <p:nvPr/>
        </p:nvSpPr>
        <p:spPr>
          <a:xfrm>
            <a:off x="862050" y="4965810"/>
            <a:ext cx="127000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300" dirty="0"/>
              <a:t>0</a:t>
            </a:r>
            <a:endParaRPr lang="en-GB" sz="3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82101DC-E2EE-5EFF-E3AD-81EC640C4EB7}"/>
              </a:ext>
            </a:extLst>
          </p:cNvPr>
          <p:cNvSpPr/>
          <p:nvPr/>
        </p:nvSpPr>
        <p:spPr>
          <a:xfrm>
            <a:off x="1473972" y="5028729"/>
            <a:ext cx="396875" cy="4668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1</a:t>
            </a:r>
          </a:p>
          <a:p>
            <a:pPr algn="ctr"/>
            <a:endParaRPr lang="en-GB" sz="10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DBCEDA0-B117-C708-F8F0-3A64079BBFB5}"/>
              </a:ext>
            </a:extLst>
          </p:cNvPr>
          <p:cNvSpPr/>
          <p:nvPr/>
        </p:nvSpPr>
        <p:spPr>
          <a:xfrm>
            <a:off x="448276" y="4792692"/>
            <a:ext cx="287337" cy="4571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1000</a:t>
            </a:r>
            <a:endParaRPr lang="en-GB" sz="4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B736F7B-355F-0A75-2340-8AAAE352D609}"/>
              </a:ext>
            </a:extLst>
          </p:cNvPr>
          <p:cNvSpPr/>
          <p:nvPr/>
        </p:nvSpPr>
        <p:spPr>
          <a:xfrm>
            <a:off x="465381" y="4683398"/>
            <a:ext cx="267057" cy="568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400</a:t>
            </a:r>
            <a:endParaRPr lang="en-GB" sz="4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445B128-4849-8B4F-5C80-692EC2F385B9}"/>
              </a:ext>
            </a:extLst>
          </p:cNvPr>
          <p:cNvSpPr/>
          <p:nvPr/>
        </p:nvSpPr>
        <p:spPr>
          <a:xfrm>
            <a:off x="444500" y="4552960"/>
            <a:ext cx="286352" cy="615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600</a:t>
            </a:r>
            <a:endParaRPr lang="en-GB" sz="4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BE67C7-63B8-ED0B-F9C6-297AAB7A9259}"/>
              </a:ext>
            </a:extLst>
          </p:cNvPr>
          <p:cNvSpPr/>
          <p:nvPr/>
        </p:nvSpPr>
        <p:spPr>
          <a:xfrm>
            <a:off x="465381" y="4425951"/>
            <a:ext cx="268646" cy="901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800</a:t>
            </a:r>
            <a:endParaRPr lang="en-GB" sz="4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AF7C6FF-B401-40BB-B112-F673C6715FA2}"/>
              </a:ext>
            </a:extLst>
          </p:cNvPr>
          <p:cNvSpPr/>
          <p:nvPr/>
        </p:nvSpPr>
        <p:spPr>
          <a:xfrm>
            <a:off x="448277" y="4344626"/>
            <a:ext cx="295274" cy="752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400" dirty="0"/>
              <a:t>1000</a:t>
            </a:r>
            <a:endParaRPr lang="en-GB" sz="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53AA5D-92B6-5606-90B0-180C14D18CA2}"/>
              </a:ext>
            </a:extLst>
          </p:cNvPr>
          <p:cNvCxnSpPr>
            <a:cxnSpLocks/>
          </p:cNvCxnSpPr>
          <p:nvPr/>
        </p:nvCxnSpPr>
        <p:spPr>
          <a:xfrm>
            <a:off x="5818102" y="3104400"/>
            <a:ext cx="0" cy="17696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95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34437F27-009C-4061-A53C-9A1A67D8CBEE}"/>
              </a:ext>
            </a:extLst>
          </p:cNvPr>
          <p:cNvSpPr/>
          <p:nvPr/>
        </p:nvSpPr>
        <p:spPr>
          <a:xfrm>
            <a:off x="54864" y="804672"/>
            <a:ext cx="2304287" cy="55778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FE10E527-F240-4435-855E-9D18FCE99199}"/>
              </a:ext>
            </a:extLst>
          </p:cNvPr>
          <p:cNvSpPr/>
          <p:nvPr/>
        </p:nvSpPr>
        <p:spPr>
          <a:xfrm>
            <a:off x="2487168" y="804672"/>
            <a:ext cx="2340864" cy="55778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C1D56695-EAF9-3AB4-4602-7E9BCA725B90}"/>
              </a:ext>
            </a:extLst>
          </p:cNvPr>
          <p:cNvSpPr/>
          <p:nvPr/>
        </p:nvSpPr>
        <p:spPr>
          <a:xfrm>
            <a:off x="4962779" y="878842"/>
            <a:ext cx="2523744" cy="5495541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DD0B568-0ED4-C64A-7914-2B5550A1EB48}"/>
              </a:ext>
            </a:extLst>
          </p:cNvPr>
          <p:cNvSpPr/>
          <p:nvPr/>
        </p:nvSpPr>
        <p:spPr>
          <a:xfrm>
            <a:off x="7534656" y="804672"/>
            <a:ext cx="2194560" cy="5568691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98BFCFAD-5F42-F66E-FA95-CD2626F69EFB}"/>
              </a:ext>
            </a:extLst>
          </p:cNvPr>
          <p:cNvSpPr/>
          <p:nvPr/>
        </p:nvSpPr>
        <p:spPr>
          <a:xfrm>
            <a:off x="9820656" y="813818"/>
            <a:ext cx="2304288" cy="5559545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4B890-0B70-8899-BC19-6093E1D2C564}"/>
              </a:ext>
            </a:extLst>
          </p:cNvPr>
          <p:cNvSpPr/>
          <p:nvPr/>
        </p:nvSpPr>
        <p:spPr>
          <a:xfrm>
            <a:off x="42863" y="768096"/>
            <a:ext cx="2338197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DC778-69A1-C4B9-97CD-8A37C5E9399C}"/>
              </a:ext>
            </a:extLst>
          </p:cNvPr>
          <p:cNvSpPr txBox="1"/>
          <p:nvPr/>
        </p:nvSpPr>
        <p:spPr>
          <a:xfrm>
            <a:off x="82296" y="889612"/>
            <a:ext cx="2157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2613C-F401-2AB2-6450-D476CB5AC318}"/>
              </a:ext>
            </a:extLst>
          </p:cNvPr>
          <p:cNvSpPr/>
          <p:nvPr/>
        </p:nvSpPr>
        <p:spPr>
          <a:xfrm>
            <a:off x="2472500" y="786384"/>
            <a:ext cx="237020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2A139-3842-0033-7AE5-DC1E9A4015FD}"/>
              </a:ext>
            </a:extLst>
          </p:cNvPr>
          <p:cNvSpPr txBox="1"/>
          <p:nvPr/>
        </p:nvSpPr>
        <p:spPr>
          <a:xfrm>
            <a:off x="2545592" y="907262"/>
            <a:ext cx="2231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ACCA2-0D81-3F45-4F8F-8294E352E96A}"/>
              </a:ext>
            </a:extLst>
          </p:cNvPr>
          <p:cNvSpPr/>
          <p:nvPr/>
        </p:nvSpPr>
        <p:spPr>
          <a:xfrm>
            <a:off x="4962779" y="804672"/>
            <a:ext cx="2517011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784BE-4A24-0042-AB04-5ED32E3F2718}"/>
              </a:ext>
            </a:extLst>
          </p:cNvPr>
          <p:cNvSpPr txBox="1"/>
          <p:nvPr/>
        </p:nvSpPr>
        <p:spPr>
          <a:xfrm>
            <a:off x="5002341" y="922528"/>
            <a:ext cx="2414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FUSION</a:t>
            </a:r>
            <a:r>
              <a:rPr sz="800" b="1" dirty="0"/>
              <a:t> </a:t>
            </a:r>
            <a:r>
              <a:rPr sz="800" b="1" dirty="0">
                <a:solidFill>
                  <a:schemeClr val="bg1"/>
                </a:solidFill>
              </a:rPr>
              <a:t>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91F54-688C-172A-BC54-990DD67FA8DE}"/>
              </a:ext>
            </a:extLst>
          </p:cNvPr>
          <p:cNvSpPr/>
          <p:nvPr/>
        </p:nvSpPr>
        <p:spPr>
          <a:xfrm>
            <a:off x="7519988" y="786384"/>
            <a:ext cx="2227516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50A8D2-312E-164E-71E0-178F98E7CBD2}"/>
              </a:ext>
            </a:extLst>
          </p:cNvPr>
          <p:cNvSpPr txBox="1"/>
          <p:nvPr/>
        </p:nvSpPr>
        <p:spPr>
          <a:xfrm>
            <a:off x="7543802" y="916406"/>
            <a:ext cx="20848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62554D-CD08-AE01-3AD7-411E46714F54}"/>
              </a:ext>
            </a:extLst>
          </p:cNvPr>
          <p:cNvSpPr/>
          <p:nvPr/>
        </p:nvSpPr>
        <p:spPr>
          <a:xfrm>
            <a:off x="9802368" y="786384"/>
            <a:ext cx="2334768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8999AE-7935-4D56-0795-769A8ACC5A79}"/>
              </a:ext>
            </a:extLst>
          </p:cNvPr>
          <p:cNvSpPr txBox="1"/>
          <p:nvPr/>
        </p:nvSpPr>
        <p:spPr>
          <a:xfrm>
            <a:off x="9930384" y="927556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SAFE CONTRIBUTIONS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E3EF0C-8F49-2E11-0432-7C6273BA5F65}"/>
              </a:ext>
            </a:extLst>
          </p:cNvPr>
          <p:cNvSpPr/>
          <p:nvPr/>
        </p:nvSpPr>
        <p:spPr>
          <a:xfrm>
            <a:off x="997670" y="328220"/>
            <a:ext cx="438912" cy="438912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005-3DBD-D059-65C1-56B2316CB4E7}"/>
              </a:ext>
            </a:extLst>
          </p:cNvPr>
          <p:cNvSpPr txBox="1"/>
          <p:nvPr/>
        </p:nvSpPr>
        <p:spPr>
          <a:xfrm>
            <a:off x="973286" y="411338"/>
            <a:ext cx="438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7AF3F9-A30F-BD58-986F-1A862986CB37}"/>
              </a:ext>
            </a:extLst>
          </p:cNvPr>
          <p:cNvSpPr/>
          <p:nvPr/>
        </p:nvSpPr>
        <p:spPr>
          <a:xfrm>
            <a:off x="3419856" y="353947"/>
            <a:ext cx="438912" cy="438912"/>
          </a:xfrm>
          <a:prstGeom prst="ellipse">
            <a:avLst/>
          </a:prstGeom>
          <a:solidFill>
            <a:srgbClr val="6A1B9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1C156-6289-5E46-A161-C6AE5466E6A7}"/>
              </a:ext>
            </a:extLst>
          </p:cNvPr>
          <p:cNvSpPr txBox="1"/>
          <p:nvPr/>
        </p:nvSpPr>
        <p:spPr>
          <a:xfrm>
            <a:off x="3410712" y="417955"/>
            <a:ext cx="438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EBB519-D2E7-19A2-4B4C-E947A7C5C6F9}"/>
              </a:ext>
            </a:extLst>
          </p:cNvPr>
          <p:cNvSpPr/>
          <p:nvPr/>
        </p:nvSpPr>
        <p:spPr>
          <a:xfrm>
            <a:off x="5914168" y="368810"/>
            <a:ext cx="438912" cy="438912"/>
          </a:xfrm>
          <a:prstGeom prst="ellipse">
            <a:avLst/>
          </a:prstGeom>
          <a:solidFill>
            <a:srgbClr val="C6282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71C249-6C3F-3D60-C02E-DD01FC6B7680}"/>
              </a:ext>
            </a:extLst>
          </p:cNvPr>
          <p:cNvSpPr txBox="1"/>
          <p:nvPr/>
        </p:nvSpPr>
        <p:spPr>
          <a:xfrm>
            <a:off x="5928836" y="460250"/>
            <a:ext cx="438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CBDADD-1409-4014-9437-0AE782C09C91}"/>
              </a:ext>
            </a:extLst>
          </p:cNvPr>
          <p:cNvSpPr/>
          <p:nvPr/>
        </p:nvSpPr>
        <p:spPr>
          <a:xfrm>
            <a:off x="8457756" y="360260"/>
            <a:ext cx="438912" cy="438912"/>
          </a:xfrm>
          <a:prstGeom prst="ellipse">
            <a:avLst/>
          </a:prstGeom>
          <a:solidFill>
            <a:srgbClr val="2E7D3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63A88A-4050-4810-C646-04813A6FBEF1}"/>
              </a:ext>
            </a:extLst>
          </p:cNvPr>
          <p:cNvSpPr txBox="1"/>
          <p:nvPr/>
        </p:nvSpPr>
        <p:spPr>
          <a:xfrm>
            <a:off x="8451151" y="415492"/>
            <a:ext cx="438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A7C0A2-5AFE-0736-86B3-CFDE7C329A91}"/>
              </a:ext>
            </a:extLst>
          </p:cNvPr>
          <p:cNvSpPr/>
          <p:nvPr/>
        </p:nvSpPr>
        <p:spPr>
          <a:xfrm>
            <a:off x="10800176" y="353491"/>
            <a:ext cx="438912" cy="438912"/>
          </a:xfrm>
          <a:prstGeom prst="ellipse">
            <a:avLst/>
          </a:prstGeom>
          <a:solidFill>
            <a:srgbClr val="E6510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C78BE-BFCC-5563-2DE5-393EF095FCA7}"/>
              </a:ext>
            </a:extLst>
          </p:cNvPr>
          <p:cNvSpPr txBox="1"/>
          <p:nvPr/>
        </p:nvSpPr>
        <p:spPr>
          <a:xfrm>
            <a:off x="10808208" y="447383"/>
            <a:ext cx="438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76ACD-D947-5363-4196-DDEE3C1FA488}"/>
              </a:ext>
            </a:extLst>
          </p:cNvPr>
          <p:cNvSpPr txBox="1"/>
          <p:nvPr/>
        </p:nvSpPr>
        <p:spPr>
          <a:xfrm>
            <a:off x="91440" y="1475111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Long-tail Object Detection</a:t>
            </a:r>
            <a:endParaRPr sz="8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BC31CF-E9B3-98AD-1D85-A2BE9F0C106E}"/>
              </a:ext>
            </a:extLst>
          </p:cNvPr>
          <p:cNvSpPr/>
          <p:nvPr/>
        </p:nvSpPr>
        <p:spPr>
          <a:xfrm>
            <a:off x="233720" y="1982784"/>
            <a:ext cx="177210" cy="807598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76FA19-EB81-1D13-3490-B6805C1A2410}"/>
              </a:ext>
            </a:extLst>
          </p:cNvPr>
          <p:cNvSpPr/>
          <p:nvPr/>
        </p:nvSpPr>
        <p:spPr>
          <a:xfrm>
            <a:off x="494324" y="2105680"/>
            <a:ext cx="177210" cy="684702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EF173-569C-0F9A-0B93-387F1B8793BF}"/>
              </a:ext>
            </a:extLst>
          </p:cNvPr>
          <p:cNvSpPr/>
          <p:nvPr/>
        </p:nvSpPr>
        <p:spPr>
          <a:xfrm>
            <a:off x="754928" y="2246132"/>
            <a:ext cx="177210" cy="54425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7C3AB9-69E4-DDCE-D95D-46E06D161626}"/>
              </a:ext>
            </a:extLst>
          </p:cNvPr>
          <p:cNvSpPr/>
          <p:nvPr/>
        </p:nvSpPr>
        <p:spPr>
          <a:xfrm>
            <a:off x="1015532" y="2404140"/>
            <a:ext cx="177210" cy="386242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D8245-7EE8-D418-C0F9-EC8E397743F1}"/>
              </a:ext>
            </a:extLst>
          </p:cNvPr>
          <p:cNvSpPr/>
          <p:nvPr/>
        </p:nvSpPr>
        <p:spPr>
          <a:xfrm>
            <a:off x="1276136" y="2527035"/>
            <a:ext cx="177210" cy="263347"/>
          </a:xfrm>
          <a:prstGeom prst="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0156C7-BD80-1422-BF24-6BDF64DB9FEF}"/>
              </a:ext>
            </a:extLst>
          </p:cNvPr>
          <p:cNvSpPr/>
          <p:nvPr/>
        </p:nvSpPr>
        <p:spPr>
          <a:xfrm>
            <a:off x="1536740" y="2614818"/>
            <a:ext cx="177210" cy="175564"/>
          </a:xfrm>
          <a:prstGeom prst="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BCF26B-2E18-405A-D512-F138EB91567B}"/>
              </a:ext>
            </a:extLst>
          </p:cNvPr>
          <p:cNvSpPr/>
          <p:nvPr/>
        </p:nvSpPr>
        <p:spPr>
          <a:xfrm>
            <a:off x="1797344" y="2676265"/>
            <a:ext cx="177210" cy="114117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B407A7-FBEC-919D-D6C8-AAB41DEB8A41}"/>
              </a:ext>
            </a:extLst>
          </p:cNvPr>
          <p:cNvSpPr/>
          <p:nvPr/>
        </p:nvSpPr>
        <p:spPr>
          <a:xfrm>
            <a:off x="2057948" y="2728935"/>
            <a:ext cx="177210" cy="61447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cxnSp>
        <p:nvCxnSpPr>
          <p:cNvPr id="39" name="Connector 43">
            <a:extLst>
              <a:ext uri="{FF2B5EF4-FFF2-40B4-BE49-F238E27FC236}">
                <a16:creationId xmlns:a16="http://schemas.microsoft.com/office/drawing/2014/main" id="{1F2C1CF5-6450-8849-5EAF-B9CF4B9BB63B}"/>
              </a:ext>
            </a:extLst>
          </p:cNvPr>
          <p:cNvCxnSpPr/>
          <p:nvPr/>
        </p:nvCxnSpPr>
        <p:spPr>
          <a:xfrm>
            <a:off x="192024" y="2790383"/>
            <a:ext cx="2084832" cy="0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2209CD-0E4C-A2FB-10CB-78FFD371B84D}"/>
              </a:ext>
            </a:extLst>
          </p:cNvPr>
          <p:cNvSpPr txBox="1"/>
          <p:nvPr/>
        </p:nvSpPr>
        <p:spPr>
          <a:xfrm>
            <a:off x="137160" y="2826959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LVIS rare classes are under-represented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7BCAFA-505F-4AC0-5122-B3D32A64B40B}"/>
              </a:ext>
            </a:extLst>
          </p:cNvPr>
          <p:cNvSpPr txBox="1"/>
          <p:nvPr/>
        </p:nvSpPr>
        <p:spPr>
          <a:xfrm>
            <a:off x="137160" y="3028127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Semantic prompts help, but add FP risk</a:t>
            </a:r>
          </a:p>
        </p:txBody>
      </p:sp>
      <p:sp>
        <p:nvSpPr>
          <p:cNvPr id="42" name="Rounded Rectangle 46">
            <a:extLst>
              <a:ext uri="{FF2B5EF4-FFF2-40B4-BE49-F238E27FC236}">
                <a16:creationId xmlns:a16="http://schemas.microsoft.com/office/drawing/2014/main" id="{8715C3B1-2634-B4F8-114F-E7CC600AD827}"/>
              </a:ext>
            </a:extLst>
          </p:cNvPr>
          <p:cNvSpPr/>
          <p:nvPr/>
        </p:nvSpPr>
        <p:spPr>
          <a:xfrm>
            <a:off x="118872" y="3447287"/>
            <a:ext cx="217627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9F9DF2-25CE-D1AA-5D21-2124DE73D4AF}"/>
              </a:ext>
            </a:extLst>
          </p:cNvPr>
          <p:cNvSpPr txBox="1"/>
          <p:nvPr/>
        </p:nvSpPr>
        <p:spPr>
          <a:xfrm>
            <a:off x="155448" y="3465575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Evaluation subsets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6D248C-8753-B119-CFE5-BC4BBAF0DB9D}"/>
              </a:ext>
            </a:extLst>
          </p:cNvPr>
          <p:cNvSpPr txBox="1"/>
          <p:nvPr/>
        </p:nvSpPr>
        <p:spPr>
          <a:xfrm>
            <a:off x="155448" y="3703319"/>
            <a:ext cx="676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1000</a:t>
            </a:r>
            <a:endParaRPr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895027-DE70-2C65-F701-3165CE2D0EBF}"/>
              </a:ext>
            </a:extLst>
          </p:cNvPr>
          <p:cNvSpPr txBox="1"/>
          <p:nvPr/>
        </p:nvSpPr>
        <p:spPr>
          <a:xfrm>
            <a:off x="155448" y="3886199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LVIS images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CB9B52-FDEF-E25D-3FEC-781CB741665A}"/>
              </a:ext>
            </a:extLst>
          </p:cNvPr>
          <p:cNvSpPr txBox="1"/>
          <p:nvPr/>
        </p:nvSpPr>
        <p:spPr>
          <a:xfrm>
            <a:off x="302683" y="3565933"/>
            <a:ext cx="1740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4132 GT image-category pairs LVIS</a:t>
            </a:r>
            <a:endParaRPr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07AC78-2B1B-C1BE-259A-09EFF2671C11}"/>
              </a:ext>
            </a:extLst>
          </p:cNvPr>
          <p:cNvSpPr txBox="1"/>
          <p:nvPr/>
        </p:nvSpPr>
        <p:spPr>
          <a:xfrm>
            <a:off x="656762" y="3628664"/>
            <a:ext cx="1430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700" dirty="0"/>
            </a:br>
            <a:r>
              <a:rPr lang="en-GB" sz="700" dirty="0"/>
              <a:t>3,217 COCO GT pairs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B2461-8A3D-F389-205F-A4710C48360A}"/>
              </a:ext>
            </a:extLst>
          </p:cNvPr>
          <p:cNvSpPr txBox="1"/>
          <p:nvPr/>
        </p:nvSpPr>
        <p:spPr>
          <a:xfrm>
            <a:off x="1691640" y="3703319"/>
            <a:ext cx="6766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1000</a:t>
            </a:r>
            <a:endParaRPr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BB972D-EC26-0F29-4262-186C905DB5BC}"/>
              </a:ext>
            </a:extLst>
          </p:cNvPr>
          <p:cNvSpPr txBox="1"/>
          <p:nvPr/>
        </p:nvSpPr>
        <p:spPr>
          <a:xfrm>
            <a:off x="1453346" y="3886199"/>
            <a:ext cx="8417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COCO images</a:t>
            </a:r>
          </a:p>
        </p:txBody>
      </p:sp>
      <p:sp>
        <p:nvSpPr>
          <p:cNvPr id="50" name="Rounded Rectangle 54">
            <a:extLst>
              <a:ext uri="{FF2B5EF4-FFF2-40B4-BE49-F238E27FC236}">
                <a16:creationId xmlns:a16="http://schemas.microsoft.com/office/drawing/2014/main" id="{FE944E99-2A42-2AF1-9B20-B50C311B8CFB}"/>
              </a:ext>
            </a:extLst>
          </p:cNvPr>
          <p:cNvSpPr/>
          <p:nvPr/>
        </p:nvSpPr>
        <p:spPr>
          <a:xfrm>
            <a:off x="118872" y="4160519"/>
            <a:ext cx="217627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6E6820-CFFF-5830-C980-3587876BB427}"/>
              </a:ext>
            </a:extLst>
          </p:cNvPr>
          <p:cNvSpPr txBox="1"/>
          <p:nvPr/>
        </p:nvSpPr>
        <p:spPr>
          <a:xfrm>
            <a:off x="155448" y="4178807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COCO evaluation</a:t>
            </a:r>
          </a:p>
        </p:txBody>
      </p:sp>
      <p:sp>
        <p:nvSpPr>
          <p:cNvPr id="52" name="Rounded Rectangle 56">
            <a:extLst>
              <a:ext uri="{FF2B5EF4-FFF2-40B4-BE49-F238E27FC236}">
                <a16:creationId xmlns:a16="http://schemas.microsoft.com/office/drawing/2014/main" id="{7B1A2AAE-3D77-2C20-7487-1740E802720A}"/>
              </a:ext>
            </a:extLst>
          </p:cNvPr>
          <p:cNvSpPr/>
          <p:nvPr/>
        </p:nvSpPr>
        <p:spPr>
          <a:xfrm>
            <a:off x="155448" y="4416551"/>
            <a:ext cx="1024128" cy="219456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29A401-5D1C-1088-D8B7-B58D5BDB8531}"/>
              </a:ext>
            </a:extLst>
          </p:cNvPr>
          <p:cNvSpPr txBox="1"/>
          <p:nvPr/>
        </p:nvSpPr>
        <p:spPr>
          <a:xfrm>
            <a:off x="155448" y="4416551"/>
            <a:ext cx="10241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3,217</a:t>
            </a:r>
            <a:r>
              <a:rPr sz="800" b="1" dirty="0"/>
              <a:t> GT pairs</a:t>
            </a:r>
          </a:p>
        </p:txBody>
      </p:sp>
      <p:sp>
        <p:nvSpPr>
          <p:cNvPr id="54" name="Rounded Rectangle 58">
            <a:extLst>
              <a:ext uri="{FF2B5EF4-FFF2-40B4-BE49-F238E27FC236}">
                <a16:creationId xmlns:a16="http://schemas.microsoft.com/office/drawing/2014/main" id="{99D3B1F9-12A4-A98A-BB9E-1AA046125B97}"/>
              </a:ext>
            </a:extLst>
          </p:cNvPr>
          <p:cNvSpPr/>
          <p:nvPr/>
        </p:nvSpPr>
        <p:spPr>
          <a:xfrm>
            <a:off x="1234440" y="4416551"/>
            <a:ext cx="1024128" cy="219456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CEFC31-3E6E-994A-D777-ED0A4F881EDF}"/>
              </a:ext>
            </a:extLst>
          </p:cNvPr>
          <p:cNvSpPr txBox="1"/>
          <p:nvPr/>
        </p:nvSpPr>
        <p:spPr>
          <a:xfrm>
            <a:off x="1234440" y="4416551"/>
            <a:ext cx="10241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 err="1"/>
              <a:t>IoU</a:t>
            </a:r>
            <a:r>
              <a:rPr sz="800" b="1" dirty="0"/>
              <a:t> </a:t>
            </a:r>
            <a:r>
              <a:rPr lang="en-GB" sz="800" b="1" dirty="0"/>
              <a:t>AP50-proxy</a:t>
            </a:r>
            <a:endParaRPr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3AA199-6752-D848-C370-D6A713C7A3AB}"/>
              </a:ext>
            </a:extLst>
          </p:cNvPr>
          <p:cNvSpPr txBox="1"/>
          <p:nvPr/>
        </p:nvSpPr>
        <p:spPr>
          <a:xfrm>
            <a:off x="101600" y="4858920"/>
            <a:ext cx="2176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Baseline limitation</a:t>
            </a:r>
            <a:endParaRPr sz="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49E96E-ACDE-64A5-E8C2-6B851A135E0A}"/>
              </a:ext>
            </a:extLst>
          </p:cNvPr>
          <p:cNvSpPr txBox="1"/>
          <p:nvPr/>
        </p:nvSpPr>
        <p:spPr>
          <a:xfrm>
            <a:off x="91440" y="5173776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✕ single primary prompt has limited coverage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70473F-AA9F-D6CA-7D67-F902AB4F0001}"/>
              </a:ext>
            </a:extLst>
          </p:cNvPr>
          <p:cNvSpPr txBox="1"/>
          <p:nvPr/>
        </p:nvSpPr>
        <p:spPr>
          <a:xfrm>
            <a:off x="91440" y="5495545"/>
            <a:ext cx="2139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✕ semantic evidence increases false positives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5CC7C3-987D-E3B7-0E77-D7E61F502998}"/>
              </a:ext>
            </a:extLst>
          </p:cNvPr>
          <p:cNvSpPr txBox="1"/>
          <p:nvPr/>
        </p:nvSpPr>
        <p:spPr>
          <a:xfrm>
            <a:off x="40196" y="5769865"/>
            <a:ext cx="23309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✕ prior-aware fusion is not best overall; it helps LVIS long-tail thresholding</a:t>
            </a:r>
            <a:endParaRPr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A38E2C-3CFC-AB39-D20C-4E922D2C2DDF}"/>
              </a:ext>
            </a:extLst>
          </p:cNvPr>
          <p:cNvSpPr txBox="1"/>
          <p:nvPr/>
        </p:nvSpPr>
        <p:spPr>
          <a:xfrm>
            <a:off x="2587751" y="1316736"/>
            <a:ext cx="2157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Semantic Prompt Generation</a:t>
            </a:r>
          </a:p>
        </p:txBody>
      </p:sp>
      <p:sp>
        <p:nvSpPr>
          <p:cNvPr id="61" name="Rounded Rectangle 65">
            <a:extLst>
              <a:ext uri="{FF2B5EF4-FFF2-40B4-BE49-F238E27FC236}">
                <a16:creationId xmlns:a16="http://schemas.microsoft.com/office/drawing/2014/main" id="{80645C35-AF7E-5138-61A7-CFAFAB08EF6A}"/>
              </a:ext>
            </a:extLst>
          </p:cNvPr>
          <p:cNvSpPr/>
          <p:nvPr/>
        </p:nvSpPr>
        <p:spPr>
          <a:xfrm>
            <a:off x="2596896" y="1572768"/>
            <a:ext cx="987552" cy="292608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28E783-07AE-4AB0-2525-4A2D9E40D09E}"/>
              </a:ext>
            </a:extLst>
          </p:cNvPr>
          <p:cNvSpPr txBox="1"/>
          <p:nvPr/>
        </p:nvSpPr>
        <p:spPr>
          <a:xfrm>
            <a:off x="2624328" y="1605916"/>
            <a:ext cx="914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WordNet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3C892A-1235-D92A-721A-8898A1B7264E}"/>
              </a:ext>
            </a:extLst>
          </p:cNvPr>
          <p:cNvSpPr txBox="1"/>
          <p:nvPr/>
        </p:nvSpPr>
        <p:spPr>
          <a:xfrm>
            <a:off x="2596896" y="1883664"/>
            <a:ext cx="987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/>
              <a:t>WordNet semantic variants and related terms</a:t>
            </a:r>
            <a:endParaRPr sz="800" dirty="0"/>
          </a:p>
        </p:txBody>
      </p:sp>
      <p:sp>
        <p:nvSpPr>
          <p:cNvPr id="64" name="Rounded Rectangle 68">
            <a:extLst>
              <a:ext uri="{FF2B5EF4-FFF2-40B4-BE49-F238E27FC236}">
                <a16:creationId xmlns:a16="http://schemas.microsoft.com/office/drawing/2014/main" id="{C71E5123-EC79-FBFF-231B-D825B5EDEC84}"/>
              </a:ext>
            </a:extLst>
          </p:cNvPr>
          <p:cNvSpPr/>
          <p:nvPr/>
        </p:nvSpPr>
        <p:spPr>
          <a:xfrm>
            <a:off x="3675887" y="1572768"/>
            <a:ext cx="987552" cy="292608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327A67-0133-783C-6A59-74682C785A76}"/>
              </a:ext>
            </a:extLst>
          </p:cNvPr>
          <p:cNvSpPr txBox="1"/>
          <p:nvPr/>
        </p:nvSpPr>
        <p:spPr>
          <a:xfrm>
            <a:off x="3630168" y="1597624"/>
            <a:ext cx="10332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Templates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3DC41A-2909-4746-8E61-3811F1247641}"/>
              </a:ext>
            </a:extLst>
          </p:cNvPr>
          <p:cNvSpPr txBox="1"/>
          <p:nvPr/>
        </p:nvSpPr>
        <p:spPr>
          <a:xfrm>
            <a:off x="3538727" y="1945886"/>
            <a:ext cx="1207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attributes · contexts · descriptions</a:t>
            </a:r>
          </a:p>
        </p:txBody>
      </p:sp>
      <p:sp>
        <p:nvSpPr>
          <p:cNvPr id="67" name="Rounded Rectangle 76">
            <a:extLst>
              <a:ext uri="{FF2B5EF4-FFF2-40B4-BE49-F238E27FC236}">
                <a16:creationId xmlns:a16="http://schemas.microsoft.com/office/drawing/2014/main" id="{14B6DAB6-6277-61D5-CBAC-22EA6B1F3339}"/>
              </a:ext>
            </a:extLst>
          </p:cNvPr>
          <p:cNvSpPr/>
          <p:nvPr/>
        </p:nvSpPr>
        <p:spPr>
          <a:xfrm>
            <a:off x="2551176" y="2377440"/>
            <a:ext cx="2203704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F2FD5F-EC31-2C20-78AE-B101B62DF5EC}"/>
              </a:ext>
            </a:extLst>
          </p:cNvPr>
          <p:cNvSpPr txBox="1"/>
          <p:nvPr/>
        </p:nvSpPr>
        <p:spPr>
          <a:xfrm>
            <a:off x="2615184" y="2395728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Prompt pool per class</a:t>
            </a:r>
          </a:p>
        </p:txBody>
      </p:sp>
      <p:sp>
        <p:nvSpPr>
          <p:cNvPr id="69" name="Rounded Rectangle 78">
            <a:extLst>
              <a:ext uri="{FF2B5EF4-FFF2-40B4-BE49-F238E27FC236}">
                <a16:creationId xmlns:a16="http://schemas.microsoft.com/office/drawing/2014/main" id="{6B0EA92D-110E-FC9A-D19D-CFF7CCF7AF6C}"/>
              </a:ext>
            </a:extLst>
          </p:cNvPr>
          <p:cNvSpPr/>
          <p:nvPr/>
        </p:nvSpPr>
        <p:spPr>
          <a:xfrm>
            <a:off x="2615184" y="2633472"/>
            <a:ext cx="676656" cy="201168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DDC7F9-75EB-EE48-1A01-E1A74C32F828}"/>
              </a:ext>
            </a:extLst>
          </p:cNvPr>
          <p:cNvSpPr txBox="1"/>
          <p:nvPr/>
        </p:nvSpPr>
        <p:spPr>
          <a:xfrm>
            <a:off x="2487166" y="2629460"/>
            <a:ext cx="813815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dirty="0"/>
              <a:t>airplane</a:t>
            </a:r>
          </a:p>
        </p:txBody>
      </p:sp>
      <p:sp>
        <p:nvSpPr>
          <p:cNvPr id="71" name="Rounded Rectangle 80">
            <a:extLst>
              <a:ext uri="{FF2B5EF4-FFF2-40B4-BE49-F238E27FC236}">
                <a16:creationId xmlns:a16="http://schemas.microsoft.com/office/drawing/2014/main" id="{46743CD5-554C-D41E-450C-D738CFC23610}"/>
              </a:ext>
            </a:extLst>
          </p:cNvPr>
          <p:cNvSpPr/>
          <p:nvPr/>
        </p:nvSpPr>
        <p:spPr>
          <a:xfrm>
            <a:off x="3328415" y="2633472"/>
            <a:ext cx="676656" cy="201168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44AA74-D0E0-F381-11CE-C66CE8C7B510}"/>
              </a:ext>
            </a:extLst>
          </p:cNvPr>
          <p:cNvSpPr txBox="1"/>
          <p:nvPr/>
        </p:nvSpPr>
        <p:spPr>
          <a:xfrm>
            <a:off x="3151969" y="2623011"/>
            <a:ext cx="905257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dirty="0"/>
              <a:t>aircraft</a:t>
            </a:r>
          </a:p>
        </p:txBody>
      </p:sp>
      <p:sp>
        <p:nvSpPr>
          <p:cNvPr id="73" name="Rounded Rectangle 82">
            <a:extLst>
              <a:ext uri="{FF2B5EF4-FFF2-40B4-BE49-F238E27FC236}">
                <a16:creationId xmlns:a16="http://schemas.microsoft.com/office/drawing/2014/main" id="{4FEAB09B-A0A8-ACC1-F8A3-D506D86976AD}"/>
              </a:ext>
            </a:extLst>
          </p:cNvPr>
          <p:cNvSpPr/>
          <p:nvPr/>
        </p:nvSpPr>
        <p:spPr>
          <a:xfrm>
            <a:off x="4040631" y="2723065"/>
            <a:ext cx="676656" cy="294394"/>
          </a:xfrm>
          <a:prstGeom prst="roundRect">
            <a:avLst/>
          </a:prstGeom>
          <a:solidFill>
            <a:srgbClr val="8E24AA"/>
          </a:solidFill>
          <a:ln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6BBA7A-4BBA-D411-2E92-2F4900229FA1}"/>
              </a:ext>
            </a:extLst>
          </p:cNvPr>
          <p:cNvSpPr txBox="1"/>
          <p:nvPr/>
        </p:nvSpPr>
        <p:spPr>
          <a:xfrm>
            <a:off x="4019358" y="2757845"/>
            <a:ext cx="685801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dirty="0"/>
              <a:t>vehicle</a:t>
            </a:r>
          </a:p>
        </p:txBody>
      </p:sp>
      <p:sp>
        <p:nvSpPr>
          <p:cNvPr id="75" name="Rounded Rectangle 84">
            <a:extLst>
              <a:ext uri="{FF2B5EF4-FFF2-40B4-BE49-F238E27FC236}">
                <a16:creationId xmlns:a16="http://schemas.microsoft.com/office/drawing/2014/main" id="{91EB6202-EA6F-8A0B-603B-8FB859831E5F}"/>
              </a:ext>
            </a:extLst>
          </p:cNvPr>
          <p:cNvSpPr/>
          <p:nvPr/>
        </p:nvSpPr>
        <p:spPr>
          <a:xfrm>
            <a:off x="2615184" y="2871215"/>
            <a:ext cx="676656" cy="201168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FF41F9-8E04-71D6-DB15-B19AF99BED41}"/>
              </a:ext>
            </a:extLst>
          </p:cNvPr>
          <p:cNvSpPr txBox="1"/>
          <p:nvPr/>
        </p:nvSpPr>
        <p:spPr>
          <a:xfrm>
            <a:off x="2587751" y="2868952"/>
            <a:ext cx="740664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dirty="0"/>
              <a:t>visible airplane</a:t>
            </a:r>
          </a:p>
        </p:txBody>
      </p:sp>
      <p:sp>
        <p:nvSpPr>
          <p:cNvPr id="77" name="Rounded Rectangle 86">
            <a:extLst>
              <a:ext uri="{FF2B5EF4-FFF2-40B4-BE49-F238E27FC236}">
                <a16:creationId xmlns:a16="http://schemas.microsoft.com/office/drawing/2014/main" id="{3BD93668-F7DA-C813-BC86-3669A26DDEED}"/>
              </a:ext>
            </a:extLst>
          </p:cNvPr>
          <p:cNvSpPr/>
          <p:nvPr/>
        </p:nvSpPr>
        <p:spPr>
          <a:xfrm>
            <a:off x="3328415" y="2871215"/>
            <a:ext cx="676656" cy="201168"/>
          </a:xfrm>
          <a:prstGeom prst="roundRect">
            <a:avLst/>
          </a:prstGeom>
          <a:solidFill>
            <a:srgbClr val="AB47BC"/>
          </a:solidFill>
          <a:ln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863C5C-B101-8165-EE2C-E94666B19504}"/>
              </a:ext>
            </a:extLst>
          </p:cNvPr>
          <p:cNvSpPr txBox="1"/>
          <p:nvPr/>
        </p:nvSpPr>
        <p:spPr>
          <a:xfrm>
            <a:off x="3250696" y="2857932"/>
            <a:ext cx="813815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dirty="0"/>
              <a:t>photo of airplane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7800BB-2320-0A71-5745-532E701F7D8E}"/>
              </a:ext>
            </a:extLst>
          </p:cNvPr>
          <p:cNvSpPr txBox="1"/>
          <p:nvPr/>
        </p:nvSpPr>
        <p:spPr>
          <a:xfrm>
            <a:off x="2578608" y="3090672"/>
            <a:ext cx="2139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/>
              <a:t>OWL-</a:t>
            </a:r>
            <a:r>
              <a:rPr sz="800" b="1" dirty="0" err="1"/>
              <a:t>ViT</a:t>
            </a:r>
            <a:r>
              <a:rPr sz="800" b="1" dirty="0"/>
              <a:t> Encoding</a:t>
            </a:r>
          </a:p>
        </p:txBody>
      </p:sp>
      <p:sp>
        <p:nvSpPr>
          <p:cNvPr id="80" name="Rounded Rectangle 89">
            <a:extLst>
              <a:ext uri="{FF2B5EF4-FFF2-40B4-BE49-F238E27FC236}">
                <a16:creationId xmlns:a16="http://schemas.microsoft.com/office/drawing/2014/main" id="{95352713-CC0C-BBFC-FF47-D818202554B2}"/>
              </a:ext>
            </a:extLst>
          </p:cNvPr>
          <p:cNvSpPr/>
          <p:nvPr/>
        </p:nvSpPr>
        <p:spPr>
          <a:xfrm>
            <a:off x="2578608" y="3328416"/>
            <a:ext cx="1005840" cy="475488"/>
          </a:xfrm>
          <a:prstGeom prst="roundRect">
            <a:avLst/>
          </a:prstGeom>
          <a:solidFill>
            <a:srgbClr val="FFCCBC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97919E-0B02-5EB1-715A-936A66A71AFA}"/>
              </a:ext>
            </a:extLst>
          </p:cNvPr>
          <p:cNvSpPr txBox="1"/>
          <p:nvPr/>
        </p:nvSpPr>
        <p:spPr>
          <a:xfrm>
            <a:off x="2608452" y="3458438"/>
            <a:ext cx="9692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Image</a:t>
            </a:r>
            <a:r>
              <a:rPr lang="en-IN" sz="800" dirty="0"/>
              <a:t> </a:t>
            </a:r>
            <a:r>
              <a:rPr sz="800" dirty="0"/>
              <a:t>encoder</a:t>
            </a:r>
          </a:p>
        </p:txBody>
      </p:sp>
      <p:sp>
        <p:nvSpPr>
          <p:cNvPr id="82" name="Rounded Rectangle 91">
            <a:extLst>
              <a:ext uri="{FF2B5EF4-FFF2-40B4-BE49-F238E27FC236}">
                <a16:creationId xmlns:a16="http://schemas.microsoft.com/office/drawing/2014/main" id="{3E139C50-5674-CB75-37C6-72382BEEFB17}"/>
              </a:ext>
            </a:extLst>
          </p:cNvPr>
          <p:cNvSpPr/>
          <p:nvPr/>
        </p:nvSpPr>
        <p:spPr>
          <a:xfrm>
            <a:off x="3712463" y="3328416"/>
            <a:ext cx="1005840" cy="475488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D8742C-BA36-3F86-8168-27E9414FC06E}"/>
              </a:ext>
            </a:extLst>
          </p:cNvPr>
          <p:cNvSpPr txBox="1"/>
          <p:nvPr/>
        </p:nvSpPr>
        <p:spPr>
          <a:xfrm>
            <a:off x="3784599" y="3465575"/>
            <a:ext cx="9326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Text</a:t>
            </a:r>
            <a:r>
              <a:rPr lang="en-IN" sz="800" dirty="0"/>
              <a:t> </a:t>
            </a:r>
            <a:r>
              <a:rPr sz="800" dirty="0"/>
              <a:t>prompts</a:t>
            </a:r>
          </a:p>
        </p:txBody>
      </p:sp>
      <p:cxnSp>
        <p:nvCxnSpPr>
          <p:cNvPr id="84" name="Connector 93">
            <a:extLst>
              <a:ext uri="{FF2B5EF4-FFF2-40B4-BE49-F238E27FC236}">
                <a16:creationId xmlns:a16="http://schemas.microsoft.com/office/drawing/2014/main" id="{AC303D14-2BFD-0208-8F79-0B6F24756AAE}"/>
              </a:ext>
            </a:extLst>
          </p:cNvPr>
          <p:cNvCxnSpPr/>
          <p:nvPr/>
        </p:nvCxnSpPr>
        <p:spPr>
          <a:xfrm>
            <a:off x="3584448" y="3566160"/>
            <a:ext cx="146304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94">
            <a:extLst>
              <a:ext uri="{FF2B5EF4-FFF2-40B4-BE49-F238E27FC236}">
                <a16:creationId xmlns:a16="http://schemas.microsoft.com/office/drawing/2014/main" id="{28ECC7B3-E7D0-3183-CBA9-C0B2398B7164}"/>
              </a:ext>
            </a:extLst>
          </p:cNvPr>
          <p:cNvSpPr/>
          <p:nvPr/>
        </p:nvSpPr>
        <p:spPr>
          <a:xfrm>
            <a:off x="2578608" y="3858767"/>
            <a:ext cx="2139696" cy="396763"/>
          </a:xfrm>
          <a:prstGeom prst="roundRect">
            <a:avLst/>
          </a:prstGeom>
          <a:solidFill>
            <a:srgbClr val="FFE0CC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2C1014-B08B-3DA6-D282-977719C52147}"/>
              </a:ext>
            </a:extLst>
          </p:cNvPr>
          <p:cNvSpPr txBox="1"/>
          <p:nvPr/>
        </p:nvSpPr>
        <p:spPr>
          <a:xfrm>
            <a:off x="2587752" y="3877056"/>
            <a:ext cx="20939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Zero-shot object detection → boxes, labels, scores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17B33E-AD65-6AF0-928F-3C6678FC8CE2}"/>
              </a:ext>
            </a:extLst>
          </p:cNvPr>
          <p:cNvSpPr txBox="1"/>
          <p:nvPr/>
        </p:nvSpPr>
        <p:spPr>
          <a:xfrm>
            <a:off x="2527807" y="4462637"/>
            <a:ext cx="2157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Preprocessing</a:t>
            </a:r>
          </a:p>
        </p:txBody>
      </p:sp>
      <p:sp>
        <p:nvSpPr>
          <p:cNvPr id="88" name="Rounded Rectangle 97">
            <a:extLst>
              <a:ext uri="{FF2B5EF4-FFF2-40B4-BE49-F238E27FC236}">
                <a16:creationId xmlns:a16="http://schemas.microsoft.com/office/drawing/2014/main" id="{5756F92D-3FC0-4635-FD87-17220D2071AF}"/>
              </a:ext>
            </a:extLst>
          </p:cNvPr>
          <p:cNvSpPr/>
          <p:nvPr/>
        </p:nvSpPr>
        <p:spPr>
          <a:xfrm>
            <a:off x="2587752" y="4932672"/>
            <a:ext cx="21396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47677E-58BD-C3A8-0612-B9E35C26A090}"/>
              </a:ext>
            </a:extLst>
          </p:cNvPr>
          <p:cNvSpPr txBox="1"/>
          <p:nvPr/>
        </p:nvSpPr>
        <p:spPr>
          <a:xfrm>
            <a:off x="2624329" y="4942945"/>
            <a:ext cx="1977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Images resized/normalized for OWL-</a:t>
            </a:r>
            <a:r>
              <a:rPr sz="800" dirty="0" err="1"/>
              <a:t>ViT</a:t>
            </a:r>
            <a:endParaRPr sz="800" dirty="0"/>
          </a:p>
        </p:txBody>
      </p:sp>
      <p:sp>
        <p:nvSpPr>
          <p:cNvPr id="90" name="Rounded Rectangle 99">
            <a:extLst>
              <a:ext uri="{FF2B5EF4-FFF2-40B4-BE49-F238E27FC236}">
                <a16:creationId xmlns:a16="http://schemas.microsoft.com/office/drawing/2014/main" id="{2DEB50E8-414D-AB49-991B-C9A96100C6CD}"/>
              </a:ext>
            </a:extLst>
          </p:cNvPr>
          <p:cNvSpPr/>
          <p:nvPr/>
        </p:nvSpPr>
        <p:spPr>
          <a:xfrm>
            <a:off x="2583179" y="5304367"/>
            <a:ext cx="2139696" cy="3259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70CD71-054F-A2B9-3947-068F3A8A495A}"/>
              </a:ext>
            </a:extLst>
          </p:cNvPr>
          <p:cNvSpPr txBox="1"/>
          <p:nvPr/>
        </p:nvSpPr>
        <p:spPr>
          <a:xfrm>
            <a:off x="2614168" y="5292648"/>
            <a:ext cx="20936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Ground-truth category annotations parsed</a:t>
            </a:r>
            <a:endParaRPr sz="800" dirty="0"/>
          </a:p>
        </p:txBody>
      </p:sp>
      <p:sp>
        <p:nvSpPr>
          <p:cNvPr id="92" name="Rounded Rectangle 101">
            <a:extLst>
              <a:ext uri="{FF2B5EF4-FFF2-40B4-BE49-F238E27FC236}">
                <a16:creationId xmlns:a16="http://schemas.microsoft.com/office/drawing/2014/main" id="{5CF544D0-AD7E-CF27-DF29-4E75FD3BE13F}"/>
              </a:ext>
            </a:extLst>
          </p:cNvPr>
          <p:cNvSpPr/>
          <p:nvPr/>
        </p:nvSpPr>
        <p:spPr>
          <a:xfrm>
            <a:off x="2587752" y="5733289"/>
            <a:ext cx="2139696" cy="4059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19DDE2-0947-5AEB-8117-9216EC42C409}"/>
              </a:ext>
            </a:extLst>
          </p:cNvPr>
          <p:cNvSpPr txBox="1"/>
          <p:nvPr/>
        </p:nvSpPr>
        <p:spPr>
          <a:xfrm>
            <a:off x="2615184" y="5733289"/>
            <a:ext cx="2340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LVIS + COCO evaluated with recall and </a:t>
            </a:r>
            <a:r>
              <a:rPr lang="en-GB" sz="800" dirty="0"/>
              <a:t>AP50-proxy</a:t>
            </a:r>
            <a:endParaRPr sz="8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6F767CD-645C-AA71-501C-686DF0F9BD05}"/>
              </a:ext>
            </a:extLst>
          </p:cNvPr>
          <p:cNvSpPr txBox="1"/>
          <p:nvPr/>
        </p:nvSpPr>
        <p:spPr>
          <a:xfrm>
            <a:off x="4992624" y="1316736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Semantic Fusion Strategies</a:t>
            </a:r>
            <a:endParaRPr sz="800" dirty="0"/>
          </a:p>
        </p:txBody>
      </p:sp>
      <p:sp>
        <p:nvSpPr>
          <p:cNvPr id="97" name="Rounded Rectangle 106">
            <a:extLst>
              <a:ext uri="{FF2B5EF4-FFF2-40B4-BE49-F238E27FC236}">
                <a16:creationId xmlns:a16="http://schemas.microsoft.com/office/drawing/2014/main" id="{64AF0FC4-D72B-5B74-6F3A-5C22A702D322}"/>
              </a:ext>
            </a:extLst>
          </p:cNvPr>
          <p:cNvSpPr/>
          <p:nvPr/>
        </p:nvSpPr>
        <p:spPr>
          <a:xfrm>
            <a:off x="5013960" y="1727200"/>
            <a:ext cx="2356104" cy="570503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21F08F-EAB9-ADA0-172B-9EEE5A9E4397}"/>
              </a:ext>
            </a:extLst>
          </p:cNvPr>
          <p:cNvSpPr txBox="1"/>
          <p:nvPr/>
        </p:nvSpPr>
        <p:spPr>
          <a:xfrm>
            <a:off x="5029200" y="1709927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Max Fusion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4D799EC-1089-8576-9BC0-E5E3BD691FBE}"/>
              </a:ext>
            </a:extLst>
          </p:cNvPr>
          <p:cNvSpPr txBox="1"/>
          <p:nvPr/>
        </p:nvSpPr>
        <p:spPr>
          <a:xfrm>
            <a:off x="5060950" y="1838164"/>
            <a:ext cx="1788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Highest prompt evidence score</a:t>
            </a:r>
          </a:p>
        </p:txBody>
      </p:sp>
      <p:sp>
        <p:nvSpPr>
          <p:cNvPr id="100" name="Rounded Rectangle 109">
            <a:extLst>
              <a:ext uri="{FF2B5EF4-FFF2-40B4-BE49-F238E27FC236}">
                <a16:creationId xmlns:a16="http://schemas.microsoft.com/office/drawing/2014/main" id="{F1B4D164-5F12-73FA-E0C2-217573C48C8E}"/>
              </a:ext>
            </a:extLst>
          </p:cNvPr>
          <p:cNvSpPr/>
          <p:nvPr/>
        </p:nvSpPr>
        <p:spPr>
          <a:xfrm>
            <a:off x="6384924" y="2000341"/>
            <a:ext cx="928751" cy="237744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896C8A0-12FD-5D8E-5887-7519791DE1D9}"/>
              </a:ext>
            </a:extLst>
          </p:cNvPr>
          <p:cNvSpPr txBox="1"/>
          <p:nvPr/>
        </p:nvSpPr>
        <p:spPr>
          <a:xfrm>
            <a:off x="6221284" y="2015136"/>
            <a:ext cx="12585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mean score: </a:t>
            </a:r>
            <a:r>
              <a:rPr lang="en-GB" sz="800" dirty="0"/>
              <a:t> 0.3292</a:t>
            </a:r>
            <a:endParaRPr sz="800" dirty="0"/>
          </a:p>
        </p:txBody>
      </p:sp>
      <p:sp>
        <p:nvSpPr>
          <p:cNvPr id="102" name="Rounded Rectangle 111">
            <a:extLst>
              <a:ext uri="{FF2B5EF4-FFF2-40B4-BE49-F238E27FC236}">
                <a16:creationId xmlns:a16="http://schemas.microsoft.com/office/drawing/2014/main" id="{73B5A5A8-C427-38C8-8624-914847B74799}"/>
              </a:ext>
            </a:extLst>
          </p:cNvPr>
          <p:cNvSpPr/>
          <p:nvPr/>
        </p:nvSpPr>
        <p:spPr>
          <a:xfrm>
            <a:off x="5019040" y="2351785"/>
            <a:ext cx="2351022" cy="595757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C3F373-CB54-1AFB-7AEB-80C4D040CF70}"/>
              </a:ext>
            </a:extLst>
          </p:cNvPr>
          <p:cNvSpPr txBox="1"/>
          <p:nvPr/>
        </p:nvSpPr>
        <p:spPr>
          <a:xfrm>
            <a:off x="5010912" y="2342641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Adaptive Fusion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7C0DE54-15D8-B72E-88D5-FC2C9D8F6B8E}"/>
              </a:ext>
            </a:extLst>
          </p:cNvPr>
          <p:cNvSpPr txBox="1"/>
          <p:nvPr/>
        </p:nvSpPr>
        <p:spPr>
          <a:xfrm>
            <a:off x="5010912" y="2516378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confidence-aware aggregation</a:t>
            </a:r>
          </a:p>
        </p:txBody>
      </p:sp>
      <p:sp>
        <p:nvSpPr>
          <p:cNvPr id="105" name="Rounded Rectangle 114">
            <a:extLst>
              <a:ext uri="{FF2B5EF4-FFF2-40B4-BE49-F238E27FC236}">
                <a16:creationId xmlns:a16="http://schemas.microsoft.com/office/drawing/2014/main" id="{C721331D-4914-4DA5-6E09-1C0401DB8FC6}"/>
              </a:ext>
            </a:extLst>
          </p:cNvPr>
          <p:cNvSpPr/>
          <p:nvPr/>
        </p:nvSpPr>
        <p:spPr>
          <a:xfrm>
            <a:off x="6384924" y="2645508"/>
            <a:ext cx="948563" cy="23774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B3F838-DC88-578C-1BFD-EAEE8B85ADB3}"/>
              </a:ext>
            </a:extLst>
          </p:cNvPr>
          <p:cNvSpPr txBox="1"/>
          <p:nvPr/>
        </p:nvSpPr>
        <p:spPr>
          <a:xfrm>
            <a:off x="6242939" y="2639430"/>
            <a:ext cx="12185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mean score: </a:t>
            </a:r>
            <a:r>
              <a:rPr lang="en-GB" sz="800" dirty="0"/>
              <a:t>0.2184</a:t>
            </a:r>
            <a:endParaRPr sz="800" dirty="0"/>
          </a:p>
        </p:txBody>
      </p:sp>
      <p:sp>
        <p:nvSpPr>
          <p:cNvPr id="107" name="Rounded Rectangle 116">
            <a:extLst>
              <a:ext uri="{FF2B5EF4-FFF2-40B4-BE49-F238E27FC236}">
                <a16:creationId xmlns:a16="http://schemas.microsoft.com/office/drawing/2014/main" id="{F01D7C13-4837-38DD-3E60-792ABD133D13}"/>
              </a:ext>
            </a:extLst>
          </p:cNvPr>
          <p:cNvSpPr/>
          <p:nvPr/>
        </p:nvSpPr>
        <p:spPr>
          <a:xfrm>
            <a:off x="5019039" y="3044951"/>
            <a:ext cx="2369311" cy="585215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05FCE50-8AE7-477A-4603-2016C6071A0B}"/>
              </a:ext>
            </a:extLst>
          </p:cNvPr>
          <p:cNvSpPr txBox="1"/>
          <p:nvPr/>
        </p:nvSpPr>
        <p:spPr>
          <a:xfrm>
            <a:off x="5010913" y="3017520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Weighted Fusion</a:t>
            </a:r>
            <a:endParaRPr sz="800" b="1" dirty="0"/>
          </a:p>
        </p:txBody>
      </p:sp>
      <p:sp>
        <p:nvSpPr>
          <p:cNvPr id="110" name="Rounded Rectangle 119">
            <a:extLst>
              <a:ext uri="{FF2B5EF4-FFF2-40B4-BE49-F238E27FC236}">
                <a16:creationId xmlns:a16="http://schemas.microsoft.com/office/drawing/2014/main" id="{F3D4BE6E-C012-7B98-367F-2F9612B40F35}"/>
              </a:ext>
            </a:extLst>
          </p:cNvPr>
          <p:cNvSpPr/>
          <p:nvPr/>
        </p:nvSpPr>
        <p:spPr>
          <a:xfrm>
            <a:off x="6158484" y="3314699"/>
            <a:ext cx="1165860" cy="228601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024D21F-D6B0-F2DE-52B6-BB6DBE6EF859}"/>
              </a:ext>
            </a:extLst>
          </p:cNvPr>
          <p:cNvSpPr txBox="1"/>
          <p:nvPr/>
        </p:nvSpPr>
        <p:spPr>
          <a:xfrm>
            <a:off x="5940807" y="3328416"/>
            <a:ext cx="14755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Mean score: 0.1436</a:t>
            </a:r>
            <a:endParaRPr sz="800" dirty="0"/>
          </a:p>
        </p:txBody>
      </p:sp>
      <p:sp>
        <p:nvSpPr>
          <p:cNvPr id="117" name="Rounded Rectangle 126">
            <a:extLst>
              <a:ext uri="{FF2B5EF4-FFF2-40B4-BE49-F238E27FC236}">
                <a16:creationId xmlns:a16="http://schemas.microsoft.com/office/drawing/2014/main" id="{4C1AF35C-28F4-432B-9A5C-8CD73F51B172}"/>
              </a:ext>
            </a:extLst>
          </p:cNvPr>
          <p:cNvSpPr/>
          <p:nvPr/>
        </p:nvSpPr>
        <p:spPr>
          <a:xfrm>
            <a:off x="5014276" y="4627367"/>
            <a:ext cx="2414015" cy="12949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F8EFE8-B215-8866-6F81-C139E5827F3C}"/>
              </a:ext>
            </a:extLst>
          </p:cNvPr>
          <p:cNvSpPr/>
          <p:nvPr/>
        </p:nvSpPr>
        <p:spPr>
          <a:xfrm>
            <a:off x="5002341" y="4588933"/>
            <a:ext cx="2440875" cy="323224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90D65B-D3A1-6CAA-7973-4713AD1A753D}"/>
              </a:ext>
            </a:extLst>
          </p:cNvPr>
          <p:cNvSpPr txBox="1"/>
          <p:nvPr/>
        </p:nvSpPr>
        <p:spPr>
          <a:xfrm>
            <a:off x="5116068" y="4643476"/>
            <a:ext cx="22082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Evidence modules</a:t>
            </a:r>
            <a:endParaRPr sz="8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2371DF9-E1D4-BD91-C5A7-2EB32D7C65AC}"/>
              </a:ext>
            </a:extLst>
          </p:cNvPr>
          <p:cNvSpPr txBox="1"/>
          <p:nvPr/>
        </p:nvSpPr>
        <p:spPr>
          <a:xfrm>
            <a:off x="5045075" y="4943646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Multi-prompt evidence coverage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5A7B578-60C8-CB7F-B973-54F77886CCF6}"/>
              </a:ext>
            </a:extLst>
          </p:cNvPr>
          <p:cNvSpPr txBox="1"/>
          <p:nvPr/>
        </p:nvSpPr>
        <p:spPr>
          <a:xfrm>
            <a:off x="5242179" y="5317465"/>
            <a:ext cx="21183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Entropy and semantic conflict modelling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43288FD-1A25-67D6-E428-0A73B37ACA33}"/>
              </a:ext>
            </a:extLst>
          </p:cNvPr>
          <p:cNvSpPr txBox="1"/>
          <p:nvPr/>
        </p:nvSpPr>
        <p:spPr>
          <a:xfrm>
            <a:off x="5182235" y="5660167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LVIS frequency-aware rescaling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8D67E6C-70F8-67DA-5494-EF9B3D9BB4FC}"/>
              </a:ext>
            </a:extLst>
          </p:cNvPr>
          <p:cNvSpPr txBox="1"/>
          <p:nvPr/>
        </p:nvSpPr>
        <p:spPr>
          <a:xfrm>
            <a:off x="5099643" y="5935472"/>
            <a:ext cx="22194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Motivation: recall gain with FP control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4F29CC-2D1F-2191-7151-211CF31E801F}"/>
              </a:ext>
            </a:extLst>
          </p:cNvPr>
          <p:cNvSpPr txBox="1"/>
          <p:nvPr/>
        </p:nvSpPr>
        <p:spPr>
          <a:xfrm>
            <a:off x="7589520" y="1295158"/>
            <a:ext cx="20848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Key Quantitative Results</a:t>
            </a:r>
          </a:p>
        </p:txBody>
      </p:sp>
      <p:sp>
        <p:nvSpPr>
          <p:cNvPr id="128" name="Rounded Rectangle 137">
            <a:extLst>
              <a:ext uri="{FF2B5EF4-FFF2-40B4-BE49-F238E27FC236}">
                <a16:creationId xmlns:a16="http://schemas.microsoft.com/office/drawing/2014/main" id="{3818FC7D-4F67-0366-B893-AC8EA19B99A2}"/>
              </a:ext>
            </a:extLst>
          </p:cNvPr>
          <p:cNvSpPr/>
          <p:nvPr/>
        </p:nvSpPr>
        <p:spPr>
          <a:xfrm>
            <a:off x="7589520" y="1572768"/>
            <a:ext cx="2084831" cy="713232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chemeClr val="tx1"/>
                </a:solidFill>
              </a:rPr>
              <a:t>Category recall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32" name="Rounded Rectangle 141">
            <a:extLst>
              <a:ext uri="{FF2B5EF4-FFF2-40B4-BE49-F238E27FC236}">
                <a16:creationId xmlns:a16="http://schemas.microsoft.com/office/drawing/2014/main" id="{B850FBAD-D82F-94CC-F6DA-5DBBAD6AD1C5}"/>
              </a:ext>
            </a:extLst>
          </p:cNvPr>
          <p:cNvSpPr/>
          <p:nvPr/>
        </p:nvSpPr>
        <p:spPr>
          <a:xfrm>
            <a:off x="7589520" y="2359152"/>
            <a:ext cx="2084831" cy="713232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6F1DBC3-B622-9ED6-BFC6-777F5F28F0A1}"/>
              </a:ext>
            </a:extLst>
          </p:cNvPr>
          <p:cNvSpPr txBox="1"/>
          <p:nvPr/>
        </p:nvSpPr>
        <p:spPr>
          <a:xfrm>
            <a:off x="7559675" y="2414409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AP50-proxy</a:t>
            </a:r>
            <a:r>
              <a:rPr sz="800" b="1" dirty="0"/>
              <a:t> gains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1B587D2-0E80-46C9-B843-A8EB3433CA80}"/>
              </a:ext>
            </a:extLst>
          </p:cNvPr>
          <p:cNvSpPr txBox="1"/>
          <p:nvPr/>
        </p:nvSpPr>
        <p:spPr>
          <a:xfrm>
            <a:off x="7686960" y="2629460"/>
            <a:ext cx="1889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LVIS: 0.2343 → 0.2687</a:t>
            </a:r>
            <a:br>
              <a:rPr lang="en-GB" sz="800" dirty="0"/>
            </a:br>
            <a:r>
              <a:rPr lang="en-GB" sz="800" dirty="0"/>
              <a:t>COCO: 0.3687 → 0.4379</a:t>
            </a:r>
            <a:endParaRPr sz="800" dirty="0"/>
          </a:p>
        </p:txBody>
      </p:sp>
      <p:sp>
        <p:nvSpPr>
          <p:cNvPr id="136" name="Rounded Rectangle 145">
            <a:extLst>
              <a:ext uri="{FF2B5EF4-FFF2-40B4-BE49-F238E27FC236}">
                <a16:creationId xmlns:a16="http://schemas.microsoft.com/office/drawing/2014/main" id="{69079C35-3641-EF54-4BC1-DEFF37E70D7B}"/>
              </a:ext>
            </a:extLst>
          </p:cNvPr>
          <p:cNvSpPr/>
          <p:nvPr/>
        </p:nvSpPr>
        <p:spPr>
          <a:xfrm>
            <a:off x="7589520" y="3145536"/>
            <a:ext cx="2084831" cy="713232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FE060C-64CF-3FFB-F02D-91CF50E2A735}"/>
              </a:ext>
            </a:extLst>
          </p:cNvPr>
          <p:cNvSpPr txBox="1"/>
          <p:nvPr/>
        </p:nvSpPr>
        <p:spPr>
          <a:xfrm>
            <a:off x="7626096" y="3182112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/>
              <a:t>False positives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C84A64-4549-408D-765E-EE220511E2EC}"/>
              </a:ext>
            </a:extLst>
          </p:cNvPr>
          <p:cNvSpPr txBox="1"/>
          <p:nvPr/>
        </p:nvSpPr>
        <p:spPr>
          <a:xfrm>
            <a:off x="7621270" y="3452789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Semantic prompts increase FP counts</a:t>
            </a:r>
            <a:endParaRPr sz="800" dirty="0"/>
          </a:p>
        </p:txBody>
      </p:sp>
      <p:sp>
        <p:nvSpPr>
          <p:cNvPr id="140" name="Rounded Rectangle 149">
            <a:extLst>
              <a:ext uri="{FF2B5EF4-FFF2-40B4-BE49-F238E27FC236}">
                <a16:creationId xmlns:a16="http://schemas.microsoft.com/office/drawing/2014/main" id="{065016D7-0DA2-C098-37E9-9E388BB68078}"/>
              </a:ext>
            </a:extLst>
          </p:cNvPr>
          <p:cNvSpPr/>
          <p:nvPr/>
        </p:nvSpPr>
        <p:spPr>
          <a:xfrm>
            <a:off x="7589520" y="3931920"/>
            <a:ext cx="2084831" cy="713232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4E41B88-02DB-04A2-DD51-DD31526CE6F6}"/>
              </a:ext>
            </a:extLst>
          </p:cNvPr>
          <p:cNvSpPr txBox="1"/>
          <p:nvPr/>
        </p:nvSpPr>
        <p:spPr>
          <a:xfrm>
            <a:off x="7626096" y="4117031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LVIS recall: 0.8486 → 0.9143</a:t>
            </a:r>
            <a:endParaRPr sz="8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ECB848B-1302-89DB-F9FF-B5172C179DF4}"/>
              </a:ext>
            </a:extLst>
          </p:cNvPr>
          <p:cNvSpPr txBox="1"/>
          <p:nvPr/>
        </p:nvSpPr>
        <p:spPr>
          <a:xfrm>
            <a:off x="7534654" y="4663440"/>
            <a:ext cx="2136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COCO recall: 0.8901 → 0.9387</a:t>
            </a:r>
            <a:endParaRPr sz="800" dirty="0"/>
          </a:p>
        </p:txBody>
      </p:sp>
      <p:cxnSp>
        <p:nvCxnSpPr>
          <p:cNvPr id="145" name="Connector 154">
            <a:extLst>
              <a:ext uri="{FF2B5EF4-FFF2-40B4-BE49-F238E27FC236}">
                <a16:creationId xmlns:a16="http://schemas.microsoft.com/office/drawing/2014/main" id="{397B078E-215E-6372-A071-523CB15287BA}"/>
              </a:ext>
            </a:extLst>
          </p:cNvPr>
          <p:cNvCxnSpPr/>
          <p:nvPr/>
        </p:nvCxnSpPr>
        <p:spPr>
          <a:xfrm flipV="1">
            <a:off x="7644383" y="5138928"/>
            <a:ext cx="310896" cy="347472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55">
            <a:extLst>
              <a:ext uri="{FF2B5EF4-FFF2-40B4-BE49-F238E27FC236}">
                <a16:creationId xmlns:a16="http://schemas.microsoft.com/office/drawing/2014/main" id="{72BD5E0D-5E60-956C-F27D-DA3C4E417274}"/>
              </a:ext>
            </a:extLst>
          </p:cNvPr>
          <p:cNvCxnSpPr/>
          <p:nvPr/>
        </p:nvCxnSpPr>
        <p:spPr>
          <a:xfrm flipV="1">
            <a:off x="7955279" y="4919472"/>
            <a:ext cx="310896" cy="21945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56">
            <a:extLst>
              <a:ext uri="{FF2B5EF4-FFF2-40B4-BE49-F238E27FC236}">
                <a16:creationId xmlns:a16="http://schemas.microsoft.com/office/drawing/2014/main" id="{6645DD06-169D-A03C-A8B6-89AD1CF111E3}"/>
              </a:ext>
            </a:extLst>
          </p:cNvPr>
          <p:cNvCxnSpPr/>
          <p:nvPr/>
        </p:nvCxnSpPr>
        <p:spPr>
          <a:xfrm>
            <a:off x="8266175" y="4919472"/>
            <a:ext cx="310897" cy="146304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57">
            <a:extLst>
              <a:ext uri="{FF2B5EF4-FFF2-40B4-BE49-F238E27FC236}">
                <a16:creationId xmlns:a16="http://schemas.microsoft.com/office/drawing/2014/main" id="{9AFB937F-ADED-63E6-7AF1-35161F6E88C3}"/>
              </a:ext>
            </a:extLst>
          </p:cNvPr>
          <p:cNvCxnSpPr/>
          <p:nvPr/>
        </p:nvCxnSpPr>
        <p:spPr>
          <a:xfrm flipV="1">
            <a:off x="8577072" y="5029200"/>
            <a:ext cx="310896" cy="3657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58">
            <a:extLst>
              <a:ext uri="{FF2B5EF4-FFF2-40B4-BE49-F238E27FC236}">
                <a16:creationId xmlns:a16="http://schemas.microsoft.com/office/drawing/2014/main" id="{BE4EF5C2-869D-61B2-CFE6-AEB5894A021D}"/>
              </a:ext>
            </a:extLst>
          </p:cNvPr>
          <p:cNvCxnSpPr/>
          <p:nvPr/>
        </p:nvCxnSpPr>
        <p:spPr>
          <a:xfrm flipV="1">
            <a:off x="8887968" y="4974336"/>
            <a:ext cx="310896" cy="54864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59">
            <a:extLst>
              <a:ext uri="{FF2B5EF4-FFF2-40B4-BE49-F238E27FC236}">
                <a16:creationId xmlns:a16="http://schemas.microsoft.com/office/drawing/2014/main" id="{A8662FAD-DAF9-0D36-E269-C87855B5B9BB}"/>
              </a:ext>
            </a:extLst>
          </p:cNvPr>
          <p:cNvCxnSpPr/>
          <p:nvPr/>
        </p:nvCxnSpPr>
        <p:spPr>
          <a:xfrm>
            <a:off x="9198864" y="4974336"/>
            <a:ext cx="310896" cy="36576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E18AEBFE-F6FB-74AB-5842-8C263F05EBBD}"/>
              </a:ext>
            </a:extLst>
          </p:cNvPr>
          <p:cNvSpPr/>
          <p:nvPr/>
        </p:nvSpPr>
        <p:spPr>
          <a:xfrm>
            <a:off x="7589519" y="543153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DC962CF0-E775-C8B1-45EE-2AA5614424B9}"/>
              </a:ext>
            </a:extLst>
          </p:cNvPr>
          <p:cNvSpPr/>
          <p:nvPr/>
        </p:nvSpPr>
        <p:spPr>
          <a:xfrm>
            <a:off x="7900415" y="508406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9B0EC24-64AD-B85A-F0C9-4B2E3C427F79}"/>
              </a:ext>
            </a:extLst>
          </p:cNvPr>
          <p:cNvSpPr/>
          <p:nvPr/>
        </p:nvSpPr>
        <p:spPr>
          <a:xfrm>
            <a:off x="8211311" y="486460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A0B439A-84E6-FDB6-A118-F1B69E435D0B}"/>
              </a:ext>
            </a:extLst>
          </p:cNvPr>
          <p:cNvSpPr/>
          <p:nvPr/>
        </p:nvSpPr>
        <p:spPr>
          <a:xfrm>
            <a:off x="8522208" y="501091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F02AD90E-8639-C9B5-3946-2ADF3917C1E3}"/>
              </a:ext>
            </a:extLst>
          </p:cNvPr>
          <p:cNvSpPr/>
          <p:nvPr/>
        </p:nvSpPr>
        <p:spPr>
          <a:xfrm>
            <a:off x="8833104" y="497433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B0A1E41-E1D2-E77C-EAB6-3C2D7CAAED69}"/>
              </a:ext>
            </a:extLst>
          </p:cNvPr>
          <p:cNvSpPr/>
          <p:nvPr/>
        </p:nvSpPr>
        <p:spPr>
          <a:xfrm>
            <a:off x="9144000" y="49194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090B952-1B72-7D3C-614C-E3C21C4AAD2D}"/>
              </a:ext>
            </a:extLst>
          </p:cNvPr>
          <p:cNvSpPr/>
          <p:nvPr/>
        </p:nvSpPr>
        <p:spPr>
          <a:xfrm>
            <a:off x="9454896" y="495604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AC549DC-D162-F6CF-7DBE-818F0F536E0F}"/>
              </a:ext>
            </a:extLst>
          </p:cNvPr>
          <p:cNvSpPr txBox="1"/>
          <p:nvPr/>
        </p:nvSpPr>
        <p:spPr>
          <a:xfrm>
            <a:off x="7616953" y="5429749"/>
            <a:ext cx="20299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/>
              <a:t>LVIS rare </a:t>
            </a:r>
            <a:r>
              <a:rPr lang="en-GB" sz="800" b="1" dirty="0"/>
              <a:t>AP50-proxy</a:t>
            </a:r>
            <a:r>
              <a:rPr sz="800" b="1" dirty="0"/>
              <a:t> gain</a:t>
            </a:r>
            <a:endParaRPr sz="8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8094E-2E47-DCC5-074E-4B657197632F}"/>
              </a:ext>
            </a:extLst>
          </p:cNvPr>
          <p:cNvSpPr txBox="1"/>
          <p:nvPr/>
        </p:nvSpPr>
        <p:spPr>
          <a:xfrm>
            <a:off x="8017934" y="4974336"/>
            <a:ext cx="510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+0.0238</a:t>
            </a:r>
            <a:endParaRPr sz="800" dirty="0"/>
          </a:p>
        </p:txBody>
      </p:sp>
      <p:sp>
        <p:nvSpPr>
          <p:cNvPr id="160" name="Rounded Rectangle 175">
            <a:extLst>
              <a:ext uri="{FF2B5EF4-FFF2-40B4-BE49-F238E27FC236}">
                <a16:creationId xmlns:a16="http://schemas.microsoft.com/office/drawing/2014/main" id="{7C1E7166-7203-F82F-33D2-3FF464F1618C}"/>
              </a:ext>
            </a:extLst>
          </p:cNvPr>
          <p:cNvSpPr/>
          <p:nvPr/>
        </p:nvSpPr>
        <p:spPr>
          <a:xfrm>
            <a:off x="7589520" y="5779008"/>
            <a:ext cx="2084831" cy="393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3359638-547B-0C2A-76BA-4CE0707E6D87}"/>
              </a:ext>
            </a:extLst>
          </p:cNvPr>
          <p:cNvSpPr txBox="1"/>
          <p:nvPr/>
        </p:nvSpPr>
        <p:spPr>
          <a:xfrm>
            <a:off x="7486523" y="5769865"/>
            <a:ext cx="2212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Uncertainty bins show higher FP-rate in high-risk cases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150D1AE-FFBE-F1F8-73A2-E503273FB15A}"/>
              </a:ext>
            </a:extLst>
          </p:cNvPr>
          <p:cNvSpPr txBox="1"/>
          <p:nvPr/>
        </p:nvSpPr>
        <p:spPr>
          <a:xfrm>
            <a:off x="9838944" y="1422452"/>
            <a:ext cx="22128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/>
              <a:t>Research Question Findings</a:t>
            </a:r>
          </a:p>
        </p:txBody>
      </p:sp>
      <p:sp>
        <p:nvSpPr>
          <p:cNvPr id="163" name="Rounded Rectangle 178">
            <a:extLst>
              <a:ext uri="{FF2B5EF4-FFF2-40B4-BE49-F238E27FC236}">
                <a16:creationId xmlns:a16="http://schemas.microsoft.com/office/drawing/2014/main" id="{FFE9F6E3-A262-3E2E-CB0E-B5ED521ABDD4}"/>
              </a:ext>
            </a:extLst>
          </p:cNvPr>
          <p:cNvSpPr/>
          <p:nvPr/>
        </p:nvSpPr>
        <p:spPr>
          <a:xfrm>
            <a:off x="9893808" y="1945886"/>
            <a:ext cx="1088136" cy="88107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EE852F2-F51F-0030-44D0-983DEAE922CE}"/>
              </a:ext>
            </a:extLst>
          </p:cNvPr>
          <p:cNvSpPr txBox="1"/>
          <p:nvPr/>
        </p:nvSpPr>
        <p:spPr>
          <a:xfrm>
            <a:off x="9935632" y="2180628"/>
            <a:ext cx="980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Semantic evidence gives strongest recall coverage.</a:t>
            </a:r>
          </a:p>
        </p:txBody>
      </p:sp>
      <p:sp>
        <p:nvSpPr>
          <p:cNvPr id="165" name="Rounded Rectangle 182">
            <a:extLst>
              <a:ext uri="{FF2B5EF4-FFF2-40B4-BE49-F238E27FC236}">
                <a16:creationId xmlns:a16="http://schemas.microsoft.com/office/drawing/2014/main" id="{CB3214FC-3E04-8239-D1DC-15B15DD713E8}"/>
              </a:ext>
            </a:extLst>
          </p:cNvPr>
          <p:cNvSpPr/>
          <p:nvPr/>
        </p:nvSpPr>
        <p:spPr>
          <a:xfrm>
            <a:off x="11029950" y="1945886"/>
            <a:ext cx="1040129" cy="8810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3B71692-BA9A-EFEA-BDA2-E001A5CAB7D4}"/>
              </a:ext>
            </a:extLst>
          </p:cNvPr>
          <p:cNvSpPr/>
          <p:nvPr/>
        </p:nvSpPr>
        <p:spPr>
          <a:xfrm>
            <a:off x="11338560" y="1990859"/>
            <a:ext cx="314666" cy="292608"/>
          </a:xfrm>
          <a:prstGeom prst="ellipse">
            <a:avLst/>
          </a:prstGeom>
          <a:solidFill>
            <a:srgbClr val="880E4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61B9D5B-83BB-30D5-BA4E-64A5CC1694D7}"/>
              </a:ext>
            </a:extLst>
          </p:cNvPr>
          <p:cNvSpPr txBox="1"/>
          <p:nvPr/>
        </p:nvSpPr>
        <p:spPr>
          <a:xfrm>
            <a:off x="11267440" y="2015136"/>
            <a:ext cx="430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chemeClr val="bg1"/>
                </a:solidFill>
              </a:rPr>
              <a:t>RQ2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CDB664A-54F2-AE79-9498-29E7E5414EE5}"/>
              </a:ext>
            </a:extLst>
          </p:cNvPr>
          <p:cNvSpPr txBox="1"/>
          <p:nvPr/>
        </p:nvSpPr>
        <p:spPr>
          <a:xfrm>
            <a:off x="10944352" y="2282551"/>
            <a:ext cx="11927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Max Fusion has highest mean score; Adaptive is more selective.</a:t>
            </a:r>
          </a:p>
        </p:txBody>
      </p:sp>
      <p:sp>
        <p:nvSpPr>
          <p:cNvPr id="169" name="Rounded Rectangle 186">
            <a:extLst>
              <a:ext uri="{FF2B5EF4-FFF2-40B4-BE49-F238E27FC236}">
                <a16:creationId xmlns:a16="http://schemas.microsoft.com/office/drawing/2014/main" id="{0AA5B314-228D-7D3D-6F99-C440D66BC317}"/>
              </a:ext>
            </a:extLst>
          </p:cNvPr>
          <p:cNvSpPr/>
          <p:nvPr/>
        </p:nvSpPr>
        <p:spPr>
          <a:xfrm>
            <a:off x="9912096" y="2942302"/>
            <a:ext cx="1060704" cy="8372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A412BC4-F5BD-3FDC-1249-C3410BA5343D}"/>
              </a:ext>
            </a:extLst>
          </p:cNvPr>
          <p:cNvSpPr/>
          <p:nvPr/>
        </p:nvSpPr>
        <p:spPr>
          <a:xfrm>
            <a:off x="10253472" y="2971799"/>
            <a:ext cx="329183" cy="282447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F3F463B-ACD2-E433-9B32-215D7A00FF9D}"/>
              </a:ext>
            </a:extLst>
          </p:cNvPr>
          <p:cNvSpPr txBox="1"/>
          <p:nvPr/>
        </p:nvSpPr>
        <p:spPr>
          <a:xfrm>
            <a:off x="10203180" y="3017459"/>
            <a:ext cx="4023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RQ3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D70D8FD-7801-888F-FEDA-857627A36498}"/>
              </a:ext>
            </a:extLst>
          </p:cNvPr>
          <p:cNvSpPr txBox="1"/>
          <p:nvPr/>
        </p:nvSpPr>
        <p:spPr>
          <a:xfrm>
            <a:off x="9802368" y="3198394"/>
            <a:ext cx="1239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High uncertainty/conflict bins show higher FP risk.</a:t>
            </a:r>
          </a:p>
        </p:txBody>
      </p:sp>
      <p:sp>
        <p:nvSpPr>
          <p:cNvPr id="173" name="Rounded Rectangle 190">
            <a:extLst>
              <a:ext uri="{FF2B5EF4-FFF2-40B4-BE49-F238E27FC236}">
                <a16:creationId xmlns:a16="http://schemas.microsoft.com/office/drawing/2014/main" id="{67C0D8D4-529F-330F-88A9-6C6A48871307}"/>
              </a:ext>
            </a:extLst>
          </p:cNvPr>
          <p:cNvSpPr/>
          <p:nvPr/>
        </p:nvSpPr>
        <p:spPr>
          <a:xfrm>
            <a:off x="11010900" y="2940016"/>
            <a:ext cx="1053084" cy="8699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E36E45A-0B2F-2419-4547-B303384E8133}"/>
              </a:ext>
            </a:extLst>
          </p:cNvPr>
          <p:cNvSpPr/>
          <p:nvPr/>
        </p:nvSpPr>
        <p:spPr>
          <a:xfrm>
            <a:off x="11331786" y="2979801"/>
            <a:ext cx="347134" cy="279158"/>
          </a:xfrm>
          <a:prstGeom prst="ellipse">
            <a:avLst/>
          </a:prstGeom>
          <a:solidFill>
            <a:srgbClr val="F57C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6FB8F57-9542-E392-E637-F8C8A2A24FB9}"/>
              </a:ext>
            </a:extLst>
          </p:cNvPr>
          <p:cNvSpPr txBox="1"/>
          <p:nvPr/>
        </p:nvSpPr>
        <p:spPr>
          <a:xfrm>
            <a:off x="11296648" y="2982950"/>
            <a:ext cx="4229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RQ4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2637A02-C389-1F6B-B571-282B327B8EF0}"/>
              </a:ext>
            </a:extLst>
          </p:cNvPr>
          <p:cNvSpPr txBox="1"/>
          <p:nvPr/>
        </p:nvSpPr>
        <p:spPr>
          <a:xfrm>
            <a:off x="10871772" y="3224023"/>
            <a:ext cx="13446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00" dirty="0"/>
              <a:t>Descriptions provide the strongest complementary evidence among evaluated prompt sources.</a:t>
            </a:r>
            <a:endParaRPr sz="800" dirty="0"/>
          </a:p>
        </p:txBody>
      </p:sp>
      <p:sp>
        <p:nvSpPr>
          <p:cNvPr id="177" name="Rounded Rectangle 194">
            <a:extLst>
              <a:ext uri="{FF2B5EF4-FFF2-40B4-BE49-F238E27FC236}">
                <a16:creationId xmlns:a16="http://schemas.microsoft.com/office/drawing/2014/main" id="{114389F0-5979-B73D-6569-6E333AB67AFF}"/>
              </a:ext>
            </a:extLst>
          </p:cNvPr>
          <p:cNvSpPr/>
          <p:nvPr/>
        </p:nvSpPr>
        <p:spPr>
          <a:xfrm>
            <a:off x="9906001" y="3883150"/>
            <a:ext cx="1082674" cy="858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DE7C9D7A-1E56-7A2D-6F89-A830AC507AAA}"/>
              </a:ext>
            </a:extLst>
          </p:cNvPr>
          <p:cNvSpPr/>
          <p:nvPr/>
        </p:nvSpPr>
        <p:spPr>
          <a:xfrm>
            <a:off x="10259568" y="3944538"/>
            <a:ext cx="347471" cy="314531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9FEFDDA-67B1-0592-AB69-349011291DD3}"/>
              </a:ext>
            </a:extLst>
          </p:cNvPr>
          <p:cNvSpPr txBox="1"/>
          <p:nvPr/>
        </p:nvSpPr>
        <p:spPr>
          <a:xfrm>
            <a:off x="10180320" y="3976375"/>
            <a:ext cx="477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chemeClr val="bg1"/>
                </a:solidFill>
              </a:rPr>
              <a:t>RQ5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5BD5AC4-94E6-E989-C7D6-610CA234C354}"/>
              </a:ext>
            </a:extLst>
          </p:cNvPr>
          <p:cNvSpPr txBox="1"/>
          <p:nvPr/>
        </p:nvSpPr>
        <p:spPr>
          <a:xfrm>
            <a:off x="9777349" y="4132174"/>
            <a:ext cx="1302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Prior-aware fusion improves LVIS adaptive-threshold recall for rare categories.</a:t>
            </a:r>
            <a:endParaRPr sz="800" dirty="0"/>
          </a:p>
        </p:txBody>
      </p:sp>
      <p:sp>
        <p:nvSpPr>
          <p:cNvPr id="181" name="Rounded Rectangle 198">
            <a:extLst>
              <a:ext uri="{FF2B5EF4-FFF2-40B4-BE49-F238E27FC236}">
                <a16:creationId xmlns:a16="http://schemas.microsoft.com/office/drawing/2014/main" id="{C29E6703-7811-6EE6-7D03-B9202F4C1BD7}"/>
              </a:ext>
            </a:extLst>
          </p:cNvPr>
          <p:cNvSpPr/>
          <p:nvPr/>
        </p:nvSpPr>
        <p:spPr>
          <a:xfrm>
            <a:off x="11021569" y="3903470"/>
            <a:ext cx="1042415" cy="817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AE0ACA11-7FA1-E760-7D05-7646CF7C6988}"/>
              </a:ext>
            </a:extLst>
          </p:cNvPr>
          <p:cNvSpPr/>
          <p:nvPr/>
        </p:nvSpPr>
        <p:spPr>
          <a:xfrm>
            <a:off x="11351960" y="3922775"/>
            <a:ext cx="363728" cy="329184"/>
          </a:xfrm>
          <a:prstGeom prst="ellipse">
            <a:avLst/>
          </a:prstGeom>
          <a:solidFill>
            <a:srgbClr val="6A1B9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D770550-6E6D-ACC6-5306-AD7CA53570CA}"/>
              </a:ext>
            </a:extLst>
          </p:cNvPr>
          <p:cNvSpPr txBox="1"/>
          <p:nvPr/>
        </p:nvSpPr>
        <p:spPr>
          <a:xfrm>
            <a:off x="11329100" y="3979645"/>
            <a:ext cx="4094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RQ6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6055EC9-A4A5-BF8C-54C0-B863DF15C1FA}"/>
              </a:ext>
            </a:extLst>
          </p:cNvPr>
          <p:cNvSpPr txBox="1"/>
          <p:nvPr/>
        </p:nvSpPr>
        <p:spPr>
          <a:xfrm>
            <a:off x="10909808" y="4071752"/>
            <a:ext cx="1275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dirty="0"/>
              <a:t>Semantic Evidence achieves the strongest overall recall coverage across evaluated frameworks.</a:t>
            </a:r>
            <a:endParaRPr sz="800" dirty="0"/>
          </a:p>
        </p:txBody>
      </p:sp>
      <p:sp>
        <p:nvSpPr>
          <p:cNvPr id="185" name="Rounded Rectangle 202">
            <a:extLst>
              <a:ext uri="{FF2B5EF4-FFF2-40B4-BE49-F238E27FC236}">
                <a16:creationId xmlns:a16="http://schemas.microsoft.com/office/drawing/2014/main" id="{167A0A78-C85F-1120-9979-299B94C3CA50}"/>
              </a:ext>
            </a:extLst>
          </p:cNvPr>
          <p:cNvSpPr/>
          <p:nvPr/>
        </p:nvSpPr>
        <p:spPr>
          <a:xfrm>
            <a:off x="9875519" y="5084064"/>
            <a:ext cx="2194560" cy="493776"/>
          </a:xfrm>
          <a:prstGeom prst="round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9EAFE72-3A4F-AC93-2573-E2BBA2136F06}"/>
              </a:ext>
            </a:extLst>
          </p:cNvPr>
          <p:cNvSpPr txBox="1"/>
          <p:nvPr/>
        </p:nvSpPr>
        <p:spPr>
          <a:xfrm>
            <a:off x="9966960" y="5157216"/>
            <a:ext cx="2121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chemeClr val="bg1"/>
                </a:solidFill>
              </a:rPr>
              <a:t>No extra training data; diagnostic fusion analysis for OVD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E26F84E-18FE-9881-C922-46CA1228A0A8}"/>
              </a:ext>
            </a:extLst>
          </p:cNvPr>
          <p:cNvSpPr/>
          <p:nvPr/>
        </p:nvSpPr>
        <p:spPr>
          <a:xfrm>
            <a:off x="10255504" y="1971812"/>
            <a:ext cx="347472" cy="27432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>
              <a:solidFill>
                <a:schemeClr val="tx1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A304176-BCCE-9891-99DD-65D3568747EB}"/>
              </a:ext>
            </a:extLst>
          </p:cNvPr>
          <p:cNvSpPr txBox="1"/>
          <p:nvPr/>
        </p:nvSpPr>
        <p:spPr>
          <a:xfrm>
            <a:off x="10222653" y="2006774"/>
            <a:ext cx="42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bg1"/>
                </a:solidFill>
              </a:rPr>
              <a:t>RQ1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A2A4CE9-2A44-95CD-8513-D935667345C8}"/>
              </a:ext>
            </a:extLst>
          </p:cNvPr>
          <p:cNvSpPr txBox="1"/>
          <p:nvPr/>
        </p:nvSpPr>
        <p:spPr>
          <a:xfrm>
            <a:off x="7684600" y="1690555"/>
            <a:ext cx="18946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/>
              <a:t>Recall improves on both datasets</a:t>
            </a:r>
          </a:p>
        </p:txBody>
      </p:sp>
      <p:sp>
        <p:nvSpPr>
          <p:cNvPr id="94" name="Rounded Rectangle 111">
            <a:extLst>
              <a:ext uri="{FF2B5EF4-FFF2-40B4-BE49-F238E27FC236}">
                <a16:creationId xmlns:a16="http://schemas.microsoft.com/office/drawing/2014/main" id="{1E2346A6-63DB-EC2E-5DB5-51A213AF8200}"/>
              </a:ext>
            </a:extLst>
          </p:cNvPr>
          <p:cNvSpPr/>
          <p:nvPr/>
        </p:nvSpPr>
        <p:spPr>
          <a:xfrm>
            <a:off x="5033837" y="3703319"/>
            <a:ext cx="2351022" cy="595757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FF233C8-E4B1-04BB-C7EE-6D633958B497}"/>
              </a:ext>
            </a:extLst>
          </p:cNvPr>
          <p:cNvSpPr txBox="1"/>
          <p:nvPr/>
        </p:nvSpPr>
        <p:spPr>
          <a:xfrm>
            <a:off x="5029198" y="3694175"/>
            <a:ext cx="2304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/>
              <a:t>Mean Fusion</a:t>
            </a:r>
            <a:endParaRPr sz="800" b="1" dirty="0"/>
          </a:p>
        </p:txBody>
      </p:sp>
      <p:sp>
        <p:nvSpPr>
          <p:cNvPr id="113" name="Rounded Rectangle 119">
            <a:extLst>
              <a:ext uri="{FF2B5EF4-FFF2-40B4-BE49-F238E27FC236}">
                <a16:creationId xmlns:a16="http://schemas.microsoft.com/office/drawing/2014/main" id="{EC760055-A1EF-2909-EF0A-0AF27191FC53}"/>
              </a:ext>
            </a:extLst>
          </p:cNvPr>
          <p:cNvSpPr/>
          <p:nvPr/>
        </p:nvSpPr>
        <p:spPr>
          <a:xfrm>
            <a:off x="6146800" y="3950206"/>
            <a:ext cx="1166337" cy="228601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Mean  score: 0.1420</a:t>
            </a:r>
          </a:p>
        </p:txBody>
      </p:sp>
    </p:spTree>
    <p:extLst>
      <p:ext uri="{BB962C8B-B14F-4D97-AF65-F5344CB8AC3E}">
        <p14:creationId xmlns:p14="http://schemas.microsoft.com/office/powerpoint/2010/main" val="258643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">
            <a:extLst>
              <a:ext uri="{FF2B5EF4-FFF2-40B4-BE49-F238E27FC236}">
                <a16:creationId xmlns:a16="http://schemas.microsoft.com/office/drawing/2014/main" id="{B64D70FD-D4FC-E89B-3628-24BF669D6CE7}"/>
              </a:ext>
            </a:extLst>
          </p:cNvPr>
          <p:cNvSpPr/>
          <p:nvPr/>
        </p:nvSpPr>
        <p:spPr>
          <a:xfrm>
            <a:off x="87228" y="1243893"/>
            <a:ext cx="1740679" cy="5238008"/>
          </a:xfrm>
          <a:prstGeom prst="roundRect">
            <a:avLst>
              <a:gd name="adj" fmla="val 5405"/>
            </a:avLst>
          </a:prstGeom>
          <a:solidFill>
            <a:srgbClr val="EBF3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286" name="Shape 7">
            <a:extLst>
              <a:ext uri="{FF2B5EF4-FFF2-40B4-BE49-F238E27FC236}">
                <a16:creationId xmlns:a16="http://schemas.microsoft.com/office/drawing/2014/main" id="{6360C18F-729C-9C14-CAEC-697F86129BE3}"/>
              </a:ext>
            </a:extLst>
          </p:cNvPr>
          <p:cNvSpPr/>
          <p:nvPr/>
        </p:nvSpPr>
        <p:spPr>
          <a:xfrm>
            <a:off x="1946074" y="1240652"/>
            <a:ext cx="1801831" cy="5243673"/>
          </a:xfrm>
          <a:prstGeom prst="roundRect">
            <a:avLst>
              <a:gd name="adj" fmla="val 5405"/>
            </a:avLst>
          </a:prstGeom>
          <a:solidFill>
            <a:srgbClr val="E8F8F5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287" name="Shape 12">
            <a:extLst>
              <a:ext uri="{FF2B5EF4-FFF2-40B4-BE49-F238E27FC236}">
                <a16:creationId xmlns:a16="http://schemas.microsoft.com/office/drawing/2014/main" id="{442981B1-42DC-C5A2-01AD-53E9AC71A290}"/>
              </a:ext>
            </a:extLst>
          </p:cNvPr>
          <p:cNvSpPr/>
          <p:nvPr/>
        </p:nvSpPr>
        <p:spPr>
          <a:xfrm>
            <a:off x="3859909" y="1243887"/>
            <a:ext cx="1783080" cy="5238014"/>
          </a:xfrm>
          <a:prstGeom prst="roundRect">
            <a:avLst>
              <a:gd name="adj" fmla="val 5128"/>
            </a:avLst>
          </a:prstGeom>
          <a:solidFill>
            <a:srgbClr val="F5EE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288" name="Shape 17">
            <a:extLst>
              <a:ext uri="{FF2B5EF4-FFF2-40B4-BE49-F238E27FC236}">
                <a16:creationId xmlns:a16="http://schemas.microsoft.com/office/drawing/2014/main" id="{7FF9E414-943A-D03F-532A-1A71C9FF6EEC}"/>
              </a:ext>
            </a:extLst>
          </p:cNvPr>
          <p:cNvSpPr/>
          <p:nvPr/>
        </p:nvSpPr>
        <p:spPr>
          <a:xfrm>
            <a:off x="5767783" y="1265643"/>
            <a:ext cx="2637170" cy="5216256"/>
          </a:xfrm>
          <a:prstGeom prst="roundRect">
            <a:avLst>
              <a:gd name="adj" fmla="val 3509"/>
            </a:avLst>
          </a:prstGeom>
          <a:solidFill>
            <a:srgbClr val="FFF4EE"/>
          </a:solidFill>
          <a:ln w="1905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290" name="Shape 18">
            <a:extLst>
              <a:ext uri="{FF2B5EF4-FFF2-40B4-BE49-F238E27FC236}">
                <a16:creationId xmlns:a16="http://schemas.microsoft.com/office/drawing/2014/main" id="{849B91DB-545B-F78F-D2A8-57FD23A8AC4C}"/>
              </a:ext>
            </a:extLst>
          </p:cNvPr>
          <p:cNvSpPr/>
          <p:nvPr/>
        </p:nvSpPr>
        <p:spPr>
          <a:xfrm>
            <a:off x="5762059" y="785421"/>
            <a:ext cx="2623844" cy="490919"/>
          </a:xfrm>
          <a:prstGeom prst="roundRect">
            <a:avLst>
              <a:gd name="adj" fmla="val 1428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BF360C"/>
            </a:solidFill>
            <a:prstDash val="solid"/>
          </a:ln>
        </p:spPr>
        <p:txBody>
          <a:bodyPr wrap="square"/>
          <a:lstStyle/>
          <a:p>
            <a:pPr algn="ctr"/>
            <a:r>
              <a:rPr lang="en-GB" sz="900" b="1" dirty="0"/>
              <a:t>LVIS frequency-prior score recalibration</a:t>
            </a:r>
            <a:endParaRPr lang="en-US" sz="900" b="1" dirty="0"/>
          </a:p>
        </p:txBody>
      </p:sp>
      <p:sp>
        <p:nvSpPr>
          <p:cNvPr id="291" name="Shape 23">
            <a:extLst>
              <a:ext uri="{FF2B5EF4-FFF2-40B4-BE49-F238E27FC236}">
                <a16:creationId xmlns:a16="http://schemas.microsoft.com/office/drawing/2014/main" id="{F9A072BD-C233-42AB-FA42-698BF009D34B}"/>
              </a:ext>
            </a:extLst>
          </p:cNvPr>
          <p:cNvSpPr/>
          <p:nvPr/>
        </p:nvSpPr>
        <p:spPr>
          <a:xfrm>
            <a:off x="8523820" y="789362"/>
            <a:ext cx="1807405" cy="486977"/>
          </a:xfrm>
          <a:prstGeom prst="roundRect">
            <a:avLst>
              <a:gd name="adj" fmla="val 14286"/>
            </a:avLst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pPr algn="ctr"/>
            <a:r>
              <a:rPr sz="900" b="1" dirty="0"/>
              <a:t>Experimental</a:t>
            </a:r>
            <a:r>
              <a:rPr lang="en-US" sz="900" b="1" dirty="0"/>
              <a:t> </a:t>
            </a:r>
            <a:r>
              <a:rPr sz="900" b="1" dirty="0"/>
              <a:t>Evaluation</a:t>
            </a:r>
          </a:p>
        </p:txBody>
      </p:sp>
      <p:sp>
        <p:nvSpPr>
          <p:cNvPr id="292" name="Shape 5">
            <a:extLst>
              <a:ext uri="{FF2B5EF4-FFF2-40B4-BE49-F238E27FC236}">
                <a16:creationId xmlns:a16="http://schemas.microsoft.com/office/drawing/2014/main" id="{F13A549A-CDD4-C6A0-3E74-55192051C6DD}"/>
              </a:ext>
            </a:extLst>
          </p:cNvPr>
          <p:cNvSpPr/>
          <p:nvPr/>
        </p:nvSpPr>
        <p:spPr>
          <a:xfrm>
            <a:off x="690452" y="376099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1</a:t>
            </a:r>
            <a:endParaRPr lang="en-GB" dirty="0"/>
          </a:p>
        </p:txBody>
      </p:sp>
      <p:sp>
        <p:nvSpPr>
          <p:cNvPr id="293" name="Shape 10">
            <a:extLst>
              <a:ext uri="{FF2B5EF4-FFF2-40B4-BE49-F238E27FC236}">
                <a16:creationId xmlns:a16="http://schemas.microsoft.com/office/drawing/2014/main" id="{C5033F08-8011-1F81-DD92-8985D0C1B5D3}"/>
              </a:ext>
            </a:extLst>
          </p:cNvPr>
          <p:cNvSpPr/>
          <p:nvPr/>
        </p:nvSpPr>
        <p:spPr>
          <a:xfrm>
            <a:off x="2557687" y="37367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2</a:t>
            </a:r>
            <a:endParaRPr lang="en-GB" dirty="0"/>
          </a:p>
        </p:txBody>
      </p:sp>
      <p:sp>
        <p:nvSpPr>
          <p:cNvPr id="294" name="Shape 10">
            <a:extLst>
              <a:ext uri="{FF2B5EF4-FFF2-40B4-BE49-F238E27FC236}">
                <a16:creationId xmlns:a16="http://schemas.microsoft.com/office/drawing/2014/main" id="{80A716D2-EC3C-8386-E965-F05784F418A2}"/>
              </a:ext>
            </a:extLst>
          </p:cNvPr>
          <p:cNvSpPr/>
          <p:nvPr/>
        </p:nvSpPr>
        <p:spPr>
          <a:xfrm>
            <a:off x="4498899" y="360987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3</a:t>
            </a:r>
            <a:endParaRPr lang="en-GB" dirty="0"/>
          </a:p>
        </p:txBody>
      </p:sp>
      <p:sp>
        <p:nvSpPr>
          <p:cNvPr id="295" name="Shape 10">
            <a:extLst>
              <a:ext uri="{FF2B5EF4-FFF2-40B4-BE49-F238E27FC236}">
                <a16:creationId xmlns:a16="http://schemas.microsoft.com/office/drawing/2014/main" id="{F8BF0D62-3710-5494-4A6E-DB1F2F43E54E}"/>
              </a:ext>
            </a:extLst>
          </p:cNvPr>
          <p:cNvSpPr/>
          <p:nvPr/>
        </p:nvSpPr>
        <p:spPr>
          <a:xfrm>
            <a:off x="6885200" y="365379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4</a:t>
            </a:r>
            <a:endParaRPr lang="en-GB" dirty="0"/>
          </a:p>
        </p:txBody>
      </p:sp>
      <p:sp>
        <p:nvSpPr>
          <p:cNvPr id="296" name="Shape 10">
            <a:extLst>
              <a:ext uri="{FF2B5EF4-FFF2-40B4-BE49-F238E27FC236}">
                <a16:creationId xmlns:a16="http://schemas.microsoft.com/office/drawing/2014/main" id="{DF874607-8913-AC33-EB62-9E5937CADB1C}"/>
              </a:ext>
            </a:extLst>
          </p:cNvPr>
          <p:cNvSpPr/>
          <p:nvPr/>
        </p:nvSpPr>
        <p:spPr>
          <a:xfrm>
            <a:off x="9226354" y="383085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5</a:t>
            </a:r>
            <a:endParaRPr lang="en-GB" dirty="0"/>
          </a:p>
        </p:txBody>
      </p:sp>
      <p:sp>
        <p:nvSpPr>
          <p:cNvPr id="297" name="Shape 10">
            <a:extLst>
              <a:ext uri="{FF2B5EF4-FFF2-40B4-BE49-F238E27FC236}">
                <a16:creationId xmlns:a16="http://schemas.microsoft.com/office/drawing/2014/main" id="{B893B86A-2480-8290-ED2B-6B19E3374822}"/>
              </a:ext>
            </a:extLst>
          </p:cNvPr>
          <p:cNvSpPr/>
          <p:nvPr/>
        </p:nvSpPr>
        <p:spPr>
          <a:xfrm>
            <a:off x="11029267" y="314504"/>
            <a:ext cx="402336" cy="402336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 wrap="square"/>
          <a:lstStyle/>
          <a:p>
            <a:pPr algn="ctr"/>
            <a:r>
              <a:rPr lang="en-IN" dirty="0"/>
              <a:t>6</a:t>
            </a:r>
            <a:endParaRPr lang="en-GB" dirty="0"/>
          </a:p>
        </p:txBody>
      </p:sp>
      <p:pic>
        <p:nvPicPr>
          <p:cNvPr id="298" name="Image 0">
            <a:extLst>
              <a:ext uri="{FF2B5EF4-FFF2-40B4-BE49-F238E27FC236}">
                <a16:creationId xmlns:a16="http://schemas.microsoft.com/office/drawing/2014/main" id="{8CFDF164-0434-D5D5-C0BF-470F617D5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01" y="1452976"/>
            <a:ext cx="528651" cy="528651"/>
          </a:xfrm>
          <a:prstGeom prst="rect">
            <a:avLst/>
          </a:prstGeom>
        </p:spPr>
      </p:pic>
      <p:pic>
        <p:nvPicPr>
          <p:cNvPr id="299" name="Image 1">
            <a:extLst>
              <a:ext uri="{FF2B5EF4-FFF2-40B4-BE49-F238E27FC236}">
                <a16:creationId xmlns:a16="http://schemas.microsoft.com/office/drawing/2014/main" id="{0DBDEF55-E93B-32F5-3CF0-34F8FB944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10" y="2209512"/>
            <a:ext cx="528649" cy="528649"/>
          </a:xfrm>
          <a:prstGeom prst="rect">
            <a:avLst/>
          </a:prstGeom>
        </p:spPr>
      </p:pic>
      <p:pic>
        <p:nvPicPr>
          <p:cNvPr id="300" name="Image 2">
            <a:extLst>
              <a:ext uri="{FF2B5EF4-FFF2-40B4-BE49-F238E27FC236}">
                <a16:creationId xmlns:a16="http://schemas.microsoft.com/office/drawing/2014/main" id="{E000E454-65C1-2A5C-5FC7-D0E6825A7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18" y="2884104"/>
            <a:ext cx="645669" cy="556290"/>
          </a:xfrm>
          <a:prstGeom prst="rect">
            <a:avLst/>
          </a:prstGeom>
        </p:spPr>
      </p:pic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0D5CEA48-AD9C-2CEB-9920-E60518E863B0}"/>
              </a:ext>
            </a:extLst>
          </p:cNvPr>
          <p:cNvCxnSpPr/>
          <p:nvPr/>
        </p:nvCxnSpPr>
        <p:spPr>
          <a:xfrm>
            <a:off x="102950" y="3738933"/>
            <a:ext cx="14340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1A55003-172C-FB8C-1EA6-4E67DA5202AA}"/>
              </a:ext>
            </a:extLst>
          </p:cNvPr>
          <p:cNvSpPr/>
          <p:nvPr/>
        </p:nvSpPr>
        <p:spPr>
          <a:xfrm>
            <a:off x="181110" y="5752896"/>
            <a:ext cx="1505276" cy="46405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Dataset evaluation subsets</a:t>
            </a:r>
            <a:endParaRPr lang="en-US" sz="9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3F6927E-1380-7895-C0D2-F1F70CA45CF0}"/>
              </a:ext>
            </a:extLst>
          </p:cNvPr>
          <p:cNvSpPr/>
          <p:nvPr/>
        </p:nvSpPr>
        <p:spPr>
          <a:xfrm>
            <a:off x="863291" y="1371406"/>
            <a:ext cx="837133" cy="2179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LVIS</a:t>
            </a:r>
            <a:endParaRPr lang="en-US" sz="9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E99A7E54-7BB3-0761-EF31-77EF0BF248A1}"/>
              </a:ext>
            </a:extLst>
          </p:cNvPr>
          <p:cNvSpPr/>
          <p:nvPr/>
        </p:nvSpPr>
        <p:spPr>
          <a:xfrm>
            <a:off x="856273" y="2738161"/>
            <a:ext cx="837133" cy="3400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 dirty="0"/>
              <a:t>COCO</a:t>
            </a:r>
            <a:endParaRPr lang="en-US" sz="9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8DAAA04-1394-77C0-CC05-8CF4929ED709}"/>
              </a:ext>
            </a:extLst>
          </p:cNvPr>
          <p:cNvSpPr/>
          <p:nvPr/>
        </p:nvSpPr>
        <p:spPr>
          <a:xfrm>
            <a:off x="745446" y="1613698"/>
            <a:ext cx="1044896" cy="5294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900" dirty="0"/>
              <a:t>1000 images · 4,132 GT image-category pairs</a:t>
            </a:r>
            <a:endParaRPr lang="en-US" sz="9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9F97E658-CBA2-1F9F-6F86-937A9D1D445E}"/>
              </a:ext>
            </a:extLst>
          </p:cNvPr>
          <p:cNvSpPr/>
          <p:nvPr/>
        </p:nvSpPr>
        <p:spPr>
          <a:xfrm>
            <a:off x="731370" y="2220129"/>
            <a:ext cx="1058972" cy="4140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GB" sz="900" dirty="0"/>
              <a:t>1000 images · 3,217 GT image-category pairs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E9DB2D1-F0C5-6073-0C9A-3AD73CD4D9C2}"/>
              </a:ext>
            </a:extLst>
          </p:cNvPr>
          <p:cNvSpPr/>
          <p:nvPr/>
        </p:nvSpPr>
        <p:spPr>
          <a:xfrm>
            <a:off x="142318" y="3451237"/>
            <a:ext cx="1607107" cy="1819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dirty="0"/>
              <a:t>Long-tail/frequency analysis</a:t>
            </a:r>
            <a:endParaRPr lang="en-US" sz="900" dirty="0"/>
          </a:p>
        </p:txBody>
      </p:sp>
      <p:sp>
        <p:nvSpPr>
          <p:cNvPr id="308" name="Shape 3">
            <a:extLst>
              <a:ext uri="{FF2B5EF4-FFF2-40B4-BE49-F238E27FC236}">
                <a16:creationId xmlns:a16="http://schemas.microsoft.com/office/drawing/2014/main" id="{073BA1E5-6061-E8E1-09CF-941B634A7AC5}"/>
              </a:ext>
            </a:extLst>
          </p:cNvPr>
          <p:cNvSpPr/>
          <p:nvPr/>
        </p:nvSpPr>
        <p:spPr>
          <a:xfrm>
            <a:off x="72723" y="769451"/>
            <a:ext cx="1755184" cy="471201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wrap="square"/>
          <a:lstStyle/>
          <a:p>
            <a:pPr algn="ctr"/>
            <a:r>
              <a:rPr sz="900" b="1" dirty="0"/>
              <a:t>Dataset</a:t>
            </a:r>
            <a:r>
              <a:rPr lang="en-IN" sz="900" b="1" dirty="0"/>
              <a:t> </a:t>
            </a:r>
            <a:r>
              <a:rPr sz="900" b="1" dirty="0"/>
              <a:t>Acquisition</a:t>
            </a:r>
          </a:p>
        </p:txBody>
      </p:sp>
      <p:sp>
        <p:nvSpPr>
          <p:cNvPr id="309" name="Shape 8">
            <a:extLst>
              <a:ext uri="{FF2B5EF4-FFF2-40B4-BE49-F238E27FC236}">
                <a16:creationId xmlns:a16="http://schemas.microsoft.com/office/drawing/2014/main" id="{08E5558F-B96F-0664-865C-130B4FC3F3C0}"/>
              </a:ext>
            </a:extLst>
          </p:cNvPr>
          <p:cNvSpPr/>
          <p:nvPr/>
        </p:nvSpPr>
        <p:spPr>
          <a:xfrm>
            <a:off x="1949968" y="776601"/>
            <a:ext cx="1772474" cy="467285"/>
          </a:xfrm>
          <a:prstGeom prst="roundRect">
            <a:avLst>
              <a:gd name="adj" fmla="val 14286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796B"/>
            </a:solidFill>
            <a:prstDash val="solid"/>
          </a:ln>
        </p:spPr>
        <p:txBody>
          <a:bodyPr wrap="square"/>
          <a:lstStyle/>
          <a:p>
            <a:pPr algn="ctr"/>
            <a:r>
              <a:rPr sz="900" b="1" dirty="0"/>
              <a:t>Data</a:t>
            </a:r>
            <a:r>
              <a:rPr lang="en-IN" sz="900" b="1" dirty="0"/>
              <a:t> </a:t>
            </a:r>
            <a:r>
              <a:rPr sz="900" b="1" dirty="0"/>
              <a:t>Preprocessing</a:t>
            </a:r>
          </a:p>
        </p:txBody>
      </p:sp>
      <p:sp>
        <p:nvSpPr>
          <p:cNvPr id="310" name="Shape 13">
            <a:extLst>
              <a:ext uri="{FF2B5EF4-FFF2-40B4-BE49-F238E27FC236}">
                <a16:creationId xmlns:a16="http://schemas.microsoft.com/office/drawing/2014/main" id="{B2F28FF9-F1B1-EFD7-F136-F4A6F4CBB111}"/>
              </a:ext>
            </a:extLst>
          </p:cNvPr>
          <p:cNvSpPr/>
          <p:nvPr/>
        </p:nvSpPr>
        <p:spPr>
          <a:xfrm>
            <a:off x="3847236" y="767715"/>
            <a:ext cx="1805178" cy="502909"/>
          </a:xfrm>
          <a:prstGeom prst="roundRect">
            <a:avLst>
              <a:gd name="adj" fmla="val 1428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A1B9A"/>
            </a:solidFill>
            <a:prstDash val="solid"/>
          </a:ln>
        </p:spPr>
        <p:txBody>
          <a:bodyPr wrap="square"/>
          <a:lstStyle/>
          <a:p>
            <a:pPr algn="ctr"/>
            <a:r>
              <a:rPr sz="900" b="1" dirty="0"/>
              <a:t>Semantic Prompt</a:t>
            </a:r>
            <a:r>
              <a:rPr lang="en-US" sz="900" b="1" dirty="0"/>
              <a:t> </a:t>
            </a:r>
            <a:r>
              <a:rPr sz="900" b="1" dirty="0"/>
              <a:t>Generation</a:t>
            </a:r>
          </a:p>
        </p:txBody>
      </p:sp>
      <p:sp>
        <p:nvSpPr>
          <p:cNvPr id="311" name="Shape 28">
            <a:extLst>
              <a:ext uri="{FF2B5EF4-FFF2-40B4-BE49-F238E27FC236}">
                <a16:creationId xmlns:a16="http://schemas.microsoft.com/office/drawing/2014/main" id="{C0B16A4A-5CFE-9ACF-51C9-54C5CA6D646D}"/>
              </a:ext>
            </a:extLst>
          </p:cNvPr>
          <p:cNvSpPr/>
          <p:nvPr/>
        </p:nvSpPr>
        <p:spPr>
          <a:xfrm>
            <a:off x="10425113" y="785421"/>
            <a:ext cx="1636412" cy="490918"/>
          </a:xfrm>
          <a:prstGeom prst="roundRect">
            <a:avLst>
              <a:gd name="adj" fmla="val 14286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 wrap="square"/>
          <a:lstStyle/>
          <a:p>
            <a:pPr algn="ctr"/>
            <a:r>
              <a:rPr sz="900" b="1" dirty="0">
                <a:solidFill>
                  <a:schemeClr val="bg2"/>
                </a:solidFill>
              </a:rPr>
              <a:t>Result</a:t>
            </a:r>
            <a:r>
              <a:rPr lang="en-IN" sz="900" b="1" dirty="0">
                <a:solidFill>
                  <a:schemeClr val="bg2"/>
                </a:solidFill>
              </a:rPr>
              <a:t> </a:t>
            </a:r>
            <a:r>
              <a:rPr sz="900" b="1" dirty="0">
                <a:solidFill>
                  <a:schemeClr val="bg2"/>
                </a:solidFill>
              </a:rPr>
              <a:t>&amp; Impact</a:t>
            </a:r>
          </a:p>
        </p:txBody>
      </p:sp>
      <p:pic>
        <p:nvPicPr>
          <p:cNvPr id="312" name="Image 3">
            <a:extLst>
              <a:ext uri="{FF2B5EF4-FFF2-40B4-BE49-F238E27FC236}">
                <a16:creationId xmlns:a16="http://schemas.microsoft.com/office/drawing/2014/main" id="{2E61CFD5-CAA6-1909-7AB5-17AFDC36C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3016" y="1403196"/>
            <a:ext cx="643113" cy="643113"/>
          </a:xfrm>
          <a:prstGeom prst="rect">
            <a:avLst/>
          </a:prstGeom>
        </p:spPr>
      </p:pic>
      <p:pic>
        <p:nvPicPr>
          <p:cNvPr id="313" name="Image 4">
            <a:extLst>
              <a:ext uri="{FF2B5EF4-FFF2-40B4-BE49-F238E27FC236}">
                <a16:creationId xmlns:a16="http://schemas.microsoft.com/office/drawing/2014/main" id="{132BD9FB-A9D1-6A2D-FAC7-236EB16CE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4973" y="2760501"/>
            <a:ext cx="583331" cy="579071"/>
          </a:xfrm>
          <a:prstGeom prst="rect">
            <a:avLst/>
          </a:prstGeom>
        </p:spPr>
      </p:pic>
      <p:sp>
        <p:nvSpPr>
          <p:cNvPr id="314" name="Shape 54">
            <a:extLst>
              <a:ext uri="{FF2B5EF4-FFF2-40B4-BE49-F238E27FC236}">
                <a16:creationId xmlns:a16="http://schemas.microsoft.com/office/drawing/2014/main" id="{8C76CACC-D07D-F63B-9B3E-AA06E3D326EF}"/>
              </a:ext>
            </a:extLst>
          </p:cNvPr>
          <p:cNvSpPr/>
          <p:nvPr/>
        </p:nvSpPr>
        <p:spPr>
          <a:xfrm>
            <a:off x="2085666" y="4046788"/>
            <a:ext cx="10058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15" name="Text 58">
            <a:extLst>
              <a:ext uri="{FF2B5EF4-FFF2-40B4-BE49-F238E27FC236}">
                <a16:creationId xmlns:a16="http://schemas.microsoft.com/office/drawing/2014/main" id="{D6C7DF45-AEE2-89DD-CD87-8B0E66075848}"/>
              </a:ext>
            </a:extLst>
          </p:cNvPr>
          <p:cNvSpPr/>
          <p:nvPr/>
        </p:nvSpPr>
        <p:spPr>
          <a:xfrm rot="10800000" flipV="1">
            <a:off x="2846937" y="3899678"/>
            <a:ext cx="353462" cy="1293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400" dirty="0"/>
              <a:t>Rare</a:t>
            </a:r>
            <a:endParaRPr lang="en-US" sz="400" dirty="0"/>
          </a:p>
        </p:txBody>
      </p:sp>
      <p:sp>
        <p:nvSpPr>
          <p:cNvPr id="316" name="Text 59">
            <a:extLst>
              <a:ext uri="{FF2B5EF4-FFF2-40B4-BE49-F238E27FC236}">
                <a16:creationId xmlns:a16="http://schemas.microsoft.com/office/drawing/2014/main" id="{6BF2D4D7-2B38-2A6B-967A-BF466893E708}"/>
              </a:ext>
            </a:extLst>
          </p:cNvPr>
          <p:cNvSpPr/>
          <p:nvPr/>
        </p:nvSpPr>
        <p:spPr>
          <a:xfrm>
            <a:off x="3049588" y="3851024"/>
            <a:ext cx="651059" cy="17805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" dirty="0"/>
              <a:t>Common/Freq</a:t>
            </a:r>
            <a:r>
              <a:rPr lang="en-GB" sz="900" dirty="0"/>
              <a:t>.</a:t>
            </a:r>
            <a:endParaRPr lang="en-US" sz="900" dirty="0"/>
          </a:p>
        </p:txBody>
      </p:sp>
      <p:sp>
        <p:nvSpPr>
          <p:cNvPr id="317" name="Shape 55">
            <a:extLst>
              <a:ext uri="{FF2B5EF4-FFF2-40B4-BE49-F238E27FC236}">
                <a16:creationId xmlns:a16="http://schemas.microsoft.com/office/drawing/2014/main" id="{8F80B946-7F19-6DB1-EFD8-81FF538EBACC}"/>
              </a:ext>
            </a:extLst>
          </p:cNvPr>
          <p:cNvSpPr/>
          <p:nvPr/>
        </p:nvSpPr>
        <p:spPr>
          <a:xfrm>
            <a:off x="3087676" y="4046788"/>
            <a:ext cx="210312" cy="2926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318" name="Shape 56">
            <a:extLst>
              <a:ext uri="{FF2B5EF4-FFF2-40B4-BE49-F238E27FC236}">
                <a16:creationId xmlns:a16="http://schemas.microsoft.com/office/drawing/2014/main" id="{E310BBDA-E703-48BD-21B3-519DE46A6778}"/>
              </a:ext>
            </a:extLst>
          </p:cNvPr>
          <p:cNvSpPr/>
          <p:nvPr/>
        </p:nvSpPr>
        <p:spPr>
          <a:xfrm>
            <a:off x="3301064" y="4046788"/>
            <a:ext cx="256032" cy="29260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pic>
        <p:nvPicPr>
          <p:cNvPr id="319" name="Image 5">
            <a:extLst>
              <a:ext uri="{FF2B5EF4-FFF2-40B4-BE49-F238E27FC236}">
                <a16:creationId xmlns:a16="http://schemas.microsoft.com/office/drawing/2014/main" id="{B6FAAEC7-6B9D-F128-7CFA-E897A3F70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3016" y="4891038"/>
            <a:ext cx="663422" cy="688038"/>
          </a:xfrm>
          <a:prstGeom prst="rect">
            <a:avLst/>
          </a:prstGeom>
        </p:spPr>
      </p:pic>
      <p:sp>
        <p:nvSpPr>
          <p:cNvPr id="320" name="TextBox 319">
            <a:extLst>
              <a:ext uri="{FF2B5EF4-FFF2-40B4-BE49-F238E27FC236}">
                <a16:creationId xmlns:a16="http://schemas.microsoft.com/office/drawing/2014/main" id="{59BC7F74-2440-2C20-1502-DFE26F97B66A}"/>
              </a:ext>
            </a:extLst>
          </p:cNvPr>
          <p:cNvSpPr txBox="1"/>
          <p:nvPr/>
        </p:nvSpPr>
        <p:spPr>
          <a:xfrm>
            <a:off x="2013526" y="4415472"/>
            <a:ext cx="1728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Evaluation protocol setup</a:t>
            </a:r>
            <a:endParaRPr lang="en-US" sz="9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221ED4F-B027-CCB8-76A8-2B2E2DA68AF5}"/>
              </a:ext>
            </a:extLst>
          </p:cNvPr>
          <p:cNvSpPr/>
          <p:nvPr/>
        </p:nvSpPr>
        <p:spPr>
          <a:xfrm>
            <a:off x="2730857" y="1545885"/>
            <a:ext cx="891540" cy="3229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/>
              <a:t>Image Resize</a:t>
            </a:r>
            <a:endParaRPr lang="en-US" sz="900" dirty="0"/>
          </a:p>
          <a:p>
            <a:pPr algn="ctr"/>
            <a:r>
              <a:rPr sz="900"/>
              <a:t>&amp; Normalise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789C35B-F70D-0973-737C-238476EB704E}"/>
              </a:ext>
            </a:extLst>
          </p:cNvPr>
          <p:cNvSpPr/>
          <p:nvPr/>
        </p:nvSpPr>
        <p:spPr>
          <a:xfrm>
            <a:off x="2073907" y="2220129"/>
            <a:ext cx="1570305" cy="2812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dirty="0"/>
              <a:t>OWL-</a:t>
            </a:r>
            <a:r>
              <a:rPr sz="900" dirty="0" err="1"/>
              <a:t>ViT</a:t>
            </a:r>
            <a:r>
              <a:rPr sz="900" dirty="0"/>
              <a:t> image processor</a:t>
            </a:r>
            <a:endParaRPr lang="en-US" sz="9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E7BC6BC-9608-61BE-4F40-34F118BD6511}"/>
              </a:ext>
            </a:extLst>
          </p:cNvPr>
          <p:cNvSpPr/>
          <p:nvPr/>
        </p:nvSpPr>
        <p:spPr>
          <a:xfrm>
            <a:off x="2758855" y="2884743"/>
            <a:ext cx="891540" cy="3636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Annotation Parsing</a:t>
            </a:r>
            <a:endParaRPr lang="en-US" sz="9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168F2437-ECDC-070C-A43C-B4D4F08C5F29}"/>
              </a:ext>
            </a:extLst>
          </p:cNvPr>
          <p:cNvSpPr/>
          <p:nvPr/>
        </p:nvSpPr>
        <p:spPr>
          <a:xfrm>
            <a:off x="2016232" y="3559791"/>
            <a:ext cx="1641026" cy="3117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900" dirty="0"/>
              <a:t>Ground-truth annotations used for evaluation</a:t>
            </a:r>
            <a:endParaRPr lang="en-US" sz="9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5BE6E0D7-AB33-7456-5775-074BE54F5C1E}"/>
              </a:ext>
            </a:extLst>
          </p:cNvPr>
          <p:cNvSpPr/>
          <p:nvPr/>
        </p:nvSpPr>
        <p:spPr>
          <a:xfrm>
            <a:off x="2023016" y="5752896"/>
            <a:ext cx="1678899" cy="4580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Semantic Fusion Framework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4741B7C1-231D-BE10-E391-4623B4E1CE48}"/>
              </a:ext>
            </a:extLst>
          </p:cNvPr>
          <p:cNvSpPr/>
          <p:nvPr/>
        </p:nvSpPr>
        <p:spPr>
          <a:xfrm>
            <a:off x="2702540" y="4905746"/>
            <a:ext cx="986736" cy="6402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/>
              <a:t>Frequency-aware prior only for LVIS</a:t>
            </a:r>
            <a:endParaRPr lang="en-US" sz="900" dirty="0"/>
          </a:p>
        </p:txBody>
      </p: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C78CFBF8-4029-733A-D7A8-76DEADEBACBA}"/>
              </a:ext>
            </a:extLst>
          </p:cNvPr>
          <p:cNvCxnSpPr>
            <a:cxnSpLocks/>
            <a:stCxn id="286" idx="3"/>
            <a:endCxn id="287" idx="1"/>
          </p:cNvCxnSpPr>
          <p:nvPr/>
        </p:nvCxnSpPr>
        <p:spPr>
          <a:xfrm>
            <a:off x="3747905" y="3862489"/>
            <a:ext cx="112004" cy="40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ABBA6415-6C02-1FED-9776-27957A5D5DC7}"/>
              </a:ext>
            </a:extLst>
          </p:cNvPr>
          <p:cNvCxnSpPr>
            <a:cxnSpLocks/>
            <a:stCxn id="287" idx="3"/>
            <a:endCxn id="288" idx="1"/>
          </p:cNvCxnSpPr>
          <p:nvPr/>
        </p:nvCxnSpPr>
        <p:spPr>
          <a:xfrm>
            <a:off x="5642989" y="3862894"/>
            <a:ext cx="124794" cy="1087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FB7F1A8F-EB1B-FBF4-88AF-6C13BC11B6E9}"/>
              </a:ext>
            </a:extLst>
          </p:cNvPr>
          <p:cNvCxnSpPr>
            <a:cxnSpLocks/>
          </p:cNvCxnSpPr>
          <p:nvPr/>
        </p:nvCxnSpPr>
        <p:spPr>
          <a:xfrm>
            <a:off x="8394809" y="3612188"/>
            <a:ext cx="124855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0" name="Image 6">
            <a:extLst>
              <a:ext uri="{FF2B5EF4-FFF2-40B4-BE49-F238E27FC236}">
                <a16:creationId xmlns:a16="http://schemas.microsoft.com/office/drawing/2014/main" id="{DA229AD3-CF8B-801F-A393-20D5C3F823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2764" y="1619063"/>
            <a:ext cx="589397" cy="664851"/>
          </a:xfrm>
          <a:prstGeom prst="rect">
            <a:avLst/>
          </a:prstGeom>
        </p:spPr>
      </p:pic>
      <p:pic>
        <p:nvPicPr>
          <p:cNvPr id="331" name="Image 7">
            <a:extLst>
              <a:ext uri="{FF2B5EF4-FFF2-40B4-BE49-F238E27FC236}">
                <a16:creationId xmlns:a16="http://schemas.microsoft.com/office/drawing/2014/main" id="{DC8033DD-768B-A550-DDFF-3579F08A05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2764" y="3034845"/>
            <a:ext cx="581798" cy="581798"/>
          </a:xfrm>
          <a:prstGeom prst="rect">
            <a:avLst/>
          </a:prstGeom>
        </p:spPr>
      </p:pic>
      <p:sp>
        <p:nvSpPr>
          <p:cNvPr id="332" name="Rectangle 331">
            <a:extLst>
              <a:ext uri="{FF2B5EF4-FFF2-40B4-BE49-F238E27FC236}">
                <a16:creationId xmlns:a16="http://schemas.microsoft.com/office/drawing/2014/main" id="{7450A907-38AF-9069-1963-88C25186A51A}"/>
              </a:ext>
            </a:extLst>
          </p:cNvPr>
          <p:cNvSpPr/>
          <p:nvPr/>
        </p:nvSpPr>
        <p:spPr>
          <a:xfrm>
            <a:off x="4751841" y="1794341"/>
            <a:ext cx="817559" cy="4319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WordNet prompts</a:t>
            </a:r>
            <a:endParaRPr lang="en-US" sz="9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AFD636E-D062-3174-EA5F-1C65C6BFF1C1}"/>
              </a:ext>
            </a:extLst>
          </p:cNvPr>
          <p:cNvSpPr/>
          <p:nvPr/>
        </p:nvSpPr>
        <p:spPr>
          <a:xfrm>
            <a:off x="3884227" y="2310907"/>
            <a:ext cx="1685173" cy="4967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IN" sz="900" dirty="0"/>
              <a:t>WordNet semantic variants and related terms</a:t>
            </a:r>
            <a:endParaRPr lang="en-US" sz="900" dirty="0"/>
          </a:p>
          <a:p>
            <a:pPr algn="ctr"/>
            <a:r>
              <a:rPr sz="900" dirty="0"/>
              <a:t>semantic variants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B5F0453-6E6C-670E-2AB3-63522B55E882}"/>
              </a:ext>
            </a:extLst>
          </p:cNvPr>
          <p:cNvSpPr/>
          <p:nvPr/>
        </p:nvSpPr>
        <p:spPr>
          <a:xfrm>
            <a:off x="4761824" y="3053692"/>
            <a:ext cx="833285" cy="562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 b="1"/>
              <a:t>Template prompts</a:t>
            </a:r>
            <a:endParaRPr lang="en-US" sz="9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1C6DFB0F-B3F8-2F27-6F3E-FA70A4CEF8B1}"/>
              </a:ext>
            </a:extLst>
          </p:cNvPr>
          <p:cNvSpPr/>
          <p:nvPr/>
        </p:nvSpPr>
        <p:spPr>
          <a:xfrm>
            <a:off x="4016865" y="3742071"/>
            <a:ext cx="1423473" cy="3683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900"/>
              <a:t>attributes · contexts</a:t>
            </a:r>
            <a:endParaRPr lang="en-US" sz="900" dirty="0"/>
          </a:p>
          <a:p>
            <a:pPr algn="ctr"/>
            <a:r>
              <a:rPr sz="900"/>
              <a:t>descriptions</a:t>
            </a:r>
          </a:p>
        </p:txBody>
      </p:sp>
      <p:sp>
        <p:nvSpPr>
          <p:cNvPr id="336" name="Shape 83">
            <a:extLst>
              <a:ext uri="{FF2B5EF4-FFF2-40B4-BE49-F238E27FC236}">
                <a16:creationId xmlns:a16="http://schemas.microsoft.com/office/drawing/2014/main" id="{D86FE782-C244-B704-3A15-D3D02655490D}"/>
              </a:ext>
            </a:extLst>
          </p:cNvPr>
          <p:cNvSpPr/>
          <p:nvPr/>
        </p:nvSpPr>
        <p:spPr>
          <a:xfrm>
            <a:off x="6013784" y="1519965"/>
            <a:ext cx="1097280" cy="1920240"/>
          </a:xfrm>
          <a:prstGeom prst="roundRect">
            <a:avLst>
              <a:gd name="adj" fmla="val 5833"/>
            </a:avLst>
          </a:prstGeom>
          <a:solidFill>
            <a:srgbClr val="FFF3EE"/>
          </a:solidFill>
          <a:ln w="12700">
            <a:solidFill>
              <a:srgbClr val="FFAB91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337" name="Shape 83">
            <a:extLst>
              <a:ext uri="{FF2B5EF4-FFF2-40B4-BE49-F238E27FC236}">
                <a16:creationId xmlns:a16="http://schemas.microsoft.com/office/drawing/2014/main" id="{66C8184E-A204-3D29-7605-BF65FD95DC77}"/>
              </a:ext>
            </a:extLst>
          </p:cNvPr>
          <p:cNvSpPr/>
          <p:nvPr/>
        </p:nvSpPr>
        <p:spPr>
          <a:xfrm>
            <a:off x="7238822" y="1519965"/>
            <a:ext cx="1097280" cy="1920240"/>
          </a:xfrm>
          <a:prstGeom prst="roundRect">
            <a:avLst>
              <a:gd name="adj" fmla="val 5833"/>
            </a:avLst>
          </a:prstGeom>
          <a:solidFill>
            <a:srgbClr val="FFF3EE"/>
          </a:solidFill>
          <a:ln w="12700">
            <a:solidFill>
              <a:srgbClr val="FFAB91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pic>
        <p:nvPicPr>
          <p:cNvPr id="338" name="Image 8">
            <a:extLst>
              <a:ext uri="{FF2B5EF4-FFF2-40B4-BE49-F238E27FC236}">
                <a16:creationId xmlns:a16="http://schemas.microsoft.com/office/drawing/2014/main" id="{53E0DB0B-38D0-2FD8-0D26-9EBCCF742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966" y="1566310"/>
            <a:ext cx="497708" cy="497708"/>
          </a:xfrm>
          <a:prstGeom prst="rect">
            <a:avLst/>
          </a:prstGeom>
        </p:spPr>
      </p:pic>
      <p:sp>
        <p:nvSpPr>
          <p:cNvPr id="339" name="Text 84">
            <a:extLst>
              <a:ext uri="{FF2B5EF4-FFF2-40B4-BE49-F238E27FC236}">
                <a16:creationId xmlns:a16="http://schemas.microsoft.com/office/drawing/2014/main" id="{F64ACC67-AEEA-F4BA-5C85-26988AFACEBB}"/>
              </a:ext>
            </a:extLst>
          </p:cNvPr>
          <p:cNvSpPr/>
          <p:nvPr/>
        </p:nvSpPr>
        <p:spPr>
          <a:xfrm>
            <a:off x="5958790" y="210973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Image Stream</a:t>
            </a:r>
            <a:endParaRPr lang="en-US" sz="900" dirty="0"/>
          </a:p>
        </p:txBody>
      </p:sp>
      <p:sp>
        <p:nvSpPr>
          <p:cNvPr id="340" name="Text 85">
            <a:extLst>
              <a:ext uri="{FF2B5EF4-FFF2-40B4-BE49-F238E27FC236}">
                <a16:creationId xmlns:a16="http://schemas.microsoft.com/office/drawing/2014/main" id="{10BA57B0-292F-01FD-6F22-6B8DF670F6AB}"/>
              </a:ext>
            </a:extLst>
          </p:cNvPr>
          <p:cNvSpPr/>
          <p:nvPr/>
        </p:nvSpPr>
        <p:spPr>
          <a:xfrm>
            <a:off x="5958790" y="232005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OWL-ViT visual encoder</a:t>
            </a:r>
            <a:endParaRPr lang="en-US" sz="900" dirty="0"/>
          </a:p>
        </p:txBody>
      </p:sp>
      <p:sp>
        <p:nvSpPr>
          <p:cNvPr id="341" name="Text 86">
            <a:extLst>
              <a:ext uri="{FF2B5EF4-FFF2-40B4-BE49-F238E27FC236}">
                <a16:creationId xmlns:a16="http://schemas.microsoft.com/office/drawing/2014/main" id="{ECA94234-6B9C-1E22-E995-C3C5ED993A96}"/>
              </a:ext>
            </a:extLst>
          </p:cNvPr>
          <p:cNvSpPr/>
          <p:nvPr/>
        </p:nvSpPr>
        <p:spPr>
          <a:xfrm>
            <a:off x="6067124" y="2539504"/>
            <a:ext cx="988946" cy="28346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Visual features</a:t>
            </a:r>
            <a:endParaRPr lang="en-US" sz="900" dirty="0"/>
          </a:p>
          <a:p>
            <a:pPr algn="ctr"/>
            <a:r>
              <a:rPr sz="900"/>
              <a:t>for detection</a:t>
            </a:r>
          </a:p>
        </p:txBody>
      </p:sp>
      <p:sp>
        <p:nvSpPr>
          <p:cNvPr id="342" name="Text 87">
            <a:extLst>
              <a:ext uri="{FF2B5EF4-FFF2-40B4-BE49-F238E27FC236}">
                <a16:creationId xmlns:a16="http://schemas.microsoft.com/office/drawing/2014/main" id="{A73B2A60-34B3-DDB6-8612-3CCCCCCD398B}"/>
              </a:ext>
            </a:extLst>
          </p:cNvPr>
          <p:cNvSpPr/>
          <p:nvPr/>
        </p:nvSpPr>
        <p:spPr>
          <a:xfrm>
            <a:off x="6067124" y="2900679"/>
            <a:ext cx="973576" cy="3353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image evidence</a:t>
            </a:r>
            <a:endParaRPr lang="en-US" sz="900" dirty="0"/>
          </a:p>
        </p:txBody>
      </p:sp>
      <p:pic>
        <p:nvPicPr>
          <p:cNvPr id="343" name="Image 9">
            <a:extLst>
              <a:ext uri="{FF2B5EF4-FFF2-40B4-BE49-F238E27FC236}">
                <a16:creationId xmlns:a16="http://schemas.microsoft.com/office/drawing/2014/main" id="{7786F46C-9343-5A8F-97B9-26C17D4F93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1000" y="1602317"/>
            <a:ext cx="684276" cy="450964"/>
          </a:xfrm>
          <a:prstGeom prst="rect">
            <a:avLst/>
          </a:prstGeom>
        </p:spPr>
      </p:pic>
      <p:sp>
        <p:nvSpPr>
          <p:cNvPr id="344" name="Text 89">
            <a:extLst>
              <a:ext uri="{FF2B5EF4-FFF2-40B4-BE49-F238E27FC236}">
                <a16:creationId xmlns:a16="http://schemas.microsoft.com/office/drawing/2014/main" id="{7A7367C4-9E68-6BF8-408D-3B5C21BF67C5}"/>
              </a:ext>
            </a:extLst>
          </p:cNvPr>
          <p:cNvSpPr/>
          <p:nvPr/>
        </p:nvSpPr>
        <p:spPr>
          <a:xfrm>
            <a:off x="7240982" y="2069249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Text Stream</a:t>
            </a:r>
            <a:endParaRPr lang="en-US" sz="900" dirty="0"/>
          </a:p>
        </p:txBody>
      </p:sp>
      <p:sp>
        <p:nvSpPr>
          <p:cNvPr id="345" name="Text 90">
            <a:extLst>
              <a:ext uri="{FF2B5EF4-FFF2-40B4-BE49-F238E27FC236}">
                <a16:creationId xmlns:a16="http://schemas.microsoft.com/office/drawing/2014/main" id="{7CCC5BE1-E827-BA35-F0AA-6F7D336FB298}"/>
              </a:ext>
            </a:extLst>
          </p:cNvPr>
          <p:cNvSpPr/>
          <p:nvPr/>
        </p:nvSpPr>
        <p:spPr>
          <a:xfrm>
            <a:off x="7240982" y="2333723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OWL-ViT text encoder</a:t>
            </a:r>
            <a:endParaRPr lang="en-US" sz="900" dirty="0"/>
          </a:p>
        </p:txBody>
      </p:sp>
      <p:sp>
        <p:nvSpPr>
          <p:cNvPr id="346" name="Text 91">
            <a:extLst>
              <a:ext uri="{FF2B5EF4-FFF2-40B4-BE49-F238E27FC236}">
                <a16:creationId xmlns:a16="http://schemas.microsoft.com/office/drawing/2014/main" id="{EBFE215E-71AF-4EBD-541E-1D6E37EE8321}"/>
              </a:ext>
            </a:extLst>
          </p:cNvPr>
          <p:cNvSpPr/>
          <p:nvPr/>
        </p:nvSpPr>
        <p:spPr>
          <a:xfrm>
            <a:off x="7215830" y="2569975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Prompt embeddings</a:t>
            </a:r>
            <a:endParaRPr lang="en-US" sz="900" dirty="0"/>
          </a:p>
          <a:p>
            <a:pPr algn="ctr"/>
            <a:r>
              <a:rPr sz="900"/>
              <a:t>per class</a:t>
            </a:r>
          </a:p>
        </p:txBody>
      </p:sp>
      <p:sp>
        <p:nvSpPr>
          <p:cNvPr id="347" name="Text 92">
            <a:extLst>
              <a:ext uri="{FF2B5EF4-FFF2-40B4-BE49-F238E27FC236}">
                <a16:creationId xmlns:a16="http://schemas.microsoft.com/office/drawing/2014/main" id="{9387E89D-BD8B-4CB1-9B96-2DB5D8B297C5}"/>
              </a:ext>
            </a:extLst>
          </p:cNvPr>
          <p:cNvSpPr/>
          <p:nvPr/>
        </p:nvSpPr>
        <p:spPr>
          <a:xfrm>
            <a:off x="7240982" y="2976883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Image–text matching</a:t>
            </a:r>
            <a:endParaRPr lang="en-US" sz="900" dirty="0"/>
          </a:p>
        </p:txBody>
      </p:sp>
      <p:sp>
        <p:nvSpPr>
          <p:cNvPr id="348" name="Shape 95">
            <a:extLst>
              <a:ext uri="{FF2B5EF4-FFF2-40B4-BE49-F238E27FC236}">
                <a16:creationId xmlns:a16="http://schemas.microsoft.com/office/drawing/2014/main" id="{E6524E0E-E88D-E769-D930-056F77E0563A}"/>
              </a:ext>
            </a:extLst>
          </p:cNvPr>
          <p:cNvSpPr/>
          <p:nvPr/>
        </p:nvSpPr>
        <p:spPr>
          <a:xfrm>
            <a:off x="5913464" y="3604540"/>
            <a:ext cx="2422638" cy="1963657"/>
          </a:xfrm>
          <a:prstGeom prst="roundRect">
            <a:avLst>
              <a:gd name="adj" fmla="val 4848"/>
            </a:avLst>
          </a:prstGeom>
          <a:solidFill>
            <a:srgbClr val="FFE8E0"/>
          </a:solidFill>
          <a:ln w="19050">
            <a:solidFill>
              <a:srgbClr val="BF360C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pic>
        <p:nvPicPr>
          <p:cNvPr id="349" name="Image 10">
            <a:extLst>
              <a:ext uri="{FF2B5EF4-FFF2-40B4-BE49-F238E27FC236}">
                <a16:creationId xmlns:a16="http://schemas.microsoft.com/office/drawing/2014/main" id="{2FB8E678-5BE7-118B-BA5C-74C505A0A4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9393" y="3760308"/>
            <a:ext cx="347472" cy="347472"/>
          </a:xfrm>
          <a:prstGeom prst="rect">
            <a:avLst/>
          </a:prstGeom>
        </p:spPr>
      </p:pic>
      <p:sp>
        <p:nvSpPr>
          <p:cNvPr id="350" name="Text 96">
            <a:extLst>
              <a:ext uri="{FF2B5EF4-FFF2-40B4-BE49-F238E27FC236}">
                <a16:creationId xmlns:a16="http://schemas.microsoft.com/office/drawing/2014/main" id="{031A1175-A19D-C0FE-D4D3-56235DD3F6D1}"/>
              </a:ext>
            </a:extLst>
          </p:cNvPr>
          <p:cNvSpPr/>
          <p:nvPr/>
        </p:nvSpPr>
        <p:spPr>
          <a:xfrm>
            <a:off x="6405153" y="37603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/>
              <a:t>Semantic Fusion Strategies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51" name="Text 105">
            <a:extLst>
              <a:ext uri="{FF2B5EF4-FFF2-40B4-BE49-F238E27FC236}">
                <a16:creationId xmlns:a16="http://schemas.microsoft.com/office/drawing/2014/main" id="{256F9E6B-C99E-5626-C920-EDDFCA2EA22C}"/>
              </a:ext>
            </a:extLst>
          </p:cNvPr>
          <p:cNvSpPr/>
          <p:nvPr/>
        </p:nvSpPr>
        <p:spPr>
          <a:xfrm>
            <a:off x="5971075" y="4598617"/>
            <a:ext cx="2377440" cy="43077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/>
              <a:t>Entropy/conflict risk estimation</a:t>
            </a:r>
          </a:p>
          <a:p>
            <a:pPr algn="ctr"/>
            <a:r>
              <a:rPr sz="900" dirty="0"/>
              <a:t>Frequency-aware LVIS reweighting</a:t>
            </a:r>
          </a:p>
        </p:txBody>
      </p:sp>
      <p:sp>
        <p:nvSpPr>
          <p:cNvPr id="352" name="Text 106">
            <a:extLst>
              <a:ext uri="{FF2B5EF4-FFF2-40B4-BE49-F238E27FC236}">
                <a16:creationId xmlns:a16="http://schemas.microsoft.com/office/drawing/2014/main" id="{9F9F0C15-F91A-4126-6CF6-75445B586CCB}"/>
              </a:ext>
            </a:extLst>
          </p:cNvPr>
          <p:cNvSpPr/>
          <p:nvPr/>
        </p:nvSpPr>
        <p:spPr>
          <a:xfrm>
            <a:off x="5925355" y="5081778"/>
            <a:ext cx="2377440" cy="44138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Redundancy–complementarity analysis (RQ3–RQ4)</a:t>
            </a:r>
            <a:endParaRPr lang="en-US" sz="900" dirty="0"/>
          </a:p>
        </p:txBody>
      </p:sp>
      <p:sp>
        <p:nvSpPr>
          <p:cNvPr id="353" name="Shape 97">
            <a:extLst>
              <a:ext uri="{FF2B5EF4-FFF2-40B4-BE49-F238E27FC236}">
                <a16:creationId xmlns:a16="http://schemas.microsoft.com/office/drawing/2014/main" id="{2DF3C39B-4B78-89EC-F8BF-4982F16940E3}"/>
              </a:ext>
            </a:extLst>
          </p:cNvPr>
          <p:cNvSpPr/>
          <p:nvPr/>
        </p:nvSpPr>
        <p:spPr>
          <a:xfrm>
            <a:off x="5922169" y="4265477"/>
            <a:ext cx="494616" cy="223403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Mean</a:t>
            </a:r>
            <a:endParaRPr lang="en-GB" sz="900" dirty="0"/>
          </a:p>
        </p:txBody>
      </p:sp>
      <p:sp>
        <p:nvSpPr>
          <p:cNvPr id="354" name="Shape 97">
            <a:extLst>
              <a:ext uri="{FF2B5EF4-FFF2-40B4-BE49-F238E27FC236}">
                <a16:creationId xmlns:a16="http://schemas.microsoft.com/office/drawing/2014/main" id="{3C369A7A-E9F1-5FCA-0770-862FA757FEAD}"/>
              </a:ext>
            </a:extLst>
          </p:cNvPr>
          <p:cNvSpPr/>
          <p:nvPr/>
        </p:nvSpPr>
        <p:spPr>
          <a:xfrm>
            <a:off x="6437405" y="4268651"/>
            <a:ext cx="427606" cy="220229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Max</a:t>
            </a:r>
            <a:endParaRPr lang="en-GB" sz="900" dirty="0"/>
          </a:p>
        </p:txBody>
      </p:sp>
      <p:sp>
        <p:nvSpPr>
          <p:cNvPr id="355" name="Shape 97">
            <a:extLst>
              <a:ext uri="{FF2B5EF4-FFF2-40B4-BE49-F238E27FC236}">
                <a16:creationId xmlns:a16="http://schemas.microsoft.com/office/drawing/2014/main" id="{9ADB417C-4058-6581-D0D5-F650FEA10DA6}"/>
              </a:ext>
            </a:extLst>
          </p:cNvPr>
          <p:cNvSpPr/>
          <p:nvPr/>
        </p:nvSpPr>
        <p:spPr>
          <a:xfrm>
            <a:off x="6884023" y="4267065"/>
            <a:ext cx="709843" cy="221815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Weighted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356" name="Shape 103">
            <a:extLst>
              <a:ext uri="{FF2B5EF4-FFF2-40B4-BE49-F238E27FC236}">
                <a16:creationId xmlns:a16="http://schemas.microsoft.com/office/drawing/2014/main" id="{A8F62231-2397-4563-CCA5-DCDD4CE6268C}"/>
              </a:ext>
            </a:extLst>
          </p:cNvPr>
          <p:cNvSpPr/>
          <p:nvPr/>
        </p:nvSpPr>
        <p:spPr>
          <a:xfrm>
            <a:off x="7632466" y="4268650"/>
            <a:ext cx="670329" cy="220230"/>
          </a:xfrm>
          <a:prstGeom prst="roundRect">
            <a:avLst>
              <a:gd name="adj" fmla="val 13333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 wrap="square"/>
          <a:lstStyle/>
          <a:p>
            <a:pPr algn="ctr"/>
            <a:r>
              <a:rPr sz="900" dirty="0"/>
              <a:t>Adaptive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57" name="Shape 22">
            <a:extLst>
              <a:ext uri="{FF2B5EF4-FFF2-40B4-BE49-F238E27FC236}">
                <a16:creationId xmlns:a16="http://schemas.microsoft.com/office/drawing/2014/main" id="{3F227A43-00F2-4667-028C-787B97F3C13C}"/>
              </a:ext>
            </a:extLst>
          </p:cNvPr>
          <p:cNvSpPr/>
          <p:nvPr/>
        </p:nvSpPr>
        <p:spPr>
          <a:xfrm>
            <a:off x="8527110" y="1276340"/>
            <a:ext cx="1830676" cy="5205560"/>
          </a:xfrm>
          <a:prstGeom prst="roundRect">
            <a:avLst>
              <a:gd name="adj" fmla="val 5405"/>
            </a:avLst>
          </a:prstGeom>
          <a:solidFill>
            <a:srgbClr val="EDF7EE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pic>
        <p:nvPicPr>
          <p:cNvPr id="358" name="Image 12">
            <a:extLst>
              <a:ext uri="{FF2B5EF4-FFF2-40B4-BE49-F238E27FC236}">
                <a16:creationId xmlns:a16="http://schemas.microsoft.com/office/drawing/2014/main" id="{FEF156C7-40D5-B1A8-F371-D70AC4B096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50954" y="1512193"/>
            <a:ext cx="710356" cy="714067"/>
          </a:xfrm>
          <a:prstGeom prst="rect">
            <a:avLst/>
          </a:prstGeom>
        </p:spPr>
      </p:pic>
      <p:sp>
        <p:nvSpPr>
          <p:cNvPr id="359" name="Text 109">
            <a:extLst>
              <a:ext uri="{FF2B5EF4-FFF2-40B4-BE49-F238E27FC236}">
                <a16:creationId xmlns:a16="http://schemas.microsoft.com/office/drawing/2014/main" id="{4B49FDBD-3E52-92C3-B50F-22B46C538138}"/>
              </a:ext>
            </a:extLst>
          </p:cNvPr>
          <p:cNvSpPr/>
          <p:nvPr/>
        </p:nvSpPr>
        <p:spPr>
          <a:xfrm>
            <a:off x="9442149" y="1589323"/>
            <a:ext cx="799131" cy="5204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/>
              <a:t>Evaluation Metrics</a:t>
            </a:r>
            <a:endParaRPr lang="en-US" sz="900" dirty="0"/>
          </a:p>
        </p:txBody>
      </p:sp>
      <p:sp>
        <p:nvSpPr>
          <p:cNvPr id="360" name="Text 110">
            <a:extLst>
              <a:ext uri="{FF2B5EF4-FFF2-40B4-BE49-F238E27FC236}">
                <a16:creationId xmlns:a16="http://schemas.microsoft.com/office/drawing/2014/main" id="{08A8CC61-6AC8-1FF6-34E6-817B162447E8}"/>
              </a:ext>
            </a:extLst>
          </p:cNvPr>
          <p:cNvSpPr/>
          <p:nvPr/>
        </p:nvSpPr>
        <p:spPr>
          <a:xfrm>
            <a:off x="8497886" y="2234285"/>
            <a:ext cx="1784918" cy="30496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/>
              <a:t>Image-level recall · pair recall · </a:t>
            </a:r>
            <a:r>
              <a:rPr lang="en-GB" sz="900" dirty="0"/>
              <a:t>AP50-proxy</a:t>
            </a:r>
            <a:endParaRPr lang="en-US" sz="900" dirty="0"/>
          </a:p>
        </p:txBody>
      </p:sp>
      <p:pic>
        <p:nvPicPr>
          <p:cNvPr id="361" name="Image 13">
            <a:extLst>
              <a:ext uri="{FF2B5EF4-FFF2-40B4-BE49-F238E27FC236}">
                <a16:creationId xmlns:a16="http://schemas.microsoft.com/office/drawing/2014/main" id="{180E7AE3-3F8C-9119-80F8-EAD2D4ADC0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33133" y="2872647"/>
            <a:ext cx="635979" cy="473981"/>
          </a:xfrm>
          <a:prstGeom prst="rect">
            <a:avLst/>
          </a:prstGeom>
        </p:spPr>
      </p:pic>
      <p:sp>
        <p:nvSpPr>
          <p:cNvPr id="362" name="Text 112">
            <a:extLst>
              <a:ext uri="{FF2B5EF4-FFF2-40B4-BE49-F238E27FC236}">
                <a16:creationId xmlns:a16="http://schemas.microsoft.com/office/drawing/2014/main" id="{2863063E-E2A4-E9F0-DE67-D038A7091D15}"/>
              </a:ext>
            </a:extLst>
          </p:cNvPr>
          <p:cNvSpPr/>
          <p:nvPr/>
        </p:nvSpPr>
        <p:spPr>
          <a:xfrm>
            <a:off x="9255461" y="2966078"/>
            <a:ext cx="1075765" cy="3030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Ablation Studies</a:t>
            </a:r>
            <a:endParaRPr lang="en-US" sz="900" dirty="0"/>
          </a:p>
        </p:txBody>
      </p:sp>
      <p:sp>
        <p:nvSpPr>
          <p:cNvPr id="363" name="Text 113">
            <a:extLst>
              <a:ext uri="{FF2B5EF4-FFF2-40B4-BE49-F238E27FC236}">
                <a16:creationId xmlns:a16="http://schemas.microsoft.com/office/drawing/2014/main" id="{A8FDD43B-BB38-DF60-B9DE-CE2BACEE2A67}"/>
              </a:ext>
            </a:extLst>
          </p:cNvPr>
          <p:cNvSpPr/>
          <p:nvPr/>
        </p:nvSpPr>
        <p:spPr>
          <a:xfrm>
            <a:off x="8680148" y="3545957"/>
            <a:ext cx="1598613" cy="4444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Fusion strategy comparison</a:t>
            </a:r>
            <a:endParaRPr lang="en-US" sz="900" dirty="0"/>
          </a:p>
          <a:p>
            <a:pPr algn="ctr"/>
            <a:r>
              <a:rPr sz="900"/>
              <a:t>Prompt-source removal</a:t>
            </a:r>
          </a:p>
          <a:p>
            <a:pPr algn="ctr"/>
            <a:r>
              <a:rPr sz="900"/>
              <a:t>Prior-aware effect</a:t>
            </a:r>
          </a:p>
        </p:txBody>
      </p:sp>
      <p:pic>
        <p:nvPicPr>
          <p:cNvPr id="364" name="Image 14">
            <a:extLst>
              <a:ext uri="{FF2B5EF4-FFF2-40B4-BE49-F238E27FC236}">
                <a16:creationId xmlns:a16="http://schemas.microsoft.com/office/drawing/2014/main" id="{4567F13D-D5DF-DDEF-5D5D-EBC7FA0490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70624" y="4092199"/>
            <a:ext cx="622046" cy="587233"/>
          </a:xfrm>
          <a:prstGeom prst="rect">
            <a:avLst/>
          </a:prstGeom>
        </p:spPr>
      </p:pic>
      <p:sp>
        <p:nvSpPr>
          <p:cNvPr id="365" name="Text 115">
            <a:extLst>
              <a:ext uri="{FF2B5EF4-FFF2-40B4-BE49-F238E27FC236}">
                <a16:creationId xmlns:a16="http://schemas.microsoft.com/office/drawing/2014/main" id="{FF497D20-0E24-92DF-CE04-2A6636149146}"/>
              </a:ext>
            </a:extLst>
          </p:cNvPr>
          <p:cNvSpPr/>
          <p:nvPr/>
        </p:nvSpPr>
        <p:spPr>
          <a:xfrm>
            <a:off x="8550634" y="4694918"/>
            <a:ext cx="1780591" cy="47398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Framework evolution analysis</a:t>
            </a:r>
            <a:br>
              <a:rPr lang="en-GB" sz="900" dirty="0"/>
            </a:br>
            <a:r>
              <a:rPr lang="en-GB" sz="900" dirty="0"/>
              <a:t>Primary → semantic → adaptive → prior-aware</a:t>
            </a:r>
            <a:endParaRPr lang="en-US" sz="900" dirty="0"/>
          </a:p>
        </p:txBody>
      </p:sp>
      <p:sp>
        <p:nvSpPr>
          <p:cNvPr id="367" name="Text 118">
            <a:extLst>
              <a:ext uri="{FF2B5EF4-FFF2-40B4-BE49-F238E27FC236}">
                <a16:creationId xmlns:a16="http://schemas.microsoft.com/office/drawing/2014/main" id="{20F3F1B2-CE49-E42A-05D2-9C74EB78960F}"/>
              </a:ext>
            </a:extLst>
          </p:cNvPr>
          <p:cNvSpPr/>
          <p:nvPr/>
        </p:nvSpPr>
        <p:spPr>
          <a:xfrm>
            <a:off x="8595959" y="5187917"/>
            <a:ext cx="1698677" cy="391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/>
              <a:t>Example semantic scores</a:t>
            </a:r>
            <a:endParaRPr lang="en-US" sz="900" dirty="0"/>
          </a:p>
        </p:txBody>
      </p:sp>
      <p:sp>
        <p:nvSpPr>
          <p:cNvPr id="368" name="Shape 119">
            <a:extLst>
              <a:ext uri="{FF2B5EF4-FFF2-40B4-BE49-F238E27FC236}">
                <a16:creationId xmlns:a16="http://schemas.microsoft.com/office/drawing/2014/main" id="{203A3163-D149-91DC-6A44-A8C2B07B9FD9}"/>
              </a:ext>
            </a:extLst>
          </p:cNvPr>
          <p:cNvSpPr/>
          <p:nvPr/>
        </p:nvSpPr>
        <p:spPr>
          <a:xfrm>
            <a:off x="8650954" y="5654343"/>
            <a:ext cx="1590326" cy="197105"/>
          </a:xfrm>
          <a:prstGeom prst="rect">
            <a:avLst/>
          </a:prstGeom>
          <a:solidFill>
            <a:srgbClr val="E53935">
              <a:alpha val="25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airplane 0.90</a:t>
            </a: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9EF56F5D-94F8-7370-5834-68879991BD32}"/>
              </a:ext>
            </a:extLst>
          </p:cNvPr>
          <p:cNvSpPr/>
          <p:nvPr/>
        </p:nvSpPr>
        <p:spPr>
          <a:xfrm>
            <a:off x="8650955" y="5874819"/>
            <a:ext cx="1590326" cy="209550"/>
          </a:xfrm>
          <a:prstGeom prst="rect">
            <a:avLst/>
          </a:prstGeom>
          <a:solidFill>
            <a:srgbClr val="43A047">
              <a:alpha val="25000"/>
            </a:srgbClr>
          </a:solidFill>
          <a:ln w="1905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aircraft 0.84</a:t>
            </a:r>
            <a:endParaRPr lang="en-US" sz="900" dirty="0"/>
          </a:p>
        </p:txBody>
      </p:sp>
      <p:sp>
        <p:nvSpPr>
          <p:cNvPr id="370" name="Shape 123">
            <a:extLst>
              <a:ext uri="{FF2B5EF4-FFF2-40B4-BE49-F238E27FC236}">
                <a16:creationId xmlns:a16="http://schemas.microsoft.com/office/drawing/2014/main" id="{A8151D33-EF1D-545A-5B7A-39929616CAA4}"/>
              </a:ext>
            </a:extLst>
          </p:cNvPr>
          <p:cNvSpPr/>
          <p:nvPr/>
        </p:nvSpPr>
        <p:spPr>
          <a:xfrm>
            <a:off x="8650955" y="6116373"/>
            <a:ext cx="1590326" cy="247006"/>
          </a:xfrm>
          <a:prstGeom prst="rect">
            <a:avLst/>
          </a:prstGeom>
          <a:solidFill>
            <a:srgbClr val="1E88E5">
              <a:alpha val="25000"/>
            </a:srgbClr>
          </a:solidFill>
          <a:ln w="19050">
            <a:solidFill>
              <a:srgbClr val="1E88E5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vehicle 0.61</a:t>
            </a:r>
            <a:endParaRPr lang="en-US" sz="900" dirty="0"/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3D7804A8-71EB-4D38-58D0-59C14451DA56}"/>
              </a:ext>
            </a:extLst>
          </p:cNvPr>
          <p:cNvCxnSpPr/>
          <p:nvPr/>
        </p:nvCxnSpPr>
        <p:spPr>
          <a:xfrm>
            <a:off x="8632016" y="2729995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E94ECFA7-23C1-5A79-BEE3-F735649250D1}"/>
              </a:ext>
            </a:extLst>
          </p:cNvPr>
          <p:cNvCxnSpPr/>
          <p:nvPr/>
        </p:nvCxnSpPr>
        <p:spPr>
          <a:xfrm>
            <a:off x="8632016" y="4031498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32AEF43D-2FD2-46A1-F153-552308A22919}"/>
              </a:ext>
            </a:extLst>
          </p:cNvPr>
          <p:cNvCxnSpPr/>
          <p:nvPr/>
        </p:nvCxnSpPr>
        <p:spPr>
          <a:xfrm>
            <a:off x="8942861" y="5287115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0F5FF3E1-5388-6D38-D729-98CA7E2FB857}"/>
              </a:ext>
            </a:extLst>
          </p:cNvPr>
          <p:cNvCxnSpPr/>
          <p:nvPr/>
        </p:nvCxnSpPr>
        <p:spPr>
          <a:xfrm>
            <a:off x="4257108" y="2864106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074FD0E-C382-E772-CBC7-3A40B5EB0FA4}"/>
              </a:ext>
            </a:extLst>
          </p:cNvPr>
          <p:cNvCxnSpPr/>
          <p:nvPr/>
        </p:nvCxnSpPr>
        <p:spPr>
          <a:xfrm>
            <a:off x="1981280" y="2652232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7B4CC1E8-79CC-13F5-EDDE-CF3E4C8B96F9}"/>
              </a:ext>
            </a:extLst>
          </p:cNvPr>
          <p:cNvCxnSpPr/>
          <p:nvPr/>
        </p:nvCxnSpPr>
        <p:spPr>
          <a:xfrm>
            <a:off x="2316556" y="4800383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Shape 27">
            <a:extLst>
              <a:ext uri="{FF2B5EF4-FFF2-40B4-BE49-F238E27FC236}">
                <a16:creationId xmlns:a16="http://schemas.microsoft.com/office/drawing/2014/main" id="{46B703D1-E959-DE7C-7B9B-8C589951E043}"/>
              </a:ext>
            </a:extLst>
          </p:cNvPr>
          <p:cNvSpPr/>
          <p:nvPr/>
        </p:nvSpPr>
        <p:spPr>
          <a:xfrm>
            <a:off x="10442168" y="1266955"/>
            <a:ext cx="1612868" cy="5214944"/>
          </a:xfrm>
          <a:prstGeom prst="roundRect">
            <a:avLst>
              <a:gd name="adj" fmla="val 5814"/>
            </a:avLst>
          </a:prstGeom>
          <a:solidFill>
            <a:srgbClr val="F5F7F8"/>
          </a:solidFill>
          <a:ln w="19050">
            <a:solidFill>
              <a:srgbClr val="37474F"/>
            </a:solidFill>
            <a:prstDash val="solid"/>
          </a:ln>
          <a:effectLst>
            <a:outerShdw blurRad="63500" dist="25400" dir="8100000" algn="bl" rotWithShape="0">
              <a:srgbClr val="BBBBBB">
                <a:alpha val="20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 dirty="0"/>
          </a:p>
        </p:txBody>
      </p:sp>
      <p:sp>
        <p:nvSpPr>
          <p:cNvPr id="378" name="Text 125">
            <a:extLst>
              <a:ext uri="{FF2B5EF4-FFF2-40B4-BE49-F238E27FC236}">
                <a16:creationId xmlns:a16="http://schemas.microsoft.com/office/drawing/2014/main" id="{D4965EE0-B788-5A8E-562E-EC8D5939D786}"/>
              </a:ext>
            </a:extLst>
          </p:cNvPr>
          <p:cNvSpPr/>
          <p:nvPr/>
        </p:nvSpPr>
        <p:spPr>
          <a:xfrm>
            <a:off x="10470881" y="1344920"/>
            <a:ext cx="1501565" cy="44942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900" dirty="0"/>
              <a:t>LVIS semantic evidence recall: 0.9131</a:t>
            </a:r>
            <a:endParaRPr lang="en-US" sz="9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D787A63A-B648-9FF9-2E7E-730F59794BBE}"/>
              </a:ext>
            </a:extLst>
          </p:cNvPr>
          <p:cNvSpPr/>
          <p:nvPr/>
        </p:nvSpPr>
        <p:spPr>
          <a:xfrm>
            <a:off x="10512124" y="1896543"/>
            <a:ext cx="1460323" cy="53024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Semantic evidence vs. primary-prompt baseline</a:t>
            </a:r>
            <a:endParaRPr lang="en-US" sz="900" dirty="0"/>
          </a:p>
        </p:txBody>
      </p:sp>
      <p:sp>
        <p:nvSpPr>
          <p:cNvPr id="380" name="Shape 127">
            <a:extLst>
              <a:ext uri="{FF2B5EF4-FFF2-40B4-BE49-F238E27FC236}">
                <a16:creationId xmlns:a16="http://schemas.microsoft.com/office/drawing/2014/main" id="{25725DAB-0606-E39B-BAFA-EDBBC50FF5B9}"/>
              </a:ext>
            </a:extLst>
          </p:cNvPr>
          <p:cNvSpPr/>
          <p:nvPr/>
        </p:nvSpPr>
        <p:spPr>
          <a:xfrm>
            <a:off x="10570544" y="2569975"/>
            <a:ext cx="822960" cy="309463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81" name="Shape 128">
            <a:extLst>
              <a:ext uri="{FF2B5EF4-FFF2-40B4-BE49-F238E27FC236}">
                <a16:creationId xmlns:a16="http://schemas.microsoft.com/office/drawing/2014/main" id="{5F5BBF0B-86B3-7680-FE83-DA6ADE26067E}"/>
              </a:ext>
            </a:extLst>
          </p:cNvPr>
          <p:cNvSpPr/>
          <p:nvPr/>
        </p:nvSpPr>
        <p:spPr>
          <a:xfrm>
            <a:off x="10570544" y="2900679"/>
            <a:ext cx="601980" cy="335332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82" name="Text 129">
            <a:extLst>
              <a:ext uri="{FF2B5EF4-FFF2-40B4-BE49-F238E27FC236}">
                <a16:creationId xmlns:a16="http://schemas.microsoft.com/office/drawing/2014/main" id="{F9DAEF93-0511-C45E-2C34-93074E3B17DA}"/>
              </a:ext>
            </a:extLst>
          </p:cNvPr>
          <p:cNvSpPr/>
          <p:nvPr/>
        </p:nvSpPr>
        <p:spPr>
          <a:xfrm>
            <a:off x="11431603" y="2569975"/>
            <a:ext cx="579287" cy="25299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700" dirty="0"/>
              <a:t>Semantic evidence</a:t>
            </a:r>
            <a:endParaRPr lang="en-US" sz="700" dirty="0"/>
          </a:p>
        </p:txBody>
      </p:sp>
      <p:sp>
        <p:nvSpPr>
          <p:cNvPr id="383" name="Text 130">
            <a:extLst>
              <a:ext uri="{FF2B5EF4-FFF2-40B4-BE49-F238E27FC236}">
                <a16:creationId xmlns:a16="http://schemas.microsoft.com/office/drawing/2014/main" id="{51C561E6-7520-45F1-44CA-E1583A3CCB87}"/>
              </a:ext>
            </a:extLst>
          </p:cNvPr>
          <p:cNvSpPr/>
          <p:nvPr/>
        </p:nvSpPr>
        <p:spPr>
          <a:xfrm>
            <a:off x="11258550" y="2996823"/>
            <a:ext cx="762000" cy="23004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700" dirty="0"/>
              <a:t>Primary prompt</a:t>
            </a:r>
            <a:endParaRPr lang="en-US" sz="700" dirty="0"/>
          </a:p>
        </p:txBody>
      </p:sp>
      <p:sp>
        <p:nvSpPr>
          <p:cNvPr id="384" name="Text 131">
            <a:extLst>
              <a:ext uri="{FF2B5EF4-FFF2-40B4-BE49-F238E27FC236}">
                <a16:creationId xmlns:a16="http://schemas.microsoft.com/office/drawing/2014/main" id="{21448A3B-EC3B-C6F4-83A5-89B33CA4B617}"/>
              </a:ext>
            </a:extLst>
          </p:cNvPr>
          <p:cNvSpPr/>
          <p:nvPr/>
        </p:nvSpPr>
        <p:spPr>
          <a:xfrm>
            <a:off x="10470882" y="3509445"/>
            <a:ext cx="1476423" cy="25085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/>
              <a:t>Recall/</a:t>
            </a:r>
            <a:r>
              <a:rPr lang="en-GB" sz="900" dirty="0"/>
              <a:t>AP50-proxy</a:t>
            </a:r>
            <a:r>
              <a:rPr sz="900" dirty="0"/>
              <a:t> comparison</a:t>
            </a:r>
            <a:endParaRPr lang="en-US" sz="900" dirty="0"/>
          </a:p>
        </p:txBody>
      </p:sp>
      <p:sp>
        <p:nvSpPr>
          <p:cNvPr id="385" name="Text 133">
            <a:extLst>
              <a:ext uri="{FF2B5EF4-FFF2-40B4-BE49-F238E27FC236}">
                <a16:creationId xmlns:a16="http://schemas.microsoft.com/office/drawing/2014/main" id="{AD5AA206-ED63-4952-2F8D-FF005AD4A831}"/>
              </a:ext>
            </a:extLst>
          </p:cNvPr>
          <p:cNvSpPr/>
          <p:nvPr/>
        </p:nvSpPr>
        <p:spPr>
          <a:xfrm>
            <a:off x="10451671" y="4046788"/>
            <a:ext cx="1625621" cy="227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Uncertainty-risk bins</a:t>
            </a:r>
            <a:endParaRPr lang="en-US" sz="900" dirty="0"/>
          </a:p>
        </p:txBody>
      </p:sp>
      <p:sp>
        <p:nvSpPr>
          <p:cNvPr id="386" name="Text 147">
            <a:extLst>
              <a:ext uri="{FF2B5EF4-FFF2-40B4-BE49-F238E27FC236}">
                <a16:creationId xmlns:a16="http://schemas.microsoft.com/office/drawing/2014/main" id="{A8A0D364-9C79-DC20-5F14-B17F9A1C39FC}"/>
              </a:ext>
            </a:extLst>
          </p:cNvPr>
          <p:cNvSpPr/>
          <p:nvPr/>
        </p:nvSpPr>
        <p:spPr>
          <a:xfrm>
            <a:off x="10527999" y="5714037"/>
            <a:ext cx="1441577" cy="49686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Findings support safe, bounded claims</a:t>
            </a:r>
            <a:endParaRPr lang="en-US" sz="900" dirty="0"/>
          </a:p>
        </p:txBody>
      </p: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8A7F3F83-5366-CF95-D2CF-F50BFE7905DB}"/>
              </a:ext>
            </a:extLst>
          </p:cNvPr>
          <p:cNvCxnSpPr/>
          <p:nvPr/>
        </p:nvCxnSpPr>
        <p:spPr>
          <a:xfrm>
            <a:off x="10451672" y="3911117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Shape 134">
            <a:extLst>
              <a:ext uri="{FF2B5EF4-FFF2-40B4-BE49-F238E27FC236}">
                <a16:creationId xmlns:a16="http://schemas.microsoft.com/office/drawing/2014/main" id="{D79EA2B0-6BBC-AA55-BD09-FB11FECACA48}"/>
              </a:ext>
            </a:extLst>
          </p:cNvPr>
          <p:cNvSpPr/>
          <p:nvPr/>
        </p:nvSpPr>
        <p:spPr>
          <a:xfrm>
            <a:off x="10595407" y="4407986"/>
            <a:ext cx="292608" cy="292608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89" name="Shape 135">
            <a:extLst>
              <a:ext uri="{FF2B5EF4-FFF2-40B4-BE49-F238E27FC236}">
                <a16:creationId xmlns:a16="http://schemas.microsoft.com/office/drawing/2014/main" id="{3968A38A-92C5-C119-9640-C04A342F5A83}"/>
              </a:ext>
            </a:extLst>
          </p:cNvPr>
          <p:cNvSpPr/>
          <p:nvPr/>
        </p:nvSpPr>
        <p:spPr>
          <a:xfrm>
            <a:off x="10915447" y="4407986"/>
            <a:ext cx="292608" cy="292608"/>
          </a:xfrm>
          <a:prstGeom prst="rect">
            <a:avLst/>
          </a:prstGeom>
          <a:solidFill>
            <a:srgbClr val="FB8C00">
              <a:alpha val="75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0" name="Shape 136">
            <a:extLst>
              <a:ext uri="{FF2B5EF4-FFF2-40B4-BE49-F238E27FC236}">
                <a16:creationId xmlns:a16="http://schemas.microsoft.com/office/drawing/2014/main" id="{B6E57A31-998E-3645-B954-A095791091A6}"/>
              </a:ext>
            </a:extLst>
          </p:cNvPr>
          <p:cNvSpPr/>
          <p:nvPr/>
        </p:nvSpPr>
        <p:spPr>
          <a:xfrm>
            <a:off x="11235487" y="440798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1" name="Shape 137">
            <a:extLst>
              <a:ext uri="{FF2B5EF4-FFF2-40B4-BE49-F238E27FC236}">
                <a16:creationId xmlns:a16="http://schemas.microsoft.com/office/drawing/2014/main" id="{77B8BD6A-ED61-B412-2092-06220750FF51}"/>
              </a:ext>
            </a:extLst>
          </p:cNvPr>
          <p:cNvSpPr/>
          <p:nvPr/>
        </p:nvSpPr>
        <p:spPr>
          <a:xfrm>
            <a:off x="11555527" y="440798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2" name="Shape 138">
            <a:extLst>
              <a:ext uri="{FF2B5EF4-FFF2-40B4-BE49-F238E27FC236}">
                <a16:creationId xmlns:a16="http://schemas.microsoft.com/office/drawing/2014/main" id="{F50E8296-F562-0951-41AD-7DED1D39502B}"/>
              </a:ext>
            </a:extLst>
          </p:cNvPr>
          <p:cNvSpPr/>
          <p:nvPr/>
        </p:nvSpPr>
        <p:spPr>
          <a:xfrm>
            <a:off x="10595407" y="4728026"/>
            <a:ext cx="292608" cy="292608"/>
          </a:xfrm>
          <a:prstGeom prst="rect">
            <a:avLst/>
          </a:prstGeom>
          <a:solidFill>
            <a:srgbClr val="FB8C00">
              <a:alpha val="75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3" name="Shape 139">
            <a:extLst>
              <a:ext uri="{FF2B5EF4-FFF2-40B4-BE49-F238E27FC236}">
                <a16:creationId xmlns:a16="http://schemas.microsoft.com/office/drawing/2014/main" id="{DFF050FE-8147-F54B-9D8B-06154A4CB8C1}"/>
              </a:ext>
            </a:extLst>
          </p:cNvPr>
          <p:cNvSpPr/>
          <p:nvPr/>
        </p:nvSpPr>
        <p:spPr>
          <a:xfrm>
            <a:off x="10915447" y="472802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4" name="Shape 140">
            <a:extLst>
              <a:ext uri="{FF2B5EF4-FFF2-40B4-BE49-F238E27FC236}">
                <a16:creationId xmlns:a16="http://schemas.microsoft.com/office/drawing/2014/main" id="{EE0697BA-BE7A-E918-08AF-E5EF1F3345EB}"/>
              </a:ext>
            </a:extLst>
          </p:cNvPr>
          <p:cNvSpPr/>
          <p:nvPr/>
        </p:nvSpPr>
        <p:spPr>
          <a:xfrm>
            <a:off x="11235487" y="472802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5" name="Shape 141">
            <a:extLst>
              <a:ext uri="{FF2B5EF4-FFF2-40B4-BE49-F238E27FC236}">
                <a16:creationId xmlns:a16="http://schemas.microsoft.com/office/drawing/2014/main" id="{FD107938-AB8F-E763-0C81-05E88250FC75}"/>
              </a:ext>
            </a:extLst>
          </p:cNvPr>
          <p:cNvSpPr/>
          <p:nvPr/>
        </p:nvSpPr>
        <p:spPr>
          <a:xfrm>
            <a:off x="11555527" y="4728026"/>
            <a:ext cx="292608" cy="292608"/>
          </a:xfrm>
          <a:prstGeom prst="rect">
            <a:avLst/>
          </a:prstGeom>
          <a:solidFill>
            <a:srgbClr val="1E88E5">
              <a:alpha val="7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6" name="Shape 142">
            <a:extLst>
              <a:ext uri="{FF2B5EF4-FFF2-40B4-BE49-F238E27FC236}">
                <a16:creationId xmlns:a16="http://schemas.microsoft.com/office/drawing/2014/main" id="{6A0642C9-1410-8972-0608-50FD60731833}"/>
              </a:ext>
            </a:extLst>
          </p:cNvPr>
          <p:cNvSpPr/>
          <p:nvPr/>
        </p:nvSpPr>
        <p:spPr>
          <a:xfrm>
            <a:off x="10595407" y="5048066"/>
            <a:ext cx="292608" cy="292608"/>
          </a:xfrm>
          <a:prstGeom prst="rect">
            <a:avLst/>
          </a:prstGeom>
          <a:solidFill>
            <a:srgbClr val="FDD835">
              <a:alpha val="75000"/>
            </a:srgbClr>
          </a:solidFill>
          <a:ln w="12700">
            <a:solidFill>
              <a:srgbClr val="FDD8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7" name="Shape 143">
            <a:extLst>
              <a:ext uri="{FF2B5EF4-FFF2-40B4-BE49-F238E27FC236}">
                <a16:creationId xmlns:a16="http://schemas.microsoft.com/office/drawing/2014/main" id="{380A964D-C2F9-D2A6-06AF-F1F85C1B2414}"/>
              </a:ext>
            </a:extLst>
          </p:cNvPr>
          <p:cNvSpPr/>
          <p:nvPr/>
        </p:nvSpPr>
        <p:spPr>
          <a:xfrm>
            <a:off x="10915447" y="5048066"/>
            <a:ext cx="292608" cy="292608"/>
          </a:xfrm>
          <a:prstGeom prst="rect">
            <a:avLst/>
          </a:prstGeom>
          <a:solidFill>
            <a:srgbClr val="43A047">
              <a:alpha val="7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8" name="Shape 144">
            <a:extLst>
              <a:ext uri="{FF2B5EF4-FFF2-40B4-BE49-F238E27FC236}">
                <a16:creationId xmlns:a16="http://schemas.microsoft.com/office/drawing/2014/main" id="{5BDE321A-6673-72C5-3604-24AE6FC1F72D}"/>
              </a:ext>
            </a:extLst>
          </p:cNvPr>
          <p:cNvSpPr/>
          <p:nvPr/>
        </p:nvSpPr>
        <p:spPr>
          <a:xfrm>
            <a:off x="11235487" y="5048066"/>
            <a:ext cx="292608" cy="292608"/>
          </a:xfrm>
          <a:prstGeom prst="rect">
            <a:avLst/>
          </a:prstGeom>
          <a:solidFill>
            <a:srgbClr val="1E88E5">
              <a:alpha val="75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99" name="Shape 145">
            <a:extLst>
              <a:ext uri="{FF2B5EF4-FFF2-40B4-BE49-F238E27FC236}">
                <a16:creationId xmlns:a16="http://schemas.microsoft.com/office/drawing/2014/main" id="{ED15CDBC-BC41-328A-CFB7-502594FBCE18}"/>
              </a:ext>
            </a:extLst>
          </p:cNvPr>
          <p:cNvSpPr/>
          <p:nvPr/>
        </p:nvSpPr>
        <p:spPr>
          <a:xfrm>
            <a:off x="11555527" y="5048066"/>
            <a:ext cx="292608" cy="292608"/>
          </a:xfrm>
          <a:prstGeom prst="rect">
            <a:avLst/>
          </a:prstGeom>
          <a:solidFill>
            <a:srgbClr val="5C6BC0">
              <a:alpha val="75000"/>
            </a:srgbClr>
          </a:solidFill>
          <a:ln w="12700">
            <a:solidFill>
              <a:srgbClr val="5C6BC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400" name="Shape 107">
            <a:extLst>
              <a:ext uri="{FF2B5EF4-FFF2-40B4-BE49-F238E27FC236}">
                <a16:creationId xmlns:a16="http://schemas.microsoft.com/office/drawing/2014/main" id="{4D87C8C5-0E27-0C78-8574-F937F5933A6A}"/>
              </a:ext>
            </a:extLst>
          </p:cNvPr>
          <p:cNvSpPr/>
          <p:nvPr/>
        </p:nvSpPr>
        <p:spPr>
          <a:xfrm>
            <a:off x="5913464" y="5662491"/>
            <a:ext cx="2404272" cy="677426"/>
          </a:xfrm>
          <a:prstGeom prst="roundRect">
            <a:avLst>
              <a:gd name="adj" fmla="val 10909"/>
            </a:avLst>
          </a:prstGeom>
          <a:solidFill>
            <a:srgbClr val="FFF9C4"/>
          </a:solidFill>
          <a:ln w="15240">
            <a:solidFill>
              <a:srgbClr val="F9A82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pic>
        <p:nvPicPr>
          <p:cNvPr id="401" name="Image 11">
            <a:extLst>
              <a:ext uri="{FF2B5EF4-FFF2-40B4-BE49-F238E27FC236}">
                <a16:creationId xmlns:a16="http://schemas.microsoft.com/office/drawing/2014/main" id="{082E0AD1-0A33-BC7E-D223-4491F198AA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6349" y="5715232"/>
            <a:ext cx="233128" cy="244738"/>
          </a:xfrm>
          <a:prstGeom prst="rect">
            <a:avLst/>
          </a:prstGeom>
        </p:spPr>
      </p:pic>
      <p:sp>
        <p:nvSpPr>
          <p:cNvPr id="402" name="Text 108">
            <a:extLst>
              <a:ext uri="{FF2B5EF4-FFF2-40B4-BE49-F238E27FC236}">
                <a16:creationId xmlns:a16="http://schemas.microsoft.com/office/drawing/2014/main" id="{FC4721CA-7465-D384-0C46-87260C242B84}"/>
              </a:ext>
            </a:extLst>
          </p:cNvPr>
          <p:cNvSpPr/>
          <p:nvPr/>
        </p:nvSpPr>
        <p:spPr>
          <a:xfrm>
            <a:off x="5922170" y="5723965"/>
            <a:ext cx="2380626" cy="55875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00" dirty="0"/>
              <a:t>Image-level and pair-level semantic evidence scoring</a:t>
            </a:r>
          </a:p>
          <a:p>
            <a:pPr algn="ctr"/>
            <a:r>
              <a:rPr sz="700" dirty="0"/>
              <a:t>Matched against GT categories and </a:t>
            </a:r>
            <a:r>
              <a:rPr sz="700" dirty="0" err="1"/>
              <a:t>IoU</a:t>
            </a:r>
            <a:r>
              <a:rPr sz="700" dirty="0"/>
              <a:t> </a:t>
            </a:r>
            <a:r>
              <a:rPr lang="en-GB" sz="700" dirty="0"/>
              <a:t>AP50-proxy</a:t>
            </a:r>
            <a:r>
              <a:rPr sz="700" dirty="0"/>
              <a:t> where available</a:t>
            </a:r>
          </a:p>
        </p:txBody>
      </p: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11B42753-06F9-5378-3764-685B010A74E5}"/>
              </a:ext>
            </a:extLst>
          </p:cNvPr>
          <p:cNvCxnSpPr>
            <a:cxnSpLocks/>
          </p:cNvCxnSpPr>
          <p:nvPr/>
        </p:nvCxnSpPr>
        <p:spPr>
          <a:xfrm>
            <a:off x="10311961" y="3693951"/>
            <a:ext cx="11938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231CBBA-5B88-5C95-0715-6DA6F5EA3E3B}"/>
              </a:ext>
            </a:extLst>
          </p:cNvPr>
          <p:cNvCxnSpPr>
            <a:cxnSpLocks/>
          </p:cNvCxnSpPr>
          <p:nvPr/>
        </p:nvCxnSpPr>
        <p:spPr>
          <a:xfrm>
            <a:off x="1806280" y="3683264"/>
            <a:ext cx="17614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5" name="Shape 4">
            <a:extLst>
              <a:ext uri="{FF2B5EF4-FFF2-40B4-BE49-F238E27FC236}">
                <a16:creationId xmlns:a16="http://schemas.microsoft.com/office/drawing/2014/main" id="{8511EEAC-236A-233C-FA79-E0A34C0A0FFF}"/>
              </a:ext>
            </a:extLst>
          </p:cNvPr>
          <p:cNvSpPr/>
          <p:nvPr/>
        </p:nvSpPr>
        <p:spPr>
          <a:xfrm>
            <a:off x="112110" y="3916677"/>
            <a:ext cx="544335" cy="13959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06" name="Text 5">
            <a:extLst>
              <a:ext uri="{FF2B5EF4-FFF2-40B4-BE49-F238E27FC236}">
                <a16:creationId xmlns:a16="http://schemas.microsoft.com/office/drawing/2014/main" id="{3A801FA6-0227-5573-11C5-B6BE1EC7E536}"/>
              </a:ext>
            </a:extLst>
          </p:cNvPr>
          <p:cNvSpPr/>
          <p:nvPr/>
        </p:nvSpPr>
        <p:spPr>
          <a:xfrm>
            <a:off x="102951" y="5423973"/>
            <a:ext cx="547624" cy="155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Rare</a:t>
            </a:r>
            <a:endParaRPr lang="en-US" sz="900" dirty="0"/>
          </a:p>
        </p:txBody>
      </p:sp>
      <p:sp>
        <p:nvSpPr>
          <p:cNvPr id="407" name="Shape 6">
            <a:extLst>
              <a:ext uri="{FF2B5EF4-FFF2-40B4-BE49-F238E27FC236}">
                <a16:creationId xmlns:a16="http://schemas.microsoft.com/office/drawing/2014/main" id="{C0850858-1D41-F8ED-D95D-B0D729725FB7}"/>
              </a:ext>
            </a:extLst>
          </p:cNvPr>
          <p:cNvSpPr/>
          <p:nvPr/>
        </p:nvSpPr>
        <p:spPr>
          <a:xfrm>
            <a:off x="690452" y="4216786"/>
            <a:ext cx="574080" cy="1095863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08" name="Text 7">
            <a:extLst>
              <a:ext uri="{FF2B5EF4-FFF2-40B4-BE49-F238E27FC236}">
                <a16:creationId xmlns:a16="http://schemas.microsoft.com/office/drawing/2014/main" id="{79629661-18BC-8BA2-0F16-DE033E60994E}"/>
              </a:ext>
            </a:extLst>
          </p:cNvPr>
          <p:cNvSpPr/>
          <p:nvPr/>
        </p:nvSpPr>
        <p:spPr>
          <a:xfrm>
            <a:off x="637874" y="5423976"/>
            <a:ext cx="657224" cy="155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Common</a:t>
            </a:r>
            <a:endParaRPr lang="en-US" sz="900" dirty="0"/>
          </a:p>
        </p:txBody>
      </p:sp>
      <p:sp>
        <p:nvSpPr>
          <p:cNvPr id="409" name="Shape 8">
            <a:extLst>
              <a:ext uri="{FF2B5EF4-FFF2-40B4-BE49-F238E27FC236}">
                <a16:creationId xmlns:a16="http://schemas.microsoft.com/office/drawing/2014/main" id="{D40DDD39-DA12-7957-3837-86C2CBFF74FA}"/>
              </a:ext>
            </a:extLst>
          </p:cNvPr>
          <p:cNvSpPr/>
          <p:nvPr/>
        </p:nvSpPr>
        <p:spPr>
          <a:xfrm>
            <a:off x="1291099" y="4512257"/>
            <a:ext cx="425617" cy="803075"/>
          </a:xfrm>
          <a:prstGeom prst="rect">
            <a:avLst/>
          </a:prstGeom>
          <a:solidFill>
            <a:srgbClr val="E05E5E"/>
          </a:solidFill>
          <a:ln w="12700">
            <a:solidFill>
              <a:srgbClr val="E05E5E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0" name="Text 9">
            <a:extLst>
              <a:ext uri="{FF2B5EF4-FFF2-40B4-BE49-F238E27FC236}">
                <a16:creationId xmlns:a16="http://schemas.microsoft.com/office/drawing/2014/main" id="{7AF096A6-45AF-9CAE-0A86-604052E0DF36}"/>
              </a:ext>
            </a:extLst>
          </p:cNvPr>
          <p:cNvSpPr/>
          <p:nvPr/>
        </p:nvSpPr>
        <p:spPr>
          <a:xfrm>
            <a:off x="1160464" y="5430318"/>
            <a:ext cx="646112" cy="123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/>
              <a:t>Frequent</a:t>
            </a:r>
            <a:endParaRPr lang="en-US" sz="900" dirty="0"/>
          </a:p>
        </p:txBody>
      </p:sp>
      <p:sp>
        <p:nvSpPr>
          <p:cNvPr id="411" name="Shape 2">
            <a:extLst>
              <a:ext uri="{FF2B5EF4-FFF2-40B4-BE49-F238E27FC236}">
                <a16:creationId xmlns:a16="http://schemas.microsoft.com/office/drawing/2014/main" id="{46973778-1E1F-BB63-2619-F91C442B52F2}"/>
              </a:ext>
            </a:extLst>
          </p:cNvPr>
          <p:cNvSpPr/>
          <p:nvPr/>
        </p:nvSpPr>
        <p:spPr>
          <a:xfrm>
            <a:off x="3932000" y="4265477"/>
            <a:ext cx="1612794" cy="1716420"/>
          </a:xfrm>
          <a:prstGeom prst="roundRect">
            <a:avLst>
              <a:gd name="adj" fmla="val 3731"/>
            </a:avLst>
          </a:prstGeom>
          <a:solidFill>
            <a:srgbClr val="F0E6F9"/>
          </a:solidFill>
          <a:ln w="12700">
            <a:solidFill>
              <a:srgbClr val="D4A8E0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2" name="Shape 4">
            <a:extLst>
              <a:ext uri="{FF2B5EF4-FFF2-40B4-BE49-F238E27FC236}">
                <a16:creationId xmlns:a16="http://schemas.microsoft.com/office/drawing/2014/main" id="{657F1344-7CA7-68C1-308F-963E2C49CC2F}"/>
              </a:ext>
            </a:extLst>
          </p:cNvPr>
          <p:cNvSpPr/>
          <p:nvPr/>
        </p:nvSpPr>
        <p:spPr>
          <a:xfrm>
            <a:off x="4003093" y="4488880"/>
            <a:ext cx="631469" cy="310781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3" name="Text 5">
            <a:extLst>
              <a:ext uri="{FF2B5EF4-FFF2-40B4-BE49-F238E27FC236}">
                <a16:creationId xmlns:a16="http://schemas.microsoft.com/office/drawing/2014/main" id="{0EBE0387-D740-8CF3-4BA0-BB7E8A1D3E0A}"/>
              </a:ext>
            </a:extLst>
          </p:cNvPr>
          <p:cNvSpPr/>
          <p:nvPr/>
        </p:nvSpPr>
        <p:spPr>
          <a:xfrm>
            <a:off x="3893383" y="4488880"/>
            <a:ext cx="741178" cy="28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sz="900"/>
              <a:t>airplane</a:t>
            </a:r>
            <a:endParaRPr lang="en-US" sz="900" dirty="0"/>
          </a:p>
        </p:txBody>
      </p:sp>
      <p:sp>
        <p:nvSpPr>
          <p:cNvPr id="414" name="Shape 6">
            <a:extLst>
              <a:ext uri="{FF2B5EF4-FFF2-40B4-BE49-F238E27FC236}">
                <a16:creationId xmlns:a16="http://schemas.microsoft.com/office/drawing/2014/main" id="{DF069D92-328E-B69C-D3AE-887D62C075EB}"/>
              </a:ext>
            </a:extLst>
          </p:cNvPr>
          <p:cNvSpPr/>
          <p:nvPr/>
        </p:nvSpPr>
        <p:spPr>
          <a:xfrm>
            <a:off x="4023161" y="5264227"/>
            <a:ext cx="611401" cy="328877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5" name="Text 7">
            <a:extLst>
              <a:ext uri="{FF2B5EF4-FFF2-40B4-BE49-F238E27FC236}">
                <a16:creationId xmlns:a16="http://schemas.microsoft.com/office/drawing/2014/main" id="{33379F46-DECD-6452-8314-9D263D540476}"/>
              </a:ext>
            </a:extLst>
          </p:cNvPr>
          <p:cNvSpPr/>
          <p:nvPr/>
        </p:nvSpPr>
        <p:spPr>
          <a:xfrm>
            <a:off x="4083807" y="5335068"/>
            <a:ext cx="55075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sz="900"/>
              <a:t>aircraft</a:t>
            </a:r>
            <a:endParaRPr lang="en-US" sz="900" dirty="0"/>
          </a:p>
        </p:txBody>
      </p:sp>
      <p:sp>
        <p:nvSpPr>
          <p:cNvPr id="416" name="Shape 8">
            <a:extLst>
              <a:ext uri="{FF2B5EF4-FFF2-40B4-BE49-F238E27FC236}">
                <a16:creationId xmlns:a16="http://schemas.microsoft.com/office/drawing/2014/main" id="{769A7943-A74D-4D90-7EB4-B5ABA1376664}"/>
              </a:ext>
            </a:extLst>
          </p:cNvPr>
          <p:cNvSpPr/>
          <p:nvPr/>
        </p:nvSpPr>
        <p:spPr>
          <a:xfrm>
            <a:off x="4832048" y="4488880"/>
            <a:ext cx="622883" cy="295856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7" name="Shape 10">
            <a:extLst>
              <a:ext uri="{FF2B5EF4-FFF2-40B4-BE49-F238E27FC236}">
                <a16:creationId xmlns:a16="http://schemas.microsoft.com/office/drawing/2014/main" id="{2988D128-65EE-FCBC-DEF9-C67A41678B58}"/>
              </a:ext>
            </a:extLst>
          </p:cNvPr>
          <p:cNvSpPr/>
          <p:nvPr/>
        </p:nvSpPr>
        <p:spPr>
          <a:xfrm>
            <a:off x="4016865" y="4891038"/>
            <a:ext cx="617697" cy="292835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18" name="Text 11">
            <a:extLst>
              <a:ext uri="{FF2B5EF4-FFF2-40B4-BE49-F238E27FC236}">
                <a16:creationId xmlns:a16="http://schemas.microsoft.com/office/drawing/2014/main" id="{75912FD7-A90C-C6DB-5D29-2AF19BC95093}"/>
              </a:ext>
            </a:extLst>
          </p:cNvPr>
          <p:cNvSpPr/>
          <p:nvPr/>
        </p:nvSpPr>
        <p:spPr>
          <a:xfrm>
            <a:off x="3988331" y="4867625"/>
            <a:ext cx="646230" cy="316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sz="900"/>
              <a:t>aeroplane</a:t>
            </a:r>
            <a:endParaRPr lang="en-US" sz="900" dirty="0"/>
          </a:p>
        </p:txBody>
      </p:sp>
      <p:sp>
        <p:nvSpPr>
          <p:cNvPr id="419" name="Shape 12">
            <a:extLst>
              <a:ext uri="{FF2B5EF4-FFF2-40B4-BE49-F238E27FC236}">
                <a16:creationId xmlns:a16="http://schemas.microsoft.com/office/drawing/2014/main" id="{666644ED-324D-C2E5-0CEE-47E9CAD9F80D}"/>
              </a:ext>
            </a:extLst>
          </p:cNvPr>
          <p:cNvSpPr/>
          <p:nvPr/>
        </p:nvSpPr>
        <p:spPr>
          <a:xfrm>
            <a:off x="4835224" y="4908032"/>
            <a:ext cx="631825" cy="275841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r>
              <a:rPr sz="900"/>
              <a:t>vehicle</a:t>
            </a:r>
            <a:endParaRPr lang="en-GB" sz="900" dirty="0">
              <a:solidFill>
                <a:schemeClr val="bg2"/>
              </a:solidFill>
            </a:endParaRPr>
          </a:p>
        </p:txBody>
      </p:sp>
      <p:sp>
        <p:nvSpPr>
          <p:cNvPr id="420" name="Text 13">
            <a:extLst>
              <a:ext uri="{FF2B5EF4-FFF2-40B4-BE49-F238E27FC236}">
                <a16:creationId xmlns:a16="http://schemas.microsoft.com/office/drawing/2014/main" id="{69E2A912-BA81-C4D0-8E1D-DF726875A741}"/>
              </a:ext>
            </a:extLst>
          </p:cNvPr>
          <p:cNvSpPr/>
          <p:nvPr/>
        </p:nvSpPr>
        <p:spPr>
          <a:xfrm>
            <a:off x="4878087" y="4488880"/>
            <a:ext cx="533717" cy="314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sz="900"/>
              <a:t>visible</a:t>
            </a:r>
            <a:endParaRPr lang="en-US" sz="900" dirty="0"/>
          </a:p>
          <a:p>
            <a:pPr algn="ctr"/>
            <a:r>
              <a:rPr sz="900"/>
              <a:t>airplane</a:t>
            </a:r>
          </a:p>
        </p:txBody>
      </p:sp>
      <p:sp>
        <p:nvSpPr>
          <p:cNvPr id="421" name="Shape 14">
            <a:extLst>
              <a:ext uri="{FF2B5EF4-FFF2-40B4-BE49-F238E27FC236}">
                <a16:creationId xmlns:a16="http://schemas.microsoft.com/office/drawing/2014/main" id="{084908E2-8896-4452-8A50-63C17A6BBA90}"/>
              </a:ext>
            </a:extLst>
          </p:cNvPr>
          <p:cNvSpPr/>
          <p:nvPr/>
        </p:nvSpPr>
        <p:spPr>
          <a:xfrm>
            <a:off x="4843162" y="5282682"/>
            <a:ext cx="631825" cy="307975"/>
          </a:xfrm>
          <a:prstGeom prst="roundRect">
            <a:avLst>
              <a:gd name="adj" fmla="val 19048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422" name="Text 15">
            <a:extLst>
              <a:ext uri="{FF2B5EF4-FFF2-40B4-BE49-F238E27FC236}">
                <a16:creationId xmlns:a16="http://schemas.microsoft.com/office/drawing/2014/main" id="{5421A309-1AE4-4343-9F09-E84EC3A2F960}"/>
              </a:ext>
            </a:extLst>
          </p:cNvPr>
          <p:cNvSpPr/>
          <p:nvPr/>
        </p:nvSpPr>
        <p:spPr>
          <a:xfrm>
            <a:off x="4912884" y="5251454"/>
            <a:ext cx="497839" cy="32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sz="900" dirty="0"/>
              <a:t>photo of</a:t>
            </a:r>
            <a:endParaRPr lang="en-US" sz="900" dirty="0"/>
          </a:p>
          <a:p>
            <a:pPr algn="ctr"/>
            <a:r>
              <a:rPr sz="900" dirty="0"/>
              <a:t>airplane</a:t>
            </a:r>
          </a:p>
        </p:txBody>
      </p:sp>
      <p:sp>
        <p:nvSpPr>
          <p:cNvPr id="423" name="Text 16">
            <a:extLst>
              <a:ext uri="{FF2B5EF4-FFF2-40B4-BE49-F238E27FC236}">
                <a16:creationId xmlns:a16="http://schemas.microsoft.com/office/drawing/2014/main" id="{8384C3BA-31C2-4736-DC9F-18DC5AD2B8B0}"/>
              </a:ext>
            </a:extLst>
          </p:cNvPr>
          <p:cNvSpPr/>
          <p:nvPr/>
        </p:nvSpPr>
        <p:spPr>
          <a:xfrm>
            <a:off x="4016865" y="5676366"/>
            <a:ext cx="1508194" cy="268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prompt variants per category</a:t>
            </a:r>
            <a:endParaRPr lang="en-US" sz="900" dirty="0"/>
          </a:p>
        </p:txBody>
      </p:sp>
      <p:sp>
        <p:nvSpPr>
          <p:cNvPr id="424" name="Text 17">
            <a:extLst>
              <a:ext uri="{FF2B5EF4-FFF2-40B4-BE49-F238E27FC236}">
                <a16:creationId xmlns:a16="http://schemas.microsoft.com/office/drawing/2014/main" id="{9A7C61C4-2655-2E80-33C6-4687286DA917}"/>
              </a:ext>
            </a:extLst>
          </p:cNvPr>
          <p:cNvSpPr/>
          <p:nvPr/>
        </p:nvSpPr>
        <p:spPr>
          <a:xfrm>
            <a:off x="3769357" y="6031003"/>
            <a:ext cx="1809830" cy="36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/>
              <a:t>Complementary + redundant semantic sources</a:t>
            </a:r>
            <a:endParaRPr lang="en-US" sz="900" dirty="0"/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48A06C39-99A6-5F9E-B503-B54795C17DC3}"/>
              </a:ext>
            </a:extLst>
          </p:cNvPr>
          <p:cNvCxnSpPr/>
          <p:nvPr/>
        </p:nvCxnSpPr>
        <p:spPr>
          <a:xfrm>
            <a:off x="3883249" y="4159506"/>
            <a:ext cx="13883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1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0238E9C-03D2-9060-F934-F27A209E6BA3}"/>
              </a:ext>
            </a:extLst>
          </p:cNvPr>
          <p:cNvSpPr/>
          <p:nvPr/>
        </p:nvSpPr>
        <p:spPr>
          <a:xfrm>
            <a:off x="188976" y="914400"/>
            <a:ext cx="2560320" cy="2176272"/>
          </a:xfrm>
          <a:prstGeom prst="roundRect">
            <a:avLst>
              <a:gd name="adj" fmla="val 4202"/>
            </a:avLst>
          </a:prstGeom>
          <a:solidFill>
            <a:srgbClr val="EBF3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5AEE036-A14C-3B9D-3160-D5702CE7DBFB}"/>
              </a:ext>
            </a:extLst>
          </p:cNvPr>
          <p:cNvSpPr/>
          <p:nvPr/>
        </p:nvSpPr>
        <p:spPr>
          <a:xfrm>
            <a:off x="188976" y="475486"/>
            <a:ext cx="2560320" cy="475488"/>
          </a:xfrm>
          <a:prstGeom prst="roundRect">
            <a:avLst>
              <a:gd name="adj" fmla="val 2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B145A7-CEC8-557A-AB5B-E257B94BA1A0}"/>
              </a:ext>
            </a:extLst>
          </p:cNvPr>
          <p:cNvSpPr/>
          <p:nvPr/>
        </p:nvSpPr>
        <p:spPr>
          <a:xfrm>
            <a:off x="198967" y="534925"/>
            <a:ext cx="2560320" cy="43433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LVIS Evaluation Subset</a:t>
            </a:r>
            <a:endParaRPr lang="en-US" sz="9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4F8FFC-13C1-FD4A-A582-D7715576CE6B}"/>
              </a:ext>
            </a:extLst>
          </p:cNvPr>
          <p:cNvSpPr/>
          <p:nvPr/>
        </p:nvSpPr>
        <p:spPr>
          <a:xfrm>
            <a:off x="161630" y="374902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CFDBC0-D863-9ACB-154F-C83F8661CED8}"/>
              </a:ext>
            </a:extLst>
          </p:cNvPr>
          <p:cNvSpPr/>
          <p:nvPr/>
        </p:nvSpPr>
        <p:spPr>
          <a:xfrm>
            <a:off x="161543" y="37261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A2E9A2-7FE4-1737-5820-A721FF1A71A0}"/>
              </a:ext>
            </a:extLst>
          </p:cNvPr>
          <p:cNvSpPr/>
          <p:nvPr/>
        </p:nvSpPr>
        <p:spPr>
          <a:xfrm>
            <a:off x="258741" y="1307592"/>
            <a:ext cx="768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E4195-9548-4DCA-AF95-4DE70A3B5849}"/>
              </a:ext>
            </a:extLst>
          </p:cNvPr>
          <p:cNvSpPr/>
          <p:nvPr/>
        </p:nvSpPr>
        <p:spPr>
          <a:xfrm>
            <a:off x="280416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900" b="1" dirty="0"/>
              <a:t>1000</a:t>
            </a:r>
            <a:endParaRPr lang="en-US" sz="9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F53CDE-B9CB-818B-5CFA-C66472767EE5}"/>
              </a:ext>
            </a:extLst>
          </p:cNvPr>
          <p:cNvSpPr/>
          <p:nvPr/>
        </p:nvSpPr>
        <p:spPr>
          <a:xfrm>
            <a:off x="280416" y="151790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images evaluated</a:t>
            </a:r>
            <a:endParaRPr lang="en-US" sz="900" b="1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826424C-4478-2245-6058-21A72A7072D4}"/>
              </a:ext>
            </a:extLst>
          </p:cNvPr>
          <p:cNvSpPr/>
          <p:nvPr/>
        </p:nvSpPr>
        <p:spPr>
          <a:xfrm>
            <a:off x="1111165" y="1323592"/>
            <a:ext cx="768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F9CAE9-0084-69F1-1FD7-7A3BEAF78E5D}"/>
              </a:ext>
            </a:extLst>
          </p:cNvPr>
          <p:cNvSpPr/>
          <p:nvPr/>
        </p:nvSpPr>
        <p:spPr>
          <a:xfrm>
            <a:off x="1121664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4,623</a:t>
            </a:r>
            <a:endParaRPr lang="en-US" sz="9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40FF88-2700-874F-2272-B240BBC707C7}"/>
              </a:ext>
            </a:extLst>
          </p:cNvPr>
          <p:cNvSpPr/>
          <p:nvPr/>
        </p:nvSpPr>
        <p:spPr>
          <a:xfrm>
            <a:off x="1057656" y="1536192"/>
            <a:ext cx="83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GT boxes</a:t>
            </a:r>
            <a:endParaRPr lang="en-US" sz="900" b="1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21B646-DD78-C6A2-2AFE-19437B642479}"/>
              </a:ext>
            </a:extLst>
          </p:cNvPr>
          <p:cNvSpPr/>
          <p:nvPr/>
        </p:nvSpPr>
        <p:spPr>
          <a:xfrm>
            <a:off x="1935480" y="1316736"/>
            <a:ext cx="740664" cy="52120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AF216E-7833-1C47-45BE-0139B4DB4BC5}"/>
              </a:ext>
            </a:extLst>
          </p:cNvPr>
          <p:cNvSpPr/>
          <p:nvPr/>
        </p:nvSpPr>
        <p:spPr>
          <a:xfrm>
            <a:off x="1962912" y="1280160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b="1" dirty="0"/>
              <a:t>4,132</a:t>
            </a:r>
            <a:endParaRPr sz="900" b="1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1B81EB-5787-4D26-8341-C2961895CA9E}"/>
              </a:ext>
            </a:extLst>
          </p:cNvPr>
          <p:cNvSpPr/>
          <p:nvPr/>
        </p:nvSpPr>
        <p:spPr>
          <a:xfrm>
            <a:off x="1862328" y="1545336"/>
            <a:ext cx="886960" cy="2651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GT image-category pairs</a:t>
            </a:r>
            <a:endParaRPr lang="en-US" sz="900" b="1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875381-E12B-D392-514A-7F08ABDAD763}"/>
              </a:ext>
            </a:extLst>
          </p:cNvPr>
          <p:cNvSpPr/>
          <p:nvPr/>
        </p:nvSpPr>
        <p:spPr>
          <a:xfrm>
            <a:off x="280416" y="1883664"/>
            <a:ext cx="2395728" cy="2628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LVIS frequency groups in evaluated subset:</a:t>
            </a:r>
            <a:endParaRPr lang="en-US" sz="900" b="1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2D981B-F167-3E64-CCF3-D08311077559}"/>
              </a:ext>
            </a:extLst>
          </p:cNvPr>
          <p:cNvSpPr/>
          <p:nvPr/>
        </p:nvSpPr>
        <p:spPr>
          <a:xfrm>
            <a:off x="246888" y="2377434"/>
            <a:ext cx="2429256" cy="5509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Rare / Common / Frequent LVIS groups</a:t>
            </a:r>
            <a:br>
              <a:rPr lang="en-GB" sz="900" dirty="0"/>
            </a:br>
            <a:r>
              <a:rPr lang="en-GB" sz="900" dirty="0"/>
              <a:t>used for long-tail analysis</a:t>
            </a:r>
            <a:endParaRPr lang="en-US" sz="900" b="1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A51A2C2-4BEA-8255-013D-06D8412ED6AA}"/>
              </a:ext>
            </a:extLst>
          </p:cNvPr>
          <p:cNvSpPr/>
          <p:nvPr/>
        </p:nvSpPr>
        <p:spPr>
          <a:xfrm>
            <a:off x="2941320" y="914400"/>
            <a:ext cx="2384890" cy="2176272"/>
          </a:xfrm>
          <a:prstGeom prst="roundRect">
            <a:avLst>
              <a:gd name="adj" fmla="val 4202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5D7F341-7B8D-C6EC-7FE6-A20A10F789FE}"/>
              </a:ext>
            </a:extLst>
          </p:cNvPr>
          <p:cNvSpPr/>
          <p:nvPr/>
        </p:nvSpPr>
        <p:spPr>
          <a:xfrm>
            <a:off x="2953766" y="477256"/>
            <a:ext cx="2394034" cy="491491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2558463-08C0-CBAD-D9AA-0AFE8605275A}"/>
              </a:ext>
            </a:extLst>
          </p:cNvPr>
          <p:cNvSpPr/>
          <p:nvPr/>
        </p:nvSpPr>
        <p:spPr>
          <a:xfrm>
            <a:off x="2942167" y="539493"/>
            <a:ext cx="2340864" cy="44348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COCO Evaluation Subset</a:t>
            </a:r>
            <a:endParaRPr lang="en-US" sz="900" b="1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20A4DE0-71B8-BE14-058A-24B469222179}"/>
              </a:ext>
            </a:extLst>
          </p:cNvPr>
          <p:cNvSpPr/>
          <p:nvPr/>
        </p:nvSpPr>
        <p:spPr>
          <a:xfrm>
            <a:off x="2858516" y="448052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D92B3BA-D210-C6A4-FB49-9AEAD1884C55}"/>
              </a:ext>
            </a:extLst>
          </p:cNvPr>
          <p:cNvSpPr/>
          <p:nvPr/>
        </p:nvSpPr>
        <p:spPr>
          <a:xfrm>
            <a:off x="2941320" y="521205"/>
            <a:ext cx="247735" cy="34747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7DADA64-89F3-2A48-B9C7-321B065424A8}"/>
              </a:ext>
            </a:extLst>
          </p:cNvPr>
          <p:cNvSpPr/>
          <p:nvPr/>
        </p:nvSpPr>
        <p:spPr>
          <a:xfrm>
            <a:off x="3019044" y="1179063"/>
            <a:ext cx="104241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AAD26F5-AA4F-1B5C-78F7-60FD3C06A458}"/>
              </a:ext>
            </a:extLst>
          </p:cNvPr>
          <p:cNvSpPr/>
          <p:nvPr/>
        </p:nvSpPr>
        <p:spPr>
          <a:xfrm>
            <a:off x="3019044" y="1179063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900" b="1" dirty="0"/>
              <a:t>1000</a:t>
            </a:r>
            <a:endParaRPr lang="en-US" sz="900" b="1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04CA71D-BC90-B77B-418F-9DBD91CD0F05}"/>
              </a:ext>
            </a:extLst>
          </p:cNvPr>
          <p:cNvSpPr/>
          <p:nvPr/>
        </p:nvSpPr>
        <p:spPr>
          <a:xfrm>
            <a:off x="3019044" y="1453383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images evaluated</a:t>
            </a:r>
            <a:endParaRPr lang="en-US" sz="900" b="1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0A59E49-5169-F5E9-32B7-DDFC0D00DB2D}"/>
              </a:ext>
            </a:extLst>
          </p:cNvPr>
          <p:cNvSpPr/>
          <p:nvPr/>
        </p:nvSpPr>
        <p:spPr>
          <a:xfrm>
            <a:off x="4116324" y="1184143"/>
            <a:ext cx="1078992" cy="5143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69DA4F4-8854-59BA-093D-0AB837F2BE47}"/>
              </a:ext>
            </a:extLst>
          </p:cNvPr>
          <p:cNvSpPr/>
          <p:nvPr/>
        </p:nvSpPr>
        <p:spPr>
          <a:xfrm>
            <a:off x="4125636" y="1179063"/>
            <a:ext cx="1087968" cy="45998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3,217 GT image-category pairs</a:t>
            </a:r>
            <a:endParaRPr lang="en-US" sz="900" b="1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30DE7D3-2843-4B6C-97CA-63BD102B082F}"/>
              </a:ext>
            </a:extLst>
          </p:cNvPr>
          <p:cNvSpPr/>
          <p:nvPr/>
        </p:nvSpPr>
        <p:spPr>
          <a:xfrm>
            <a:off x="3019044" y="179450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COCO evaluated as a balanced dataset subset</a:t>
            </a:r>
            <a:endParaRPr lang="en-US" sz="900" b="1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721DE60-798E-A27F-A4DD-24E71AA07349}"/>
              </a:ext>
            </a:extLst>
          </p:cNvPr>
          <p:cNvSpPr/>
          <p:nvPr/>
        </p:nvSpPr>
        <p:spPr>
          <a:xfrm>
            <a:off x="3268133" y="2057379"/>
            <a:ext cx="1697567" cy="284994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7EC9480-760B-A3D5-4FE4-36D6FAD9001E}"/>
              </a:ext>
            </a:extLst>
          </p:cNvPr>
          <p:cNvSpPr/>
          <p:nvPr/>
        </p:nvSpPr>
        <p:spPr>
          <a:xfrm>
            <a:off x="3263562" y="2023100"/>
            <a:ext cx="1761406" cy="30175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Balanced comparison subset</a:t>
            </a:r>
            <a:endParaRPr lang="en-US" sz="900" b="1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E2FBF86-F817-18DA-7CCB-D42F6E6FBA8E}"/>
              </a:ext>
            </a:extLst>
          </p:cNvPr>
          <p:cNvSpPr/>
          <p:nvPr/>
        </p:nvSpPr>
        <p:spPr>
          <a:xfrm>
            <a:off x="2967144" y="2505456"/>
            <a:ext cx="1303104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No LVIS-style prior</a:t>
            </a:r>
            <a:endParaRPr lang="en-US" sz="900" b="1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D562A98-FFD1-6112-73AC-5B993EEFA14F}"/>
              </a:ext>
            </a:extLst>
          </p:cNvPr>
          <p:cNvSpPr/>
          <p:nvPr/>
        </p:nvSpPr>
        <p:spPr>
          <a:xfrm>
            <a:off x="3023616" y="2706624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37A50F2-FDCA-2CAE-1CEB-BA660EA3E077}"/>
              </a:ext>
            </a:extLst>
          </p:cNvPr>
          <p:cNvSpPr/>
          <p:nvPr/>
        </p:nvSpPr>
        <p:spPr>
          <a:xfrm>
            <a:off x="3023616" y="2706624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neutral prior</a:t>
            </a:r>
            <a:endParaRPr lang="en-US" sz="900" b="1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99D1E98-56D5-DF6B-9638-6C034CE6012E}"/>
              </a:ext>
            </a:extLst>
          </p:cNvPr>
          <p:cNvSpPr/>
          <p:nvPr/>
        </p:nvSpPr>
        <p:spPr>
          <a:xfrm>
            <a:off x="3901440" y="2843784"/>
            <a:ext cx="274320" cy="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B0EF5F4-84EB-0E11-8584-90BA5157F443}"/>
              </a:ext>
            </a:extLst>
          </p:cNvPr>
          <p:cNvSpPr/>
          <p:nvPr/>
        </p:nvSpPr>
        <p:spPr>
          <a:xfrm>
            <a:off x="4194048" y="2706624"/>
            <a:ext cx="987552" cy="274320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914F688-314D-8EF9-C073-6202A73C7E47}"/>
              </a:ext>
            </a:extLst>
          </p:cNvPr>
          <p:cNvSpPr/>
          <p:nvPr/>
        </p:nvSpPr>
        <p:spPr>
          <a:xfrm>
            <a:off x="4194048" y="27066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for COCO</a:t>
            </a:r>
            <a:endParaRPr lang="en-US" sz="900" b="1" dirty="0"/>
          </a:p>
        </p:txBody>
      </p:sp>
      <p:sp>
        <p:nvSpPr>
          <p:cNvPr id="50" name="Shape 49">
            <a:extLst>
              <a:ext uri="{FF2B5EF4-FFF2-40B4-BE49-F238E27FC236}">
                <a16:creationId xmlns:a16="http://schemas.microsoft.com/office/drawing/2014/main" id="{BD371C57-4D33-F06B-353E-54BF1DDE4243}"/>
              </a:ext>
            </a:extLst>
          </p:cNvPr>
          <p:cNvSpPr/>
          <p:nvPr/>
        </p:nvSpPr>
        <p:spPr>
          <a:xfrm>
            <a:off x="4120895" y="3072383"/>
            <a:ext cx="4741" cy="694945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1802CBB0-2BA8-37A1-FDEE-A825F782F152}"/>
              </a:ext>
            </a:extLst>
          </p:cNvPr>
          <p:cNvSpPr/>
          <p:nvPr/>
        </p:nvSpPr>
        <p:spPr>
          <a:xfrm>
            <a:off x="188975" y="3831336"/>
            <a:ext cx="5137235" cy="2318004"/>
          </a:xfrm>
          <a:prstGeom prst="roundRect">
            <a:avLst>
              <a:gd name="adj" fmla="val 4255"/>
            </a:avLst>
          </a:prstGeom>
          <a:solidFill>
            <a:srgbClr val="FFFDE7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B2290F0-DC34-8B42-E2B1-268CD8B3E2BC}"/>
              </a:ext>
            </a:extLst>
          </p:cNvPr>
          <p:cNvSpPr/>
          <p:nvPr/>
        </p:nvSpPr>
        <p:spPr>
          <a:xfrm>
            <a:off x="188975" y="3799331"/>
            <a:ext cx="5137235" cy="317753"/>
          </a:xfrm>
          <a:prstGeom prst="roundRect">
            <a:avLst>
              <a:gd name="adj" fmla="val 33333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90CC298-4AC5-C747-74A6-AB9D1F368BBA}"/>
              </a:ext>
            </a:extLst>
          </p:cNvPr>
          <p:cNvSpPr/>
          <p:nvPr/>
        </p:nvSpPr>
        <p:spPr>
          <a:xfrm>
            <a:off x="246888" y="3826764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/>
              <a:t>Example Prompt Construction Category-level Semantic Evidence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54E8FE3-DCE3-CDD1-090F-16C7F3125BE1}"/>
              </a:ext>
            </a:extLst>
          </p:cNvPr>
          <p:cNvSpPr/>
          <p:nvPr/>
        </p:nvSpPr>
        <p:spPr>
          <a:xfrm>
            <a:off x="42672" y="359816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A2057E9-BC39-EDC3-E3FE-E0F1C408D541}"/>
              </a:ext>
            </a:extLst>
          </p:cNvPr>
          <p:cNvSpPr/>
          <p:nvPr/>
        </p:nvSpPr>
        <p:spPr>
          <a:xfrm>
            <a:off x="29833" y="356844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b="1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335B8BD-CBE1-7CA6-1B7E-4DA6E7E818DD}"/>
              </a:ext>
            </a:extLst>
          </p:cNvPr>
          <p:cNvSpPr/>
          <p:nvPr/>
        </p:nvSpPr>
        <p:spPr>
          <a:xfrm>
            <a:off x="338328" y="4174236"/>
            <a:ext cx="987552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48C9CA3-A7ED-A80A-B44E-F929B4C706EE}"/>
              </a:ext>
            </a:extLst>
          </p:cNvPr>
          <p:cNvSpPr/>
          <p:nvPr/>
        </p:nvSpPr>
        <p:spPr>
          <a:xfrm>
            <a:off x="338328" y="417423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Category</a:t>
            </a:r>
            <a:endParaRPr lang="en-US" sz="900" b="1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10C8114-6A63-C717-A2AF-DD5D2CF8AC3C}"/>
              </a:ext>
            </a:extLst>
          </p:cNvPr>
          <p:cNvSpPr/>
          <p:nvPr/>
        </p:nvSpPr>
        <p:spPr>
          <a:xfrm>
            <a:off x="338328" y="432054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airplane</a:t>
            </a:r>
            <a:endParaRPr lang="en-US" sz="900" b="1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E14A029-4E01-AC02-02B2-15725BC74ADE}"/>
              </a:ext>
            </a:extLst>
          </p:cNvPr>
          <p:cNvSpPr/>
          <p:nvPr/>
        </p:nvSpPr>
        <p:spPr>
          <a:xfrm>
            <a:off x="1399032" y="4174236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550BB21-F94E-A29A-A0E9-5CF6A9BC2EDB}"/>
              </a:ext>
            </a:extLst>
          </p:cNvPr>
          <p:cNvSpPr/>
          <p:nvPr/>
        </p:nvSpPr>
        <p:spPr>
          <a:xfrm>
            <a:off x="1399032" y="41742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Primary</a:t>
            </a:r>
            <a:endParaRPr lang="en-US" sz="900" b="1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295D74F-E806-799E-D687-14E80313CDA8}"/>
              </a:ext>
            </a:extLst>
          </p:cNvPr>
          <p:cNvSpPr/>
          <p:nvPr/>
        </p:nvSpPr>
        <p:spPr>
          <a:xfrm>
            <a:off x="1399032" y="43205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airplane</a:t>
            </a:r>
            <a:endParaRPr lang="en-US" sz="900" b="1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86690E34-8A58-44BA-3B65-A635F7BE42CC}"/>
              </a:ext>
            </a:extLst>
          </p:cNvPr>
          <p:cNvSpPr/>
          <p:nvPr/>
        </p:nvSpPr>
        <p:spPr>
          <a:xfrm>
            <a:off x="2221992" y="4174236"/>
            <a:ext cx="2084832" cy="804672"/>
          </a:xfrm>
          <a:prstGeom prst="roundRect">
            <a:avLst>
              <a:gd name="adj" fmla="val 6818"/>
            </a:avLst>
          </a:prstGeom>
          <a:solidFill>
            <a:srgbClr val="FFFDE7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04C09CA-E0E0-E737-E382-79458AFD66E7}"/>
              </a:ext>
            </a:extLst>
          </p:cNvPr>
          <p:cNvSpPr/>
          <p:nvPr/>
        </p:nvSpPr>
        <p:spPr>
          <a:xfrm>
            <a:off x="2221992" y="417423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Semantic evidence</a:t>
            </a:r>
            <a:endParaRPr lang="en-US" sz="900" b="1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9644999A-C3FD-FF52-A9F0-A8AE753B80AB}"/>
              </a:ext>
            </a:extLst>
          </p:cNvPr>
          <p:cNvSpPr/>
          <p:nvPr/>
        </p:nvSpPr>
        <p:spPr>
          <a:xfrm>
            <a:off x="2185416" y="4357116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900" dirty="0"/>
              <a:t>WordNet semantic variants and related terms</a:t>
            </a:r>
            <a:r>
              <a:rPr sz="900" dirty="0"/>
              <a:t>, attributes, contexts and descriptions are generated for each class</a:t>
            </a:r>
            <a:endParaRPr lang="en-US" sz="900" b="1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DC9A0C10-DE25-4FC9-9E14-648BDF53A729}"/>
              </a:ext>
            </a:extLst>
          </p:cNvPr>
          <p:cNvSpPr/>
          <p:nvPr/>
        </p:nvSpPr>
        <p:spPr>
          <a:xfrm>
            <a:off x="4379976" y="4146804"/>
            <a:ext cx="859536" cy="374904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778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r>
              <a:rPr sz="900"/>
              <a:t>Example</a:t>
            </a:r>
          </a:p>
          <a:p>
            <a:pPr algn="ctr"/>
            <a:r>
              <a:rPr sz="900"/>
              <a:t>aircraft</a:t>
            </a: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E7AD316-D7B5-459F-EBF0-80FC75C13278}"/>
              </a:ext>
            </a:extLst>
          </p:cNvPr>
          <p:cNvSpPr/>
          <p:nvPr/>
        </p:nvSpPr>
        <p:spPr>
          <a:xfrm>
            <a:off x="4306824" y="417423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900" b="1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D5C45570-FD9C-E6B8-9FF0-7EF2773906A6}"/>
              </a:ext>
            </a:extLst>
          </p:cNvPr>
          <p:cNvSpPr/>
          <p:nvPr/>
        </p:nvSpPr>
        <p:spPr>
          <a:xfrm>
            <a:off x="4379976" y="411937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900" b="1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D6E8B696-8EBC-9632-22D9-D8B6ACCA881D}"/>
              </a:ext>
            </a:extLst>
          </p:cNvPr>
          <p:cNvSpPr/>
          <p:nvPr/>
        </p:nvSpPr>
        <p:spPr>
          <a:xfrm>
            <a:off x="338328" y="45948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Prompt type examples:</a:t>
            </a:r>
            <a:endParaRPr lang="en-US" sz="900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3ECF7BD-25D7-F1ED-1999-6049524CA25C}"/>
              </a:ext>
            </a:extLst>
          </p:cNvPr>
          <p:cNvSpPr/>
          <p:nvPr/>
        </p:nvSpPr>
        <p:spPr>
          <a:xfrm>
            <a:off x="338328" y="4796028"/>
            <a:ext cx="1356360" cy="960120"/>
          </a:xfrm>
          <a:prstGeom prst="rect">
            <a:avLst/>
          </a:prstGeom>
          <a:solidFill>
            <a:srgbClr val="E3F2FD"/>
          </a:solidFill>
          <a:ln w="6350">
            <a:solidFill>
              <a:srgbClr val="AAAAAA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CC4B01C0-7715-5D4F-673E-6A2F680E14A2}"/>
              </a:ext>
            </a:extLst>
          </p:cNvPr>
          <p:cNvSpPr/>
          <p:nvPr/>
        </p:nvSpPr>
        <p:spPr>
          <a:xfrm>
            <a:off x="393192" y="4960620"/>
            <a:ext cx="588264" cy="493776"/>
          </a:xfrm>
          <a:prstGeom prst="rect">
            <a:avLst/>
          </a:prstGeom>
          <a:solidFill>
            <a:srgbClr val="E53935">
              <a:alpha val="40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F4942995-6E8F-C812-E069-6B99279A1416}"/>
              </a:ext>
            </a:extLst>
          </p:cNvPr>
          <p:cNvSpPr/>
          <p:nvPr/>
        </p:nvSpPr>
        <p:spPr>
          <a:xfrm>
            <a:off x="1033272" y="4960620"/>
            <a:ext cx="548640" cy="493776"/>
          </a:xfrm>
          <a:prstGeom prst="rect">
            <a:avLst/>
          </a:prstGeom>
          <a:solidFill>
            <a:srgbClr val="1565C0">
              <a:alpha val="40000"/>
            </a:srgbClr>
          </a:solidFill>
          <a:ln w="19050">
            <a:solidFill>
              <a:srgbClr val="1565C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958B0840-9354-F9DE-95D2-C6C13DA5F72E}"/>
              </a:ext>
            </a:extLst>
          </p:cNvPr>
          <p:cNvSpPr/>
          <p:nvPr/>
        </p:nvSpPr>
        <p:spPr>
          <a:xfrm>
            <a:off x="320040" y="4905756"/>
            <a:ext cx="603504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aircraft</a:t>
            </a:r>
            <a:endParaRPr lang="en-US" sz="900" b="1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5BB0F114-7210-AE5F-598D-48018E6E9BBF}"/>
              </a:ext>
            </a:extLst>
          </p:cNvPr>
          <p:cNvSpPr/>
          <p:nvPr/>
        </p:nvSpPr>
        <p:spPr>
          <a:xfrm>
            <a:off x="1033272" y="496062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vehicle</a:t>
            </a:r>
            <a:endParaRPr lang="en-US" sz="900" b="1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50E46CDC-984F-B15E-84F2-83593ADA9D72}"/>
              </a:ext>
            </a:extLst>
          </p:cNvPr>
          <p:cNvSpPr/>
          <p:nvPr/>
        </p:nvSpPr>
        <p:spPr>
          <a:xfrm>
            <a:off x="1807460" y="5301229"/>
            <a:ext cx="1746508" cy="47320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Frequency group used only for LVIS prior-aware analysis</a:t>
            </a:r>
            <a:endParaRPr lang="en-US" sz="900" b="1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D874499-0EF9-D1FB-F531-F79F4910B1EA}"/>
              </a:ext>
            </a:extLst>
          </p:cNvPr>
          <p:cNvSpPr/>
          <p:nvPr/>
        </p:nvSpPr>
        <p:spPr>
          <a:xfrm>
            <a:off x="3639312" y="4946903"/>
            <a:ext cx="1627632" cy="1161289"/>
          </a:xfrm>
          <a:prstGeom prst="roundRect">
            <a:avLst>
              <a:gd name="adj" fmla="val 5357"/>
            </a:avLst>
          </a:prstGeom>
          <a:solidFill>
            <a:srgbClr val="FFF3E0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6C09B92-3DB5-2054-0D40-FB8354516466}"/>
              </a:ext>
            </a:extLst>
          </p:cNvPr>
          <p:cNvSpPr/>
          <p:nvPr/>
        </p:nvSpPr>
        <p:spPr>
          <a:xfrm>
            <a:off x="3680290" y="5026902"/>
            <a:ext cx="1501310" cy="27432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Long-tail challenge</a:t>
            </a:r>
            <a:endParaRPr lang="en-US" sz="900" b="1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4264C163-8591-50DF-F0FE-6E39D2D1644B}"/>
              </a:ext>
            </a:extLst>
          </p:cNvPr>
          <p:cNvSpPr/>
          <p:nvPr/>
        </p:nvSpPr>
        <p:spPr>
          <a:xfrm>
            <a:off x="3685032" y="5244084"/>
            <a:ext cx="768096" cy="75895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Frequent classes:</a:t>
            </a:r>
            <a:endParaRPr lang="en-US" sz="900" b="1" dirty="0"/>
          </a:p>
          <a:p>
            <a:pPr algn="ctr"/>
            <a:r>
              <a:rPr sz="900"/>
              <a:t>higher recall</a:t>
            </a:r>
          </a:p>
        </p:txBody>
      </p:sp>
      <p:sp>
        <p:nvSpPr>
          <p:cNvPr id="80" name="Text 79">
            <a:extLst>
              <a:ext uri="{FF2B5EF4-FFF2-40B4-BE49-F238E27FC236}">
                <a16:creationId xmlns:a16="http://schemas.microsoft.com/office/drawing/2014/main" id="{0C8EF8D1-A874-412B-949E-0619717CDBA6}"/>
              </a:ext>
            </a:extLst>
          </p:cNvPr>
          <p:cNvSpPr/>
          <p:nvPr/>
        </p:nvSpPr>
        <p:spPr>
          <a:xfrm>
            <a:off x="4599430" y="5271516"/>
            <a:ext cx="618745" cy="73151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Rare classes:</a:t>
            </a:r>
            <a:endParaRPr lang="en-US" sz="900" b="1" dirty="0"/>
          </a:p>
          <a:p>
            <a:pPr algn="ctr"/>
            <a:r>
              <a:rPr sz="900" dirty="0"/>
              <a:t>lower recall</a:t>
            </a:r>
          </a:p>
        </p:txBody>
      </p:sp>
      <p:sp>
        <p:nvSpPr>
          <p:cNvPr id="81" name="Shape 80">
            <a:extLst>
              <a:ext uri="{FF2B5EF4-FFF2-40B4-BE49-F238E27FC236}">
                <a16:creationId xmlns:a16="http://schemas.microsoft.com/office/drawing/2014/main" id="{96CAE97D-1B33-E99E-25A4-EBD61B5FB7BC}"/>
              </a:ext>
            </a:extLst>
          </p:cNvPr>
          <p:cNvSpPr/>
          <p:nvPr/>
        </p:nvSpPr>
        <p:spPr>
          <a:xfrm>
            <a:off x="5326210" y="4770883"/>
            <a:ext cx="493776" cy="0"/>
          </a:xfrm>
          <a:prstGeom prst="line">
            <a:avLst/>
          </a:prstGeom>
          <a:noFill/>
          <a:ln w="2794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45DFF9A-EA73-C1FF-CF02-80C60DEFEA0F}"/>
              </a:ext>
            </a:extLst>
          </p:cNvPr>
          <p:cNvSpPr/>
          <p:nvPr/>
        </p:nvSpPr>
        <p:spPr>
          <a:xfrm>
            <a:off x="5812536" y="493776"/>
            <a:ext cx="1993392" cy="5655564"/>
          </a:xfrm>
          <a:prstGeom prst="roundRect">
            <a:avLst>
              <a:gd name="adj" fmla="val 4587"/>
            </a:avLst>
          </a:prstGeom>
          <a:solidFill>
            <a:srgbClr val="F0FAF7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4B91A21B-6D97-208F-1DF9-1221B5FB7827}"/>
              </a:ext>
            </a:extLst>
          </p:cNvPr>
          <p:cNvSpPr/>
          <p:nvPr/>
        </p:nvSpPr>
        <p:spPr>
          <a:xfrm>
            <a:off x="5812536" y="493776"/>
            <a:ext cx="1993392" cy="310896"/>
          </a:xfrm>
          <a:prstGeom prst="roundRect">
            <a:avLst>
              <a:gd name="adj" fmla="val 29412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34DAC08A-D4AD-0E55-FBD3-261F2AD5D079}"/>
              </a:ext>
            </a:extLst>
          </p:cNvPr>
          <p:cNvSpPr/>
          <p:nvPr/>
        </p:nvSpPr>
        <p:spPr>
          <a:xfrm>
            <a:off x="5812536" y="49377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Preprocessing</a:t>
            </a:r>
            <a:endParaRPr lang="en-US" sz="9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C3325719-2797-EDDA-97A5-5A9904B887CA}"/>
              </a:ext>
            </a:extLst>
          </p:cNvPr>
          <p:cNvSpPr/>
          <p:nvPr/>
        </p:nvSpPr>
        <p:spPr>
          <a:xfrm>
            <a:off x="5574792" y="411480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54624AA2-175C-D612-4697-5C5A21D439FB}"/>
              </a:ext>
            </a:extLst>
          </p:cNvPr>
          <p:cNvSpPr/>
          <p:nvPr/>
        </p:nvSpPr>
        <p:spPr>
          <a:xfrm>
            <a:off x="5574792" y="411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2A5543FE-1F9D-0EAB-75D7-A501B1A30D92}"/>
              </a:ext>
            </a:extLst>
          </p:cNvPr>
          <p:cNvSpPr/>
          <p:nvPr/>
        </p:nvSpPr>
        <p:spPr>
          <a:xfrm>
            <a:off x="5903976" y="896112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4DE86414-FD07-B187-0AB3-14D750E95CF0}"/>
              </a:ext>
            </a:extLst>
          </p:cNvPr>
          <p:cNvSpPr/>
          <p:nvPr/>
        </p:nvSpPr>
        <p:spPr>
          <a:xfrm>
            <a:off x="5958840" y="95097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🖼️ Image Processing</a:t>
            </a:r>
            <a:endParaRPr lang="en-US" sz="900" b="1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036C9BD-CE19-3E36-74F8-09370A931DC5}"/>
              </a:ext>
            </a:extLst>
          </p:cNvPr>
          <p:cNvSpPr/>
          <p:nvPr/>
        </p:nvSpPr>
        <p:spPr>
          <a:xfrm>
            <a:off x="5958840" y="1243584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OWL-ViT processor resize/normalise</a:t>
            </a:r>
            <a:endParaRPr lang="en-US" sz="900" b="1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7592E740-43D7-DDC2-88C8-0540DF10C83A}"/>
              </a:ext>
            </a:extLst>
          </p:cNvPr>
          <p:cNvSpPr/>
          <p:nvPr/>
        </p:nvSpPr>
        <p:spPr>
          <a:xfrm>
            <a:off x="6809232" y="1682496"/>
            <a:ext cx="3048" cy="521208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0467E33-4A6F-B040-B167-4B8F99AE7E02}"/>
              </a:ext>
            </a:extLst>
          </p:cNvPr>
          <p:cNvSpPr/>
          <p:nvPr/>
        </p:nvSpPr>
        <p:spPr>
          <a:xfrm>
            <a:off x="5910579" y="2188464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B320D543-9A48-42C3-DE5F-520CE514665E}"/>
              </a:ext>
            </a:extLst>
          </p:cNvPr>
          <p:cNvSpPr/>
          <p:nvPr/>
        </p:nvSpPr>
        <p:spPr>
          <a:xfrm>
            <a:off x="5965443" y="224332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🏷️ Parse Annotations</a:t>
            </a:r>
            <a:endParaRPr lang="en-US" sz="900" b="1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6DEF51C7-1901-1A47-16D7-E74EA8D87A65}"/>
              </a:ext>
            </a:extLst>
          </p:cNvPr>
          <p:cNvSpPr/>
          <p:nvPr/>
        </p:nvSpPr>
        <p:spPr>
          <a:xfrm>
            <a:off x="5965443" y="25359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category labels + boxes</a:t>
            </a:r>
            <a:endParaRPr lang="en-US" sz="900" b="1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08FA494E-214C-C694-6162-C4A9CB177321}"/>
              </a:ext>
            </a:extLst>
          </p:cNvPr>
          <p:cNvSpPr/>
          <p:nvPr/>
        </p:nvSpPr>
        <p:spPr>
          <a:xfrm>
            <a:off x="6813974" y="2980944"/>
            <a:ext cx="4741" cy="587502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F85A2594-3016-EE42-6C50-6A3D2F0F3EB8}"/>
              </a:ext>
            </a:extLst>
          </p:cNvPr>
          <p:cNvSpPr/>
          <p:nvPr/>
        </p:nvSpPr>
        <p:spPr>
          <a:xfrm>
            <a:off x="5917859" y="3568446"/>
            <a:ext cx="1810512" cy="75209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DB12B3F7-659F-AF77-9E65-314179111A1A}"/>
              </a:ext>
            </a:extLst>
          </p:cNvPr>
          <p:cNvSpPr/>
          <p:nvPr/>
        </p:nvSpPr>
        <p:spPr>
          <a:xfrm>
            <a:off x="5972723" y="358902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✂️ Select Evaluation Subsets</a:t>
            </a:r>
            <a:endParaRPr lang="en-US" sz="900" b="1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8222F47B-4295-CB2D-5BA2-6F21904BBF49}"/>
              </a:ext>
            </a:extLst>
          </p:cNvPr>
          <p:cNvSpPr/>
          <p:nvPr/>
        </p:nvSpPr>
        <p:spPr>
          <a:xfrm>
            <a:off x="5972723" y="3735324"/>
            <a:ext cx="1722461" cy="5852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10</a:t>
            </a:r>
            <a:r>
              <a:rPr sz="900" dirty="0"/>
              <a:t>00 LVIS + </a:t>
            </a:r>
            <a:r>
              <a:rPr lang="en-GB" sz="900" dirty="0"/>
              <a:t>10</a:t>
            </a:r>
            <a:r>
              <a:rPr sz="900" dirty="0"/>
              <a:t>00 COCO images</a:t>
            </a:r>
            <a:endParaRPr lang="en-US" sz="900" dirty="0"/>
          </a:p>
          <a:p>
            <a:pPr algn="ctr"/>
            <a:r>
              <a:rPr sz="900" dirty="0"/>
              <a:t>fixed evaluation protocol</a:t>
            </a:r>
          </a:p>
        </p:txBody>
      </p:sp>
      <p:sp>
        <p:nvSpPr>
          <p:cNvPr id="99" name="Text 99">
            <a:extLst>
              <a:ext uri="{FF2B5EF4-FFF2-40B4-BE49-F238E27FC236}">
                <a16:creationId xmlns:a16="http://schemas.microsoft.com/office/drawing/2014/main" id="{1DBC3A2D-EE3D-1E45-953D-1F5CED39E60A}"/>
              </a:ext>
            </a:extLst>
          </p:cNvPr>
          <p:cNvSpPr/>
          <p:nvPr/>
        </p:nvSpPr>
        <p:spPr>
          <a:xfrm>
            <a:off x="5958840" y="385876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900" b="1" dirty="0"/>
          </a:p>
        </p:txBody>
      </p:sp>
      <p:sp>
        <p:nvSpPr>
          <p:cNvPr id="100" name="Text 100">
            <a:extLst>
              <a:ext uri="{FF2B5EF4-FFF2-40B4-BE49-F238E27FC236}">
                <a16:creationId xmlns:a16="http://schemas.microsoft.com/office/drawing/2014/main" id="{A880CC9B-A98D-A745-4B79-589E4F84FA9B}"/>
              </a:ext>
            </a:extLst>
          </p:cNvPr>
          <p:cNvSpPr/>
          <p:nvPr/>
        </p:nvSpPr>
        <p:spPr>
          <a:xfrm>
            <a:off x="6016752" y="3904488"/>
            <a:ext cx="1642872" cy="5760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900" b="1" dirty="0"/>
          </a:p>
        </p:txBody>
      </p:sp>
      <p:sp>
        <p:nvSpPr>
          <p:cNvPr id="101" name="Shape 101">
            <a:extLst>
              <a:ext uri="{FF2B5EF4-FFF2-40B4-BE49-F238E27FC236}">
                <a16:creationId xmlns:a16="http://schemas.microsoft.com/office/drawing/2014/main" id="{AF3EC22F-40A0-9F8B-A9FE-BA29FC98B819}"/>
              </a:ext>
            </a:extLst>
          </p:cNvPr>
          <p:cNvSpPr/>
          <p:nvPr/>
        </p:nvSpPr>
        <p:spPr>
          <a:xfrm>
            <a:off x="6815330" y="4328329"/>
            <a:ext cx="0" cy="514604"/>
          </a:xfrm>
          <a:prstGeom prst="line">
            <a:avLst/>
          </a:prstGeom>
          <a:noFill/>
          <a:ln w="25400">
            <a:solidFill>
              <a:srgbClr val="00796B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02" name="Shape 102">
            <a:extLst>
              <a:ext uri="{FF2B5EF4-FFF2-40B4-BE49-F238E27FC236}">
                <a16:creationId xmlns:a16="http://schemas.microsoft.com/office/drawing/2014/main" id="{11A1EBAD-7C6C-5012-148D-C0732BB3EA60}"/>
              </a:ext>
            </a:extLst>
          </p:cNvPr>
          <p:cNvSpPr/>
          <p:nvPr/>
        </p:nvSpPr>
        <p:spPr>
          <a:xfrm>
            <a:off x="5910073" y="4850892"/>
            <a:ext cx="18105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03" name="Text 103">
            <a:extLst>
              <a:ext uri="{FF2B5EF4-FFF2-40B4-BE49-F238E27FC236}">
                <a16:creationId xmlns:a16="http://schemas.microsoft.com/office/drawing/2014/main" id="{FF97BFDC-68CB-D978-7D08-45AA5B7C8A52}"/>
              </a:ext>
            </a:extLst>
          </p:cNvPr>
          <p:cNvSpPr/>
          <p:nvPr/>
        </p:nvSpPr>
        <p:spPr>
          <a:xfrm>
            <a:off x="5964937" y="490575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🔒 Long-tail Groups</a:t>
            </a:r>
            <a:endParaRPr lang="en-US" sz="900" b="1" dirty="0"/>
          </a:p>
        </p:txBody>
      </p:sp>
      <p:sp>
        <p:nvSpPr>
          <p:cNvPr id="104" name="Text 104">
            <a:extLst>
              <a:ext uri="{FF2B5EF4-FFF2-40B4-BE49-F238E27FC236}">
                <a16:creationId xmlns:a16="http://schemas.microsoft.com/office/drawing/2014/main" id="{B82B4520-0935-8892-96D7-CF6B7FCA44E6}"/>
              </a:ext>
            </a:extLst>
          </p:cNvPr>
          <p:cNvSpPr/>
          <p:nvPr/>
        </p:nvSpPr>
        <p:spPr>
          <a:xfrm>
            <a:off x="5964937" y="5198364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LVIS rare/common/frequent metadata</a:t>
            </a:r>
            <a:endParaRPr lang="en-US" sz="900" b="1" dirty="0"/>
          </a:p>
        </p:txBody>
      </p:sp>
      <p:sp>
        <p:nvSpPr>
          <p:cNvPr id="105" name="Shape 105">
            <a:extLst>
              <a:ext uri="{FF2B5EF4-FFF2-40B4-BE49-F238E27FC236}">
                <a16:creationId xmlns:a16="http://schemas.microsoft.com/office/drawing/2014/main" id="{20974FBF-9DE1-9CC6-F711-2B232DEC9FC4}"/>
              </a:ext>
            </a:extLst>
          </p:cNvPr>
          <p:cNvSpPr/>
          <p:nvPr/>
        </p:nvSpPr>
        <p:spPr>
          <a:xfrm flipV="1">
            <a:off x="7823777" y="2923667"/>
            <a:ext cx="304310" cy="1663"/>
          </a:xfrm>
          <a:prstGeom prst="line">
            <a:avLst/>
          </a:prstGeom>
          <a:noFill/>
          <a:ln w="2794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06" name="Shape 107">
            <a:extLst>
              <a:ext uri="{FF2B5EF4-FFF2-40B4-BE49-F238E27FC236}">
                <a16:creationId xmlns:a16="http://schemas.microsoft.com/office/drawing/2014/main" id="{EBC4BBE3-DA0F-BE86-9542-D6D48DB749FE}"/>
              </a:ext>
            </a:extLst>
          </p:cNvPr>
          <p:cNvSpPr/>
          <p:nvPr/>
        </p:nvSpPr>
        <p:spPr>
          <a:xfrm>
            <a:off x="8156447" y="457200"/>
            <a:ext cx="1828795" cy="2980944"/>
          </a:xfrm>
          <a:prstGeom prst="roundRect">
            <a:avLst>
              <a:gd name="adj" fmla="val 5000"/>
            </a:avLst>
          </a:prstGeom>
          <a:solidFill>
            <a:srgbClr val="F5EE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07" name="Shape 108">
            <a:extLst>
              <a:ext uri="{FF2B5EF4-FFF2-40B4-BE49-F238E27FC236}">
                <a16:creationId xmlns:a16="http://schemas.microsoft.com/office/drawing/2014/main" id="{992347F6-1971-5245-09FA-BFE542DF928A}"/>
              </a:ext>
            </a:extLst>
          </p:cNvPr>
          <p:cNvSpPr/>
          <p:nvPr/>
        </p:nvSpPr>
        <p:spPr>
          <a:xfrm>
            <a:off x="8156447" y="45720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08" name="Text 109">
            <a:extLst>
              <a:ext uri="{FF2B5EF4-FFF2-40B4-BE49-F238E27FC236}">
                <a16:creationId xmlns:a16="http://schemas.microsoft.com/office/drawing/2014/main" id="{DC2FEB00-7E29-AE8F-C788-26CB740EFF17}"/>
              </a:ext>
            </a:extLst>
          </p:cNvPr>
          <p:cNvSpPr/>
          <p:nvPr/>
        </p:nvSpPr>
        <p:spPr>
          <a:xfrm>
            <a:off x="8156447" y="457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Prompt Generation</a:t>
            </a:r>
            <a:endParaRPr lang="en-US" sz="900" dirty="0"/>
          </a:p>
        </p:txBody>
      </p:sp>
      <p:sp>
        <p:nvSpPr>
          <p:cNvPr id="109" name="Shape 110">
            <a:extLst>
              <a:ext uri="{FF2B5EF4-FFF2-40B4-BE49-F238E27FC236}">
                <a16:creationId xmlns:a16="http://schemas.microsoft.com/office/drawing/2014/main" id="{F7B6A692-00B2-4ACF-364E-F8A0B555146D}"/>
              </a:ext>
            </a:extLst>
          </p:cNvPr>
          <p:cNvSpPr/>
          <p:nvPr/>
        </p:nvSpPr>
        <p:spPr>
          <a:xfrm>
            <a:off x="7918703" y="37490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11" name="Text 111">
            <a:extLst>
              <a:ext uri="{FF2B5EF4-FFF2-40B4-BE49-F238E27FC236}">
                <a16:creationId xmlns:a16="http://schemas.microsoft.com/office/drawing/2014/main" id="{81A7DE51-5190-95F7-852B-F5C641F77EFE}"/>
              </a:ext>
            </a:extLst>
          </p:cNvPr>
          <p:cNvSpPr/>
          <p:nvPr/>
        </p:nvSpPr>
        <p:spPr>
          <a:xfrm>
            <a:off x="7918703" y="374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12" name="Shape 112">
            <a:extLst>
              <a:ext uri="{FF2B5EF4-FFF2-40B4-BE49-F238E27FC236}">
                <a16:creationId xmlns:a16="http://schemas.microsoft.com/office/drawing/2014/main" id="{2ABA62D8-1A2D-845B-08D5-0AFFC3A367CE}"/>
              </a:ext>
            </a:extLst>
          </p:cNvPr>
          <p:cNvSpPr/>
          <p:nvPr/>
        </p:nvSpPr>
        <p:spPr>
          <a:xfrm>
            <a:off x="8223249" y="834131"/>
            <a:ext cx="1682496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13" name="Text 113">
            <a:extLst>
              <a:ext uri="{FF2B5EF4-FFF2-40B4-BE49-F238E27FC236}">
                <a16:creationId xmlns:a16="http://schemas.microsoft.com/office/drawing/2014/main" id="{05B1D741-EC1E-8D65-BC24-F7AF4B8619F9}"/>
              </a:ext>
            </a:extLst>
          </p:cNvPr>
          <p:cNvSpPr/>
          <p:nvPr/>
        </p:nvSpPr>
        <p:spPr>
          <a:xfrm>
            <a:off x="8296655" y="877824"/>
            <a:ext cx="1560576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🌳 WordNet</a:t>
            </a:r>
            <a:endParaRPr lang="en-US" sz="900" b="1" dirty="0"/>
          </a:p>
        </p:txBody>
      </p:sp>
      <p:sp>
        <p:nvSpPr>
          <p:cNvPr id="114" name="Text 114">
            <a:extLst>
              <a:ext uri="{FF2B5EF4-FFF2-40B4-BE49-F238E27FC236}">
                <a16:creationId xmlns:a16="http://schemas.microsoft.com/office/drawing/2014/main" id="{AF849496-2CFD-751B-75E7-404E901C8A92}"/>
              </a:ext>
            </a:extLst>
          </p:cNvPr>
          <p:cNvSpPr/>
          <p:nvPr/>
        </p:nvSpPr>
        <p:spPr>
          <a:xfrm>
            <a:off x="8284463" y="982976"/>
            <a:ext cx="1572768" cy="36982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900" dirty="0"/>
              <a:t>WordNet semantic variants and related terms</a:t>
            </a:r>
            <a:endParaRPr lang="en-US" sz="900" b="1" dirty="0"/>
          </a:p>
        </p:txBody>
      </p:sp>
      <p:sp>
        <p:nvSpPr>
          <p:cNvPr id="115" name="Shape 115">
            <a:extLst>
              <a:ext uri="{FF2B5EF4-FFF2-40B4-BE49-F238E27FC236}">
                <a16:creationId xmlns:a16="http://schemas.microsoft.com/office/drawing/2014/main" id="{7F2B7CFB-34E9-DA09-5FFC-397A350B3414}"/>
              </a:ext>
            </a:extLst>
          </p:cNvPr>
          <p:cNvSpPr/>
          <p:nvPr/>
        </p:nvSpPr>
        <p:spPr>
          <a:xfrm>
            <a:off x="9070847" y="1426464"/>
            <a:ext cx="0" cy="146304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16" name="Shape 116">
            <a:extLst>
              <a:ext uri="{FF2B5EF4-FFF2-40B4-BE49-F238E27FC236}">
                <a16:creationId xmlns:a16="http://schemas.microsoft.com/office/drawing/2014/main" id="{70E06D79-BF49-C5EB-6260-8C5D174526E3}"/>
              </a:ext>
            </a:extLst>
          </p:cNvPr>
          <p:cNvSpPr/>
          <p:nvPr/>
        </p:nvSpPr>
        <p:spPr>
          <a:xfrm>
            <a:off x="8229599" y="1591056"/>
            <a:ext cx="1682496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17" name="Text 117">
            <a:extLst>
              <a:ext uri="{FF2B5EF4-FFF2-40B4-BE49-F238E27FC236}">
                <a16:creationId xmlns:a16="http://schemas.microsoft.com/office/drawing/2014/main" id="{1C25C1A2-D0C7-12CF-3467-A563ED93561A}"/>
              </a:ext>
            </a:extLst>
          </p:cNvPr>
          <p:cNvSpPr/>
          <p:nvPr/>
        </p:nvSpPr>
        <p:spPr>
          <a:xfrm>
            <a:off x="8284463" y="162763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🧩 Prompt templates</a:t>
            </a:r>
            <a:endParaRPr lang="en-US" sz="900" b="1" dirty="0"/>
          </a:p>
        </p:txBody>
      </p:sp>
      <p:sp>
        <p:nvSpPr>
          <p:cNvPr id="118" name="Text 118">
            <a:extLst>
              <a:ext uri="{FF2B5EF4-FFF2-40B4-BE49-F238E27FC236}">
                <a16:creationId xmlns:a16="http://schemas.microsoft.com/office/drawing/2014/main" id="{B05EF4F5-593B-9973-669F-C8F611E1BD04}"/>
              </a:ext>
            </a:extLst>
          </p:cNvPr>
          <p:cNvSpPr/>
          <p:nvPr/>
        </p:nvSpPr>
        <p:spPr>
          <a:xfrm>
            <a:off x="8278367" y="1815084"/>
            <a:ext cx="1610700" cy="3063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attributes · contexts · descriptions</a:t>
            </a:r>
            <a:endParaRPr lang="en-US" sz="900" b="1" dirty="0"/>
          </a:p>
        </p:txBody>
      </p:sp>
      <p:sp>
        <p:nvSpPr>
          <p:cNvPr id="119" name="Shape 119">
            <a:extLst>
              <a:ext uri="{FF2B5EF4-FFF2-40B4-BE49-F238E27FC236}">
                <a16:creationId xmlns:a16="http://schemas.microsoft.com/office/drawing/2014/main" id="{150E3BCB-CCBA-1210-83C8-4756A42D61CD}"/>
              </a:ext>
            </a:extLst>
          </p:cNvPr>
          <p:cNvSpPr/>
          <p:nvPr/>
        </p:nvSpPr>
        <p:spPr>
          <a:xfrm>
            <a:off x="9070847" y="2176272"/>
            <a:ext cx="0" cy="146304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0" name="Shape 120">
            <a:extLst>
              <a:ext uri="{FF2B5EF4-FFF2-40B4-BE49-F238E27FC236}">
                <a16:creationId xmlns:a16="http://schemas.microsoft.com/office/drawing/2014/main" id="{3E96CA56-C207-9792-B92C-CCB4E0977CA6}"/>
              </a:ext>
            </a:extLst>
          </p:cNvPr>
          <p:cNvSpPr/>
          <p:nvPr/>
        </p:nvSpPr>
        <p:spPr>
          <a:xfrm>
            <a:off x="8224858" y="2340864"/>
            <a:ext cx="1717473" cy="987552"/>
          </a:xfrm>
          <a:prstGeom prst="roundRect">
            <a:avLst>
              <a:gd name="adj" fmla="val 6557"/>
            </a:avLst>
          </a:prstGeom>
          <a:solidFill>
            <a:srgbClr val="EDE7F6"/>
          </a:solidFill>
          <a:ln w="1778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1" name="Text 121">
            <a:extLst>
              <a:ext uri="{FF2B5EF4-FFF2-40B4-BE49-F238E27FC236}">
                <a16:creationId xmlns:a16="http://schemas.microsoft.com/office/drawing/2014/main" id="{BDBEAF79-5768-3800-F4B8-6F3A833B8953}"/>
              </a:ext>
            </a:extLst>
          </p:cNvPr>
          <p:cNvSpPr/>
          <p:nvPr/>
        </p:nvSpPr>
        <p:spPr>
          <a:xfrm>
            <a:off x="8284463" y="237744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Prompt Pool</a:t>
            </a:r>
            <a:endParaRPr lang="en-US" sz="900" b="1" dirty="0"/>
          </a:p>
        </p:txBody>
      </p:sp>
      <p:sp>
        <p:nvSpPr>
          <p:cNvPr id="122" name="Shape 122">
            <a:extLst>
              <a:ext uri="{FF2B5EF4-FFF2-40B4-BE49-F238E27FC236}">
                <a16:creationId xmlns:a16="http://schemas.microsoft.com/office/drawing/2014/main" id="{0BB26012-FED2-D7B7-29B4-3DC2B103F656}"/>
              </a:ext>
            </a:extLst>
          </p:cNvPr>
          <p:cNvSpPr/>
          <p:nvPr/>
        </p:nvSpPr>
        <p:spPr>
          <a:xfrm>
            <a:off x="8266175" y="2615184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3" name="Text 123">
            <a:extLst>
              <a:ext uri="{FF2B5EF4-FFF2-40B4-BE49-F238E27FC236}">
                <a16:creationId xmlns:a16="http://schemas.microsoft.com/office/drawing/2014/main" id="{E37E902C-C912-15E1-7578-58925B6BFBE7}"/>
              </a:ext>
            </a:extLst>
          </p:cNvPr>
          <p:cNvSpPr/>
          <p:nvPr/>
        </p:nvSpPr>
        <p:spPr>
          <a:xfrm>
            <a:off x="8266175" y="261518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/>
              <a:t>airplane</a:t>
            </a:r>
            <a:endParaRPr lang="en-US" sz="600" b="1" dirty="0"/>
          </a:p>
        </p:txBody>
      </p:sp>
      <p:sp>
        <p:nvSpPr>
          <p:cNvPr id="124" name="Shape 124">
            <a:extLst>
              <a:ext uri="{FF2B5EF4-FFF2-40B4-BE49-F238E27FC236}">
                <a16:creationId xmlns:a16="http://schemas.microsoft.com/office/drawing/2014/main" id="{BBF8206D-08C9-00A3-D357-AAADA0DC235E}"/>
              </a:ext>
            </a:extLst>
          </p:cNvPr>
          <p:cNvSpPr/>
          <p:nvPr/>
        </p:nvSpPr>
        <p:spPr>
          <a:xfrm>
            <a:off x="8814815" y="2615184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5" name="Text 125">
            <a:extLst>
              <a:ext uri="{FF2B5EF4-FFF2-40B4-BE49-F238E27FC236}">
                <a16:creationId xmlns:a16="http://schemas.microsoft.com/office/drawing/2014/main" id="{1964EEE2-5A19-6131-FCD0-B2E124ACA85A}"/>
              </a:ext>
            </a:extLst>
          </p:cNvPr>
          <p:cNvSpPr/>
          <p:nvPr/>
        </p:nvSpPr>
        <p:spPr>
          <a:xfrm>
            <a:off x="8814815" y="261518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/>
              <a:t>aircraft</a:t>
            </a:r>
            <a:endParaRPr lang="en-US" sz="600" b="1" dirty="0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22AC76E5-8580-BD78-9950-8CB5D6E6A04F}"/>
              </a:ext>
            </a:extLst>
          </p:cNvPr>
          <p:cNvSpPr/>
          <p:nvPr/>
        </p:nvSpPr>
        <p:spPr>
          <a:xfrm>
            <a:off x="9354312" y="2624328"/>
            <a:ext cx="521207" cy="192024"/>
          </a:xfrm>
          <a:prstGeom prst="roundRect">
            <a:avLst>
              <a:gd name="adj" fmla="val 18182"/>
            </a:avLst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7" name="Text 127">
            <a:extLst>
              <a:ext uri="{FF2B5EF4-FFF2-40B4-BE49-F238E27FC236}">
                <a16:creationId xmlns:a16="http://schemas.microsoft.com/office/drawing/2014/main" id="{8831A231-F06A-DDBC-4963-4DD86562E06B}"/>
              </a:ext>
            </a:extLst>
          </p:cNvPr>
          <p:cNvSpPr/>
          <p:nvPr/>
        </p:nvSpPr>
        <p:spPr>
          <a:xfrm>
            <a:off x="9282114" y="2624328"/>
            <a:ext cx="593406" cy="1920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 err="1"/>
              <a:t>aeroplane</a:t>
            </a:r>
            <a:endParaRPr lang="en-US" sz="600" b="1" dirty="0"/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19B8D605-8132-AE70-8FA9-45326FEF6775}"/>
              </a:ext>
            </a:extLst>
          </p:cNvPr>
          <p:cNvSpPr/>
          <p:nvPr/>
        </p:nvSpPr>
        <p:spPr>
          <a:xfrm>
            <a:off x="8266175" y="287121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29" name="Text 129">
            <a:extLst>
              <a:ext uri="{FF2B5EF4-FFF2-40B4-BE49-F238E27FC236}">
                <a16:creationId xmlns:a16="http://schemas.microsoft.com/office/drawing/2014/main" id="{5AD5F16E-0DA1-735C-194E-2500A4086655}"/>
              </a:ext>
            </a:extLst>
          </p:cNvPr>
          <p:cNvSpPr/>
          <p:nvPr/>
        </p:nvSpPr>
        <p:spPr>
          <a:xfrm>
            <a:off x="826617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/>
              <a:t>vehicle</a:t>
            </a:r>
            <a:endParaRPr lang="en-US" sz="600" b="1" dirty="0"/>
          </a:p>
        </p:txBody>
      </p:sp>
      <p:sp>
        <p:nvSpPr>
          <p:cNvPr id="130" name="Shape 130">
            <a:extLst>
              <a:ext uri="{FF2B5EF4-FFF2-40B4-BE49-F238E27FC236}">
                <a16:creationId xmlns:a16="http://schemas.microsoft.com/office/drawing/2014/main" id="{714861EB-8DE7-D0D5-1F79-0F26A00F1D97}"/>
              </a:ext>
            </a:extLst>
          </p:cNvPr>
          <p:cNvSpPr/>
          <p:nvPr/>
        </p:nvSpPr>
        <p:spPr>
          <a:xfrm>
            <a:off x="8819218" y="286207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 dirty="0"/>
          </a:p>
        </p:txBody>
      </p:sp>
      <p:sp>
        <p:nvSpPr>
          <p:cNvPr id="131" name="Text 131">
            <a:extLst>
              <a:ext uri="{FF2B5EF4-FFF2-40B4-BE49-F238E27FC236}">
                <a16:creationId xmlns:a16="http://schemas.microsoft.com/office/drawing/2014/main" id="{1CFB7F60-6DD7-7A75-06CF-992C62BBFAA7}"/>
              </a:ext>
            </a:extLst>
          </p:cNvPr>
          <p:cNvSpPr/>
          <p:nvPr/>
        </p:nvSpPr>
        <p:spPr>
          <a:xfrm>
            <a:off x="881481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/>
              <a:t>visible airplane</a:t>
            </a:r>
            <a:endParaRPr lang="en-US" sz="600" b="1" dirty="0"/>
          </a:p>
        </p:txBody>
      </p:sp>
      <p:sp>
        <p:nvSpPr>
          <p:cNvPr id="132" name="Shape 132">
            <a:extLst>
              <a:ext uri="{FF2B5EF4-FFF2-40B4-BE49-F238E27FC236}">
                <a16:creationId xmlns:a16="http://schemas.microsoft.com/office/drawing/2014/main" id="{53E01387-753A-1426-9D8E-A579DDA150A1}"/>
              </a:ext>
            </a:extLst>
          </p:cNvPr>
          <p:cNvSpPr/>
          <p:nvPr/>
        </p:nvSpPr>
        <p:spPr>
          <a:xfrm>
            <a:off x="9363455" y="287121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33" name="Text 133">
            <a:extLst>
              <a:ext uri="{FF2B5EF4-FFF2-40B4-BE49-F238E27FC236}">
                <a16:creationId xmlns:a16="http://schemas.microsoft.com/office/drawing/2014/main" id="{A4D3B006-BC5C-9716-CB4D-F269D33F0E86}"/>
              </a:ext>
            </a:extLst>
          </p:cNvPr>
          <p:cNvSpPr/>
          <p:nvPr/>
        </p:nvSpPr>
        <p:spPr>
          <a:xfrm>
            <a:off x="9363455" y="287121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600" dirty="0"/>
              <a:t>photo of airplane</a:t>
            </a:r>
            <a:endParaRPr lang="en-US" sz="600" b="1" dirty="0"/>
          </a:p>
        </p:txBody>
      </p:sp>
      <p:sp>
        <p:nvSpPr>
          <p:cNvPr id="134" name="Text 134">
            <a:extLst>
              <a:ext uri="{FF2B5EF4-FFF2-40B4-BE49-F238E27FC236}">
                <a16:creationId xmlns:a16="http://schemas.microsoft.com/office/drawing/2014/main" id="{F5B9DBEE-F271-8354-4596-1ADD5C9E5A42}"/>
              </a:ext>
            </a:extLst>
          </p:cNvPr>
          <p:cNvSpPr/>
          <p:nvPr/>
        </p:nvSpPr>
        <p:spPr>
          <a:xfrm>
            <a:off x="8270664" y="3090673"/>
            <a:ext cx="1605703" cy="215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800" dirty="0"/>
              <a:t>multi-prompt evidence per category</a:t>
            </a:r>
            <a:endParaRPr lang="en-US" sz="800" b="1" dirty="0"/>
          </a:p>
        </p:txBody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769C81F4-0497-372D-8C01-4FB575C4BBE3}"/>
              </a:ext>
            </a:extLst>
          </p:cNvPr>
          <p:cNvSpPr/>
          <p:nvPr/>
        </p:nvSpPr>
        <p:spPr>
          <a:xfrm>
            <a:off x="8156447" y="3639312"/>
            <a:ext cx="1828800" cy="2510028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36" name="Shape 136">
            <a:extLst>
              <a:ext uri="{FF2B5EF4-FFF2-40B4-BE49-F238E27FC236}">
                <a16:creationId xmlns:a16="http://schemas.microsoft.com/office/drawing/2014/main" id="{66D34B15-D653-4006-B382-D3500E8B7288}"/>
              </a:ext>
            </a:extLst>
          </p:cNvPr>
          <p:cNvSpPr/>
          <p:nvPr/>
        </p:nvSpPr>
        <p:spPr>
          <a:xfrm>
            <a:off x="8158775" y="3641469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37" name="Text 137">
            <a:extLst>
              <a:ext uri="{FF2B5EF4-FFF2-40B4-BE49-F238E27FC236}">
                <a16:creationId xmlns:a16="http://schemas.microsoft.com/office/drawing/2014/main" id="{2D9CD93A-7FEF-9B0F-D562-AC578FB6562B}"/>
              </a:ext>
            </a:extLst>
          </p:cNvPr>
          <p:cNvSpPr/>
          <p:nvPr/>
        </p:nvSpPr>
        <p:spPr>
          <a:xfrm>
            <a:off x="8156447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 dirty="0"/>
              <a:t>OWL-</a:t>
            </a:r>
            <a:r>
              <a:rPr sz="900" b="1" dirty="0" err="1"/>
              <a:t>ViT</a:t>
            </a:r>
            <a:r>
              <a:rPr sz="900" b="1" dirty="0"/>
              <a:t> </a:t>
            </a:r>
            <a:r>
              <a:rPr lang="en-GB" sz="900" b="1" dirty="0"/>
              <a:t>Detection</a:t>
            </a:r>
            <a:endParaRPr lang="en-US" sz="900" b="1" dirty="0"/>
          </a:p>
        </p:txBody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BED9F51C-5C51-9872-299C-9DB19B7AAC6B}"/>
              </a:ext>
            </a:extLst>
          </p:cNvPr>
          <p:cNvSpPr/>
          <p:nvPr/>
        </p:nvSpPr>
        <p:spPr>
          <a:xfrm>
            <a:off x="7909559" y="3575304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39" name="Text 139">
            <a:extLst>
              <a:ext uri="{FF2B5EF4-FFF2-40B4-BE49-F238E27FC236}">
                <a16:creationId xmlns:a16="http://schemas.microsoft.com/office/drawing/2014/main" id="{C6774A12-1E7A-A011-CE02-03F85DBA0837}"/>
              </a:ext>
            </a:extLst>
          </p:cNvPr>
          <p:cNvSpPr/>
          <p:nvPr/>
        </p:nvSpPr>
        <p:spPr>
          <a:xfrm>
            <a:off x="7918703" y="35570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b="1" dirty="0"/>
          </a:p>
        </p:txBody>
      </p:sp>
      <p:sp>
        <p:nvSpPr>
          <p:cNvPr id="140" name="Shape 140">
            <a:extLst>
              <a:ext uri="{FF2B5EF4-FFF2-40B4-BE49-F238E27FC236}">
                <a16:creationId xmlns:a16="http://schemas.microsoft.com/office/drawing/2014/main" id="{00FC9927-16D5-43F7-7EAD-31912D51E1EF}"/>
              </a:ext>
            </a:extLst>
          </p:cNvPr>
          <p:cNvSpPr/>
          <p:nvPr/>
        </p:nvSpPr>
        <p:spPr>
          <a:xfrm>
            <a:off x="8220455" y="4050792"/>
            <a:ext cx="16824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41" name="Text 141">
            <a:extLst>
              <a:ext uri="{FF2B5EF4-FFF2-40B4-BE49-F238E27FC236}">
                <a16:creationId xmlns:a16="http://schemas.microsoft.com/office/drawing/2014/main" id="{32A1372A-04FD-813A-81B9-C7AD03396771}"/>
              </a:ext>
            </a:extLst>
          </p:cNvPr>
          <p:cNvSpPr/>
          <p:nvPr/>
        </p:nvSpPr>
        <p:spPr>
          <a:xfrm>
            <a:off x="8284463" y="405993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👁 Image pathway</a:t>
            </a:r>
            <a:endParaRPr lang="en-US" sz="900" b="1" dirty="0"/>
          </a:p>
        </p:txBody>
      </p:sp>
      <p:sp>
        <p:nvSpPr>
          <p:cNvPr id="142" name="Text 142">
            <a:extLst>
              <a:ext uri="{FF2B5EF4-FFF2-40B4-BE49-F238E27FC236}">
                <a16:creationId xmlns:a16="http://schemas.microsoft.com/office/drawing/2014/main" id="{B4FF9AC1-7FAB-EF96-0480-FB8C39C84423}"/>
              </a:ext>
            </a:extLst>
          </p:cNvPr>
          <p:cNvSpPr/>
          <p:nvPr/>
        </p:nvSpPr>
        <p:spPr>
          <a:xfrm>
            <a:off x="8284463" y="42976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zero-shot detection features</a:t>
            </a:r>
            <a:endParaRPr lang="en-US" sz="900" b="1" dirty="0"/>
          </a:p>
        </p:txBody>
      </p:sp>
      <p:sp>
        <p:nvSpPr>
          <p:cNvPr id="143" name="Shape 143">
            <a:extLst>
              <a:ext uri="{FF2B5EF4-FFF2-40B4-BE49-F238E27FC236}">
                <a16:creationId xmlns:a16="http://schemas.microsoft.com/office/drawing/2014/main" id="{7C2F91FB-0765-553A-2F70-66B770742827}"/>
              </a:ext>
            </a:extLst>
          </p:cNvPr>
          <p:cNvSpPr/>
          <p:nvPr/>
        </p:nvSpPr>
        <p:spPr>
          <a:xfrm>
            <a:off x="9070847" y="4681728"/>
            <a:ext cx="0" cy="146304"/>
          </a:xfrm>
          <a:prstGeom prst="line">
            <a:avLst/>
          </a:prstGeom>
          <a:noFill/>
          <a:ln w="25400">
            <a:solidFill>
              <a:srgbClr val="BF360C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7ADBA7AF-52BD-826F-D917-9F5B7631C576}"/>
              </a:ext>
            </a:extLst>
          </p:cNvPr>
          <p:cNvSpPr/>
          <p:nvPr/>
        </p:nvSpPr>
        <p:spPr>
          <a:xfrm>
            <a:off x="8229599" y="4846320"/>
            <a:ext cx="16824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7780">
            <a:solidFill>
              <a:srgbClr val="E64A19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45" name="Text 145">
            <a:extLst>
              <a:ext uri="{FF2B5EF4-FFF2-40B4-BE49-F238E27FC236}">
                <a16:creationId xmlns:a16="http://schemas.microsoft.com/office/drawing/2014/main" id="{064F44FD-E441-C893-1F15-643BB1A466FE}"/>
              </a:ext>
            </a:extLst>
          </p:cNvPr>
          <p:cNvSpPr/>
          <p:nvPr/>
        </p:nvSpPr>
        <p:spPr>
          <a:xfrm>
            <a:off x="8284463" y="4882896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📝 Text pathway</a:t>
            </a:r>
            <a:endParaRPr lang="en-US" sz="900" b="1" dirty="0"/>
          </a:p>
        </p:txBody>
      </p:sp>
      <p:sp>
        <p:nvSpPr>
          <p:cNvPr id="146" name="Text 146">
            <a:extLst>
              <a:ext uri="{FF2B5EF4-FFF2-40B4-BE49-F238E27FC236}">
                <a16:creationId xmlns:a16="http://schemas.microsoft.com/office/drawing/2014/main" id="{0EEE6374-A31D-46AE-42BB-332B359DC2B9}"/>
              </a:ext>
            </a:extLst>
          </p:cNvPr>
          <p:cNvSpPr/>
          <p:nvPr/>
        </p:nvSpPr>
        <p:spPr>
          <a:xfrm>
            <a:off x="8284463" y="51206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per-prompt text evidence</a:t>
            </a:r>
            <a:endParaRPr lang="en-US" sz="900" b="1" dirty="0"/>
          </a:p>
        </p:txBody>
      </p:sp>
      <p:sp>
        <p:nvSpPr>
          <p:cNvPr id="147" name="Shape 147">
            <a:extLst>
              <a:ext uri="{FF2B5EF4-FFF2-40B4-BE49-F238E27FC236}">
                <a16:creationId xmlns:a16="http://schemas.microsoft.com/office/drawing/2014/main" id="{D69698CD-A58A-8194-43DF-BEFFE6D7FFFD}"/>
              </a:ext>
            </a:extLst>
          </p:cNvPr>
          <p:cNvSpPr/>
          <p:nvPr/>
        </p:nvSpPr>
        <p:spPr>
          <a:xfrm>
            <a:off x="9070847" y="5504688"/>
            <a:ext cx="0" cy="128016"/>
          </a:xfrm>
          <a:prstGeom prst="line">
            <a:avLst/>
          </a:prstGeom>
          <a:noFill/>
          <a:ln w="25400">
            <a:solidFill>
              <a:srgbClr val="E64A19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48" name="Shape 148">
            <a:extLst>
              <a:ext uri="{FF2B5EF4-FFF2-40B4-BE49-F238E27FC236}">
                <a16:creationId xmlns:a16="http://schemas.microsoft.com/office/drawing/2014/main" id="{8DE2F8FB-4997-9721-61DD-229D59A4852C}"/>
              </a:ext>
            </a:extLst>
          </p:cNvPr>
          <p:cNvSpPr/>
          <p:nvPr/>
        </p:nvSpPr>
        <p:spPr>
          <a:xfrm>
            <a:off x="8229599" y="5650992"/>
            <a:ext cx="1682496" cy="329184"/>
          </a:xfrm>
          <a:prstGeom prst="roundRect">
            <a:avLst>
              <a:gd name="adj" fmla="val 16667"/>
            </a:avLst>
          </a:prstGeom>
          <a:solidFill>
            <a:srgbClr val="FFE0CC"/>
          </a:solidFill>
          <a:ln w="1778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49" name="Text 149">
            <a:extLst>
              <a:ext uri="{FF2B5EF4-FFF2-40B4-BE49-F238E27FC236}">
                <a16:creationId xmlns:a16="http://schemas.microsoft.com/office/drawing/2014/main" id="{3EA9FA6D-2E49-B33A-718C-8DE15B641445}"/>
              </a:ext>
            </a:extLst>
          </p:cNvPr>
          <p:cNvSpPr/>
          <p:nvPr/>
        </p:nvSpPr>
        <p:spPr>
          <a:xfrm>
            <a:off x="8175412" y="5609844"/>
            <a:ext cx="1736683" cy="3703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dirty="0"/>
              <a:t>Prompt–image matching → scores</a:t>
            </a:r>
            <a:endParaRPr lang="en-US" sz="900" b="1" dirty="0"/>
          </a:p>
        </p:txBody>
      </p:sp>
      <p:sp>
        <p:nvSpPr>
          <p:cNvPr id="150" name="Shape 150">
            <a:extLst>
              <a:ext uri="{FF2B5EF4-FFF2-40B4-BE49-F238E27FC236}">
                <a16:creationId xmlns:a16="http://schemas.microsoft.com/office/drawing/2014/main" id="{11905065-A9EE-EB80-F8EA-9CA74FF8076D}"/>
              </a:ext>
            </a:extLst>
          </p:cNvPr>
          <p:cNvSpPr/>
          <p:nvPr/>
        </p:nvSpPr>
        <p:spPr>
          <a:xfrm>
            <a:off x="10329672" y="493776"/>
            <a:ext cx="1712972" cy="2935224"/>
          </a:xfrm>
          <a:prstGeom prst="roundRect">
            <a:avLst>
              <a:gd name="adj" fmla="val 5102"/>
            </a:avLst>
          </a:prstGeom>
          <a:solidFill>
            <a:srgbClr val="FFF8FF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51" name="Shape 151">
            <a:extLst>
              <a:ext uri="{FF2B5EF4-FFF2-40B4-BE49-F238E27FC236}">
                <a16:creationId xmlns:a16="http://schemas.microsoft.com/office/drawing/2014/main" id="{94D22F19-34CE-7BDA-D3AE-A5711F34C130}"/>
              </a:ext>
            </a:extLst>
          </p:cNvPr>
          <p:cNvSpPr/>
          <p:nvPr/>
        </p:nvSpPr>
        <p:spPr>
          <a:xfrm>
            <a:off x="10265018" y="502920"/>
            <a:ext cx="1792224" cy="310896"/>
          </a:xfrm>
          <a:prstGeom prst="roundRect">
            <a:avLst>
              <a:gd name="adj" fmla="val 29412"/>
            </a:avLst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52" name="Text 152">
            <a:extLst>
              <a:ext uri="{FF2B5EF4-FFF2-40B4-BE49-F238E27FC236}">
                <a16:creationId xmlns:a16="http://schemas.microsoft.com/office/drawing/2014/main" id="{45B91AED-2F00-CFA7-1C60-337BC75F5034}"/>
              </a:ext>
            </a:extLst>
          </p:cNvPr>
          <p:cNvSpPr/>
          <p:nvPr/>
        </p:nvSpPr>
        <p:spPr>
          <a:xfrm>
            <a:off x="10329672" y="493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/>
              <a:t>Semantic Fusion + Aggregation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3" name="Shape 153">
            <a:extLst>
              <a:ext uri="{FF2B5EF4-FFF2-40B4-BE49-F238E27FC236}">
                <a16:creationId xmlns:a16="http://schemas.microsoft.com/office/drawing/2014/main" id="{A82D51C2-ED26-E423-F416-E66D68EC79C5}"/>
              </a:ext>
            </a:extLst>
          </p:cNvPr>
          <p:cNvSpPr/>
          <p:nvPr/>
        </p:nvSpPr>
        <p:spPr>
          <a:xfrm>
            <a:off x="9972959" y="257638"/>
            <a:ext cx="475487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/>
          </a:p>
        </p:txBody>
      </p:sp>
      <p:sp>
        <p:nvSpPr>
          <p:cNvPr id="154" name="Text 154">
            <a:extLst>
              <a:ext uri="{FF2B5EF4-FFF2-40B4-BE49-F238E27FC236}">
                <a16:creationId xmlns:a16="http://schemas.microsoft.com/office/drawing/2014/main" id="{CB10EA42-EA97-50B8-7EA6-D44B6DA1857D}"/>
              </a:ext>
            </a:extLst>
          </p:cNvPr>
          <p:cNvSpPr/>
          <p:nvPr/>
        </p:nvSpPr>
        <p:spPr>
          <a:xfrm>
            <a:off x="9850967" y="270509"/>
            <a:ext cx="726440" cy="49149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155" name="Shape 155">
            <a:extLst>
              <a:ext uri="{FF2B5EF4-FFF2-40B4-BE49-F238E27FC236}">
                <a16:creationId xmlns:a16="http://schemas.microsoft.com/office/drawing/2014/main" id="{9F22F18D-8DE0-CAD8-5252-525C643CBDBF}"/>
              </a:ext>
            </a:extLst>
          </p:cNvPr>
          <p:cNvSpPr/>
          <p:nvPr/>
        </p:nvSpPr>
        <p:spPr>
          <a:xfrm>
            <a:off x="10402824" y="89611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56" name="Text 156">
            <a:extLst>
              <a:ext uri="{FF2B5EF4-FFF2-40B4-BE49-F238E27FC236}">
                <a16:creationId xmlns:a16="http://schemas.microsoft.com/office/drawing/2014/main" id="{A4E01CB0-5CA3-406D-AB49-C44DB0A3F1A2}"/>
              </a:ext>
            </a:extLst>
          </p:cNvPr>
          <p:cNvSpPr/>
          <p:nvPr/>
        </p:nvSpPr>
        <p:spPr>
          <a:xfrm>
            <a:off x="10402824" y="89611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Mean</a:t>
            </a:r>
            <a:endParaRPr lang="en-US" sz="900" b="1" dirty="0"/>
          </a:p>
        </p:txBody>
      </p:sp>
      <p:sp>
        <p:nvSpPr>
          <p:cNvPr id="157" name="Shape 157">
            <a:extLst>
              <a:ext uri="{FF2B5EF4-FFF2-40B4-BE49-F238E27FC236}">
                <a16:creationId xmlns:a16="http://schemas.microsoft.com/office/drawing/2014/main" id="{5C7E725C-0589-F4B9-19E4-343013CDEE90}"/>
              </a:ext>
            </a:extLst>
          </p:cNvPr>
          <p:cNvSpPr/>
          <p:nvPr/>
        </p:nvSpPr>
        <p:spPr>
          <a:xfrm>
            <a:off x="10402824" y="13716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58" name="Text 158">
            <a:extLst>
              <a:ext uri="{FF2B5EF4-FFF2-40B4-BE49-F238E27FC236}">
                <a16:creationId xmlns:a16="http://schemas.microsoft.com/office/drawing/2014/main" id="{E4CB8E8C-4559-5CB6-EE53-03098AFF4355}"/>
              </a:ext>
            </a:extLst>
          </p:cNvPr>
          <p:cNvSpPr/>
          <p:nvPr/>
        </p:nvSpPr>
        <p:spPr>
          <a:xfrm>
            <a:off x="10402824" y="1371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Max</a:t>
            </a:r>
            <a:endParaRPr lang="en-US" sz="900" b="1" dirty="0"/>
          </a:p>
        </p:txBody>
      </p:sp>
      <p:sp>
        <p:nvSpPr>
          <p:cNvPr id="159" name="Shape 159">
            <a:extLst>
              <a:ext uri="{FF2B5EF4-FFF2-40B4-BE49-F238E27FC236}">
                <a16:creationId xmlns:a16="http://schemas.microsoft.com/office/drawing/2014/main" id="{B1BB4B8A-C509-344E-B181-BB277DEDBBED}"/>
              </a:ext>
            </a:extLst>
          </p:cNvPr>
          <p:cNvSpPr/>
          <p:nvPr/>
        </p:nvSpPr>
        <p:spPr>
          <a:xfrm>
            <a:off x="10402824" y="184708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0" name="Text 160">
            <a:extLst>
              <a:ext uri="{FF2B5EF4-FFF2-40B4-BE49-F238E27FC236}">
                <a16:creationId xmlns:a16="http://schemas.microsoft.com/office/drawing/2014/main" id="{545ECBB0-589D-CD1B-5722-B35459678199}"/>
              </a:ext>
            </a:extLst>
          </p:cNvPr>
          <p:cNvSpPr/>
          <p:nvPr/>
        </p:nvSpPr>
        <p:spPr>
          <a:xfrm>
            <a:off x="10402824" y="184708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Weighted</a:t>
            </a:r>
            <a:endParaRPr lang="en-US" sz="900" b="1" dirty="0"/>
          </a:p>
        </p:txBody>
      </p:sp>
      <p:sp>
        <p:nvSpPr>
          <p:cNvPr id="161" name="Shape 161">
            <a:extLst>
              <a:ext uri="{FF2B5EF4-FFF2-40B4-BE49-F238E27FC236}">
                <a16:creationId xmlns:a16="http://schemas.microsoft.com/office/drawing/2014/main" id="{2ED6043C-2101-A55A-03D4-25F1159054FE}"/>
              </a:ext>
            </a:extLst>
          </p:cNvPr>
          <p:cNvSpPr/>
          <p:nvPr/>
        </p:nvSpPr>
        <p:spPr>
          <a:xfrm>
            <a:off x="10402824" y="237286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3E5F5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2" name="Text 162">
            <a:extLst>
              <a:ext uri="{FF2B5EF4-FFF2-40B4-BE49-F238E27FC236}">
                <a16:creationId xmlns:a16="http://schemas.microsoft.com/office/drawing/2014/main" id="{7B195C56-FD2D-9CE2-5C5D-0BC028F5FC60}"/>
              </a:ext>
            </a:extLst>
          </p:cNvPr>
          <p:cNvSpPr/>
          <p:nvPr/>
        </p:nvSpPr>
        <p:spPr>
          <a:xfrm>
            <a:off x="10402824" y="232257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900" dirty="0"/>
              <a:t>Adaptive Fusion</a:t>
            </a:r>
          </a:p>
          <a:p>
            <a:pPr algn="ctr"/>
            <a:r>
              <a:rPr lang="en-GB" sz="900" dirty="0"/>
              <a:t>Prior-Aware Fusion</a:t>
            </a:r>
            <a:endParaRPr lang="en-US" sz="900" b="1" dirty="0"/>
          </a:p>
        </p:txBody>
      </p:sp>
      <p:sp>
        <p:nvSpPr>
          <p:cNvPr id="163" name="Shape 163">
            <a:extLst>
              <a:ext uri="{FF2B5EF4-FFF2-40B4-BE49-F238E27FC236}">
                <a16:creationId xmlns:a16="http://schemas.microsoft.com/office/drawing/2014/main" id="{D2DB921C-7CB3-9CE5-F1C6-23204A35AB6F}"/>
              </a:ext>
            </a:extLst>
          </p:cNvPr>
          <p:cNvSpPr/>
          <p:nvPr/>
        </p:nvSpPr>
        <p:spPr>
          <a:xfrm flipH="1">
            <a:off x="11225784" y="2768600"/>
            <a:ext cx="1016" cy="175768"/>
          </a:xfrm>
          <a:prstGeom prst="line">
            <a:avLst/>
          </a:prstGeom>
          <a:noFill/>
          <a:ln w="25400">
            <a:solidFill>
              <a:srgbClr val="880E4F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4" name="Shape 164">
            <a:extLst>
              <a:ext uri="{FF2B5EF4-FFF2-40B4-BE49-F238E27FC236}">
                <a16:creationId xmlns:a16="http://schemas.microsoft.com/office/drawing/2014/main" id="{FAD0F409-69C7-14EE-84BF-3AF7AD518D6C}"/>
              </a:ext>
            </a:extLst>
          </p:cNvPr>
          <p:cNvSpPr/>
          <p:nvPr/>
        </p:nvSpPr>
        <p:spPr>
          <a:xfrm>
            <a:off x="10386415" y="2926080"/>
            <a:ext cx="1592910" cy="460587"/>
          </a:xfrm>
          <a:prstGeom prst="roundRect">
            <a:avLst>
              <a:gd name="adj" fmla="val 12500"/>
            </a:avLst>
          </a:prstGeom>
          <a:solidFill>
            <a:srgbClr val="FCE4EC"/>
          </a:solidFill>
          <a:ln w="1778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5" name="Text 165">
            <a:extLst>
              <a:ext uri="{FF2B5EF4-FFF2-40B4-BE49-F238E27FC236}">
                <a16:creationId xmlns:a16="http://schemas.microsoft.com/office/drawing/2014/main" id="{5AC7FA1C-6610-2E88-5F34-60E734FB569C}"/>
              </a:ext>
            </a:extLst>
          </p:cNvPr>
          <p:cNvSpPr/>
          <p:nvPr/>
        </p:nvSpPr>
        <p:spPr>
          <a:xfrm>
            <a:off x="10337798" y="2816352"/>
            <a:ext cx="1839979" cy="3942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/>
              <a:t>Prompt evidence aggregation</a:t>
            </a:r>
          </a:p>
        </p:txBody>
      </p:sp>
      <p:sp>
        <p:nvSpPr>
          <p:cNvPr id="166" name="Text 166">
            <a:extLst>
              <a:ext uri="{FF2B5EF4-FFF2-40B4-BE49-F238E27FC236}">
                <a16:creationId xmlns:a16="http://schemas.microsoft.com/office/drawing/2014/main" id="{CC89EC59-3DB0-A449-FFA2-95B58332F06F}"/>
              </a:ext>
            </a:extLst>
          </p:cNvPr>
          <p:cNvSpPr/>
          <p:nvPr/>
        </p:nvSpPr>
        <p:spPr>
          <a:xfrm>
            <a:off x="10262615" y="3072382"/>
            <a:ext cx="1830156" cy="36576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class scores and detection evidence</a:t>
            </a:r>
            <a:endParaRPr lang="en-US" sz="900" b="1" dirty="0"/>
          </a:p>
        </p:txBody>
      </p:sp>
      <p:sp>
        <p:nvSpPr>
          <p:cNvPr id="167" name="Shape 167">
            <a:extLst>
              <a:ext uri="{FF2B5EF4-FFF2-40B4-BE49-F238E27FC236}">
                <a16:creationId xmlns:a16="http://schemas.microsoft.com/office/drawing/2014/main" id="{A324C3C2-6A5E-FDB1-9961-923A837F06B7}"/>
              </a:ext>
            </a:extLst>
          </p:cNvPr>
          <p:cNvSpPr/>
          <p:nvPr/>
        </p:nvSpPr>
        <p:spPr>
          <a:xfrm>
            <a:off x="10329672" y="3675888"/>
            <a:ext cx="1792224" cy="2473452"/>
          </a:xfrm>
          <a:prstGeom prst="roundRect">
            <a:avLst>
              <a:gd name="adj" fmla="val 5102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8" name="Shape 168">
            <a:extLst>
              <a:ext uri="{FF2B5EF4-FFF2-40B4-BE49-F238E27FC236}">
                <a16:creationId xmlns:a16="http://schemas.microsoft.com/office/drawing/2014/main" id="{DAB592EA-73B8-EA37-3A26-C9353A0E18E4}"/>
              </a:ext>
            </a:extLst>
          </p:cNvPr>
          <p:cNvSpPr/>
          <p:nvPr/>
        </p:nvSpPr>
        <p:spPr>
          <a:xfrm>
            <a:off x="10329672" y="3675888"/>
            <a:ext cx="1792224" cy="310896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69" name="Text 169">
            <a:extLst>
              <a:ext uri="{FF2B5EF4-FFF2-40B4-BE49-F238E27FC236}">
                <a16:creationId xmlns:a16="http://schemas.microsoft.com/office/drawing/2014/main" id="{81C5F3CF-BFD4-DE79-802F-0F4B5CF4FC07}"/>
              </a:ext>
            </a:extLst>
          </p:cNvPr>
          <p:cNvSpPr/>
          <p:nvPr/>
        </p:nvSpPr>
        <p:spPr>
          <a:xfrm>
            <a:off x="10329672" y="367588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 b="1"/>
              <a:t>Evaluation</a:t>
            </a:r>
            <a:endParaRPr lang="en-US" sz="900" b="1" dirty="0"/>
          </a:p>
        </p:txBody>
      </p:sp>
      <p:sp>
        <p:nvSpPr>
          <p:cNvPr id="170" name="Shape 170">
            <a:extLst>
              <a:ext uri="{FF2B5EF4-FFF2-40B4-BE49-F238E27FC236}">
                <a16:creationId xmlns:a16="http://schemas.microsoft.com/office/drawing/2014/main" id="{22EFB0CD-ED83-AEFC-1C0E-9B7AB383250C}"/>
              </a:ext>
            </a:extLst>
          </p:cNvPr>
          <p:cNvSpPr/>
          <p:nvPr/>
        </p:nvSpPr>
        <p:spPr>
          <a:xfrm>
            <a:off x="10220467" y="3492370"/>
            <a:ext cx="408340" cy="434211"/>
          </a:xfrm>
          <a:prstGeom prst="ellipse">
            <a:avLst/>
          </a:prstGeom>
          <a:solidFill>
            <a:srgbClr val="F57C0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30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71" name="Text 171">
            <a:extLst>
              <a:ext uri="{FF2B5EF4-FFF2-40B4-BE49-F238E27FC236}">
                <a16:creationId xmlns:a16="http://schemas.microsoft.com/office/drawing/2014/main" id="{BA39CB3B-1155-631A-2925-642A487B4243}"/>
              </a:ext>
            </a:extLst>
          </p:cNvPr>
          <p:cNvSpPr/>
          <p:nvPr/>
        </p:nvSpPr>
        <p:spPr>
          <a:xfrm>
            <a:off x="10192513" y="3374135"/>
            <a:ext cx="496145" cy="60858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b="1" dirty="0"/>
          </a:p>
        </p:txBody>
      </p:sp>
      <p:sp>
        <p:nvSpPr>
          <p:cNvPr id="172" name="Shape 172">
            <a:extLst>
              <a:ext uri="{FF2B5EF4-FFF2-40B4-BE49-F238E27FC236}">
                <a16:creationId xmlns:a16="http://schemas.microsoft.com/office/drawing/2014/main" id="{79E7C149-8E3C-EFC1-0278-13471052EBBA}"/>
              </a:ext>
            </a:extLst>
          </p:cNvPr>
          <p:cNvSpPr/>
          <p:nvPr/>
        </p:nvSpPr>
        <p:spPr>
          <a:xfrm>
            <a:off x="10402824" y="4059936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73" name="Text 173">
            <a:extLst>
              <a:ext uri="{FF2B5EF4-FFF2-40B4-BE49-F238E27FC236}">
                <a16:creationId xmlns:a16="http://schemas.microsoft.com/office/drawing/2014/main" id="{4984417F-B8B2-0FFC-EB8C-2E86D41D0321}"/>
              </a:ext>
            </a:extLst>
          </p:cNvPr>
          <p:cNvSpPr/>
          <p:nvPr/>
        </p:nvSpPr>
        <p:spPr>
          <a:xfrm>
            <a:off x="10402824" y="4059936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Image recall</a:t>
            </a:r>
            <a:endParaRPr lang="en-US" sz="900" b="1" dirty="0"/>
          </a:p>
        </p:txBody>
      </p:sp>
      <p:sp>
        <p:nvSpPr>
          <p:cNvPr id="174" name="Shape 174">
            <a:extLst>
              <a:ext uri="{FF2B5EF4-FFF2-40B4-BE49-F238E27FC236}">
                <a16:creationId xmlns:a16="http://schemas.microsoft.com/office/drawing/2014/main" id="{2B305D7C-81CE-AAB6-2EEE-8D3C2E988045}"/>
              </a:ext>
            </a:extLst>
          </p:cNvPr>
          <p:cNvSpPr/>
          <p:nvPr/>
        </p:nvSpPr>
        <p:spPr>
          <a:xfrm>
            <a:off x="10402824" y="4572000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75" name="Text 175">
            <a:extLst>
              <a:ext uri="{FF2B5EF4-FFF2-40B4-BE49-F238E27FC236}">
                <a16:creationId xmlns:a16="http://schemas.microsoft.com/office/drawing/2014/main" id="{24252047-989F-68F3-36C1-2F8BCF28139B}"/>
              </a:ext>
            </a:extLst>
          </p:cNvPr>
          <p:cNvSpPr/>
          <p:nvPr/>
        </p:nvSpPr>
        <p:spPr>
          <a:xfrm>
            <a:off x="10402824" y="457200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Pair recall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176" name="Shape 176">
            <a:extLst>
              <a:ext uri="{FF2B5EF4-FFF2-40B4-BE49-F238E27FC236}">
                <a16:creationId xmlns:a16="http://schemas.microsoft.com/office/drawing/2014/main" id="{4CFB25B3-68D9-533D-0B67-7F5F6B8C964E}"/>
              </a:ext>
            </a:extLst>
          </p:cNvPr>
          <p:cNvSpPr/>
          <p:nvPr/>
        </p:nvSpPr>
        <p:spPr>
          <a:xfrm>
            <a:off x="10402824" y="5084064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77" name="Text 177">
            <a:extLst>
              <a:ext uri="{FF2B5EF4-FFF2-40B4-BE49-F238E27FC236}">
                <a16:creationId xmlns:a16="http://schemas.microsoft.com/office/drawing/2014/main" id="{897C05DA-5622-9954-95CB-99A9B8B68157}"/>
              </a:ext>
            </a:extLst>
          </p:cNvPr>
          <p:cNvSpPr/>
          <p:nvPr/>
        </p:nvSpPr>
        <p:spPr>
          <a:xfrm>
            <a:off x="10402824" y="5084064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/>
              <a:t>AP50-proxy</a:t>
            </a:r>
            <a:endParaRPr lang="en-US" sz="900" b="1" dirty="0"/>
          </a:p>
        </p:txBody>
      </p:sp>
      <p:sp>
        <p:nvSpPr>
          <p:cNvPr id="178" name="Shape 178">
            <a:extLst>
              <a:ext uri="{FF2B5EF4-FFF2-40B4-BE49-F238E27FC236}">
                <a16:creationId xmlns:a16="http://schemas.microsoft.com/office/drawing/2014/main" id="{969EDA40-53C6-FA3A-6536-6A3394CDC2AE}"/>
              </a:ext>
            </a:extLst>
          </p:cNvPr>
          <p:cNvSpPr/>
          <p:nvPr/>
        </p:nvSpPr>
        <p:spPr>
          <a:xfrm>
            <a:off x="10402824" y="5596128"/>
            <a:ext cx="162763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BBBBBB">
                <a:alpha val="18000"/>
              </a:srgbClr>
            </a:outerShdw>
          </a:effectLst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79" name="Text 179">
            <a:extLst>
              <a:ext uri="{FF2B5EF4-FFF2-40B4-BE49-F238E27FC236}">
                <a16:creationId xmlns:a16="http://schemas.microsoft.com/office/drawing/2014/main" id="{517278EE-9CCF-9573-D9F4-BD907203E827}"/>
              </a:ext>
            </a:extLst>
          </p:cNvPr>
          <p:cNvSpPr/>
          <p:nvPr/>
        </p:nvSpPr>
        <p:spPr>
          <a:xfrm>
            <a:off x="10402824" y="5596128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900"/>
              <a:t>FP-risk bins</a:t>
            </a:r>
            <a:endParaRPr lang="en-US" sz="900" b="1" dirty="0"/>
          </a:p>
        </p:txBody>
      </p:sp>
      <p:sp>
        <p:nvSpPr>
          <p:cNvPr id="182" name="Shape 45">
            <a:extLst>
              <a:ext uri="{FF2B5EF4-FFF2-40B4-BE49-F238E27FC236}">
                <a16:creationId xmlns:a16="http://schemas.microsoft.com/office/drawing/2014/main" id="{0DDA0C93-59FF-B585-BDF5-F4C854B3B39F}"/>
              </a:ext>
            </a:extLst>
          </p:cNvPr>
          <p:cNvSpPr/>
          <p:nvPr/>
        </p:nvSpPr>
        <p:spPr>
          <a:xfrm>
            <a:off x="9168173" y="3429000"/>
            <a:ext cx="4740" cy="20926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83" name="Shape 45">
            <a:extLst>
              <a:ext uri="{FF2B5EF4-FFF2-40B4-BE49-F238E27FC236}">
                <a16:creationId xmlns:a16="http://schemas.microsoft.com/office/drawing/2014/main" id="{0680322C-64A1-D3A7-CE02-A3F3682540DC}"/>
              </a:ext>
            </a:extLst>
          </p:cNvPr>
          <p:cNvSpPr/>
          <p:nvPr/>
        </p:nvSpPr>
        <p:spPr>
          <a:xfrm>
            <a:off x="11171767" y="3429000"/>
            <a:ext cx="4570" cy="23876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  <p:sp>
        <p:nvSpPr>
          <p:cNvPr id="186" name="Shape 45">
            <a:extLst>
              <a:ext uri="{FF2B5EF4-FFF2-40B4-BE49-F238E27FC236}">
                <a16:creationId xmlns:a16="http://schemas.microsoft.com/office/drawing/2014/main" id="{77F79CD9-510E-E2C0-EE6B-793D7AE7A715}"/>
              </a:ext>
            </a:extLst>
          </p:cNvPr>
          <p:cNvSpPr/>
          <p:nvPr/>
        </p:nvSpPr>
        <p:spPr>
          <a:xfrm flipV="1">
            <a:off x="9988509" y="3429000"/>
            <a:ext cx="417360" cy="222250"/>
          </a:xfrm>
          <a:prstGeom prst="line">
            <a:avLst/>
          </a:prstGeom>
          <a:noFill/>
          <a:ln w="19050">
            <a:solidFill>
              <a:srgbClr val="F57C00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lang="en-GB" sz="900" b="1"/>
          </a:p>
        </p:txBody>
      </p:sp>
    </p:spTree>
    <p:extLst>
      <p:ext uri="{BB962C8B-B14F-4D97-AF65-F5344CB8AC3E}">
        <p14:creationId xmlns:p14="http://schemas.microsoft.com/office/powerpoint/2010/main" val="281680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52">
            <a:extLst>
              <a:ext uri="{FF2B5EF4-FFF2-40B4-BE49-F238E27FC236}">
                <a16:creationId xmlns:a16="http://schemas.microsoft.com/office/drawing/2014/main" id="{C7BC0726-1A7A-A718-1981-598AA474D056}"/>
              </a:ext>
            </a:extLst>
          </p:cNvPr>
          <p:cNvSpPr/>
          <p:nvPr/>
        </p:nvSpPr>
        <p:spPr>
          <a:xfrm>
            <a:off x="871824" y="1498280"/>
            <a:ext cx="502920" cy="109728"/>
          </a:xfrm>
          <a:prstGeom prst="rect">
            <a:avLst/>
          </a:prstGeom>
          <a:solidFill>
            <a:srgbClr val="4DD0E1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 b="1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E7F5752-CDB9-8C25-46E8-236EA6952445}"/>
              </a:ext>
            </a:extLst>
          </p:cNvPr>
          <p:cNvSpPr/>
          <p:nvPr/>
        </p:nvSpPr>
        <p:spPr>
          <a:xfrm>
            <a:off x="1265016" y="1498279"/>
            <a:ext cx="100582" cy="2322557"/>
          </a:xfrm>
          <a:prstGeom prst="rect">
            <a:avLst/>
          </a:prstGeom>
          <a:solidFill>
            <a:srgbClr val="007B9E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 b="1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3AD8001D-C268-CA3F-C77B-7A55B6B8D7E4}"/>
              </a:ext>
            </a:extLst>
          </p:cNvPr>
          <p:cNvSpPr/>
          <p:nvPr/>
        </p:nvSpPr>
        <p:spPr>
          <a:xfrm>
            <a:off x="643224" y="1617151"/>
            <a:ext cx="621792" cy="2212828"/>
          </a:xfrm>
          <a:prstGeom prst="rect">
            <a:avLst/>
          </a:prstGeom>
          <a:solidFill>
            <a:srgbClr val="00ACC1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D8DA6C7-375B-8C69-DB2D-AFDDE3FBF02C}"/>
              </a:ext>
            </a:extLst>
          </p:cNvPr>
          <p:cNvSpPr txBox="1"/>
          <p:nvPr/>
        </p:nvSpPr>
        <p:spPr>
          <a:xfrm>
            <a:off x="718895" y="2296178"/>
            <a:ext cx="509544" cy="136923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/>
              <a:t>Input</a:t>
            </a:r>
          </a:p>
          <a:p>
            <a:pPr algn="ctr"/>
            <a:r>
              <a:rPr sz="900" dirty="0"/>
              <a:t>image</a:t>
            </a:r>
          </a:p>
          <a:p>
            <a:pPr algn="ctr"/>
            <a:r>
              <a:rPr sz="900" dirty="0"/>
              <a:t>RGB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126072CE-15CC-8263-5ED0-877662382D82}"/>
              </a:ext>
            </a:extLst>
          </p:cNvPr>
          <p:cNvSpPr/>
          <p:nvPr/>
        </p:nvSpPr>
        <p:spPr>
          <a:xfrm>
            <a:off x="510974" y="791400"/>
            <a:ext cx="375583" cy="375908"/>
          </a:xfrm>
          <a:prstGeom prst="ellipse">
            <a:avLst/>
          </a:prstGeom>
          <a:solidFill>
            <a:srgbClr val="00ACC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258" name="Connector 38">
            <a:extLst>
              <a:ext uri="{FF2B5EF4-FFF2-40B4-BE49-F238E27FC236}">
                <a16:creationId xmlns:a16="http://schemas.microsoft.com/office/drawing/2014/main" id="{9613D203-70B1-6732-5392-BD25442DA005}"/>
              </a:ext>
            </a:extLst>
          </p:cNvPr>
          <p:cNvCxnSpPr/>
          <p:nvPr/>
        </p:nvCxnSpPr>
        <p:spPr>
          <a:xfrm>
            <a:off x="1347312" y="2659568"/>
            <a:ext cx="164592" cy="0"/>
          </a:xfrm>
          <a:prstGeom prst="line">
            <a:avLst/>
          </a:prstGeom>
          <a:ln w="25400">
            <a:solidFill>
              <a:srgbClr val="55555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499C258-5382-E22E-BC80-5A98BDFDB267}"/>
              </a:ext>
            </a:extLst>
          </p:cNvPr>
          <p:cNvSpPr/>
          <p:nvPr/>
        </p:nvSpPr>
        <p:spPr>
          <a:xfrm>
            <a:off x="1639920" y="1543999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11FC95B-A97D-FACA-2BAE-AD39FF96CA98}"/>
              </a:ext>
            </a:extLst>
          </p:cNvPr>
          <p:cNvSpPr/>
          <p:nvPr/>
        </p:nvSpPr>
        <p:spPr>
          <a:xfrm>
            <a:off x="1786224" y="1543999"/>
            <a:ext cx="73150" cy="2224362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365F4620-3420-F4AF-AC3A-7034FDF315E2}"/>
              </a:ext>
            </a:extLst>
          </p:cNvPr>
          <p:cNvSpPr/>
          <p:nvPr/>
        </p:nvSpPr>
        <p:spPr>
          <a:xfrm>
            <a:off x="1531134" y="1635438"/>
            <a:ext cx="256032" cy="2176267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40F9FAF-9D70-6509-3F6B-6415CF3B0460}"/>
              </a:ext>
            </a:extLst>
          </p:cNvPr>
          <p:cNvSpPr/>
          <p:nvPr/>
        </p:nvSpPr>
        <p:spPr>
          <a:xfrm>
            <a:off x="1932528" y="163544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ACA789F-CBBC-DF03-3FC0-2DF75D2956F6}"/>
              </a:ext>
            </a:extLst>
          </p:cNvPr>
          <p:cNvSpPr/>
          <p:nvPr/>
        </p:nvSpPr>
        <p:spPr>
          <a:xfrm>
            <a:off x="2078832" y="1635440"/>
            <a:ext cx="109728" cy="1938528"/>
          </a:xfrm>
          <a:prstGeom prst="rect">
            <a:avLst/>
          </a:prstGeom>
          <a:solidFill>
            <a:srgbClr val="B71C1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9754660A-7697-42D9-3B46-CB11396ACBED}"/>
              </a:ext>
            </a:extLst>
          </p:cNvPr>
          <p:cNvSpPr/>
          <p:nvPr/>
        </p:nvSpPr>
        <p:spPr>
          <a:xfrm>
            <a:off x="1822800" y="1745167"/>
            <a:ext cx="256032" cy="1920239"/>
          </a:xfrm>
          <a:prstGeom prst="rect">
            <a:avLst/>
          </a:prstGeom>
          <a:solidFill>
            <a:srgbClr val="E57373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A2F0A00-43F9-9D61-4640-42BF3A65D1F5}"/>
              </a:ext>
            </a:extLst>
          </p:cNvPr>
          <p:cNvSpPr/>
          <p:nvPr/>
        </p:nvSpPr>
        <p:spPr>
          <a:xfrm>
            <a:off x="2225136" y="172688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487BE0B-962B-8F52-2831-0C9B5CED2837}"/>
              </a:ext>
            </a:extLst>
          </p:cNvPr>
          <p:cNvSpPr/>
          <p:nvPr/>
        </p:nvSpPr>
        <p:spPr>
          <a:xfrm>
            <a:off x="2371440" y="1726880"/>
            <a:ext cx="109728" cy="1755648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D5D46BF-045C-44B5-DFFA-3754B4DF823B}"/>
              </a:ext>
            </a:extLst>
          </p:cNvPr>
          <p:cNvSpPr/>
          <p:nvPr/>
        </p:nvSpPr>
        <p:spPr>
          <a:xfrm>
            <a:off x="2115408" y="1836608"/>
            <a:ext cx="256032" cy="1645920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3D5CDA3-B459-CA0F-A99C-DB87BBCD36B8}"/>
              </a:ext>
            </a:extLst>
          </p:cNvPr>
          <p:cNvSpPr/>
          <p:nvPr/>
        </p:nvSpPr>
        <p:spPr>
          <a:xfrm>
            <a:off x="2517744" y="1818320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5A15B2D-B46A-98C5-1E09-DE651AEFDE07}"/>
              </a:ext>
            </a:extLst>
          </p:cNvPr>
          <p:cNvSpPr/>
          <p:nvPr/>
        </p:nvSpPr>
        <p:spPr>
          <a:xfrm>
            <a:off x="2664047" y="1818320"/>
            <a:ext cx="109728" cy="1572768"/>
          </a:xfrm>
          <a:prstGeom prst="rect">
            <a:avLst/>
          </a:prstGeom>
          <a:solidFill>
            <a:srgbClr val="B71C1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AE38BF38-E988-A8DD-416A-4D4056AF9950}"/>
              </a:ext>
            </a:extLst>
          </p:cNvPr>
          <p:cNvSpPr/>
          <p:nvPr/>
        </p:nvSpPr>
        <p:spPr>
          <a:xfrm>
            <a:off x="2408016" y="1928048"/>
            <a:ext cx="256032" cy="1463040"/>
          </a:xfrm>
          <a:prstGeom prst="rect">
            <a:avLst/>
          </a:prstGeom>
          <a:solidFill>
            <a:srgbClr val="E57373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66EC750-59A8-C3D7-1954-A4220BA73001}"/>
              </a:ext>
            </a:extLst>
          </p:cNvPr>
          <p:cNvSpPr/>
          <p:nvPr/>
        </p:nvSpPr>
        <p:spPr>
          <a:xfrm>
            <a:off x="2810352" y="1909759"/>
            <a:ext cx="256032" cy="109728"/>
          </a:xfrm>
          <a:prstGeom prst="rect">
            <a:avLst/>
          </a:prstGeom>
          <a:solidFill>
            <a:srgbClr val="FFCDD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F8D5281-6D00-B591-AC54-BC6343918B6F}"/>
              </a:ext>
            </a:extLst>
          </p:cNvPr>
          <p:cNvSpPr/>
          <p:nvPr/>
        </p:nvSpPr>
        <p:spPr>
          <a:xfrm>
            <a:off x="2956656" y="1909759"/>
            <a:ext cx="109728" cy="1389888"/>
          </a:xfrm>
          <a:prstGeom prst="rect">
            <a:avLst/>
          </a:prstGeom>
          <a:solidFill>
            <a:srgbClr val="C62828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3763592C-21CE-EE0F-EEE5-7CE7A1C09513}"/>
              </a:ext>
            </a:extLst>
          </p:cNvPr>
          <p:cNvSpPr/>
          <p:nvPr/>
        </p:nvSpPr>
        <p:spPr>
          <a:xfrm>
            <a:off x="2700624" y="2019488"/>
            <a:ext cx="256032" cy="1280160"/>
          </a:xfrm>
          <a:prstGeom prst="rect">
            <a:avLst/>
          </a:prstGeom>
          <a:solidFill>
            <a:srgbClr val="EF9A9A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35A2DE6-2666-DFB6-B04E-ACC1C9258D43}"/>
              </a:ext>
            </a:extLst>
          </p:cNvPr>
          <p:cNvSpPr/>
          <p:nvPr/>
        </p:nvSpPr>
        <p:spPr>
          <a:xfrm>
            <a:off x="3102960" y="2001200"/>
            <a:ext cx="256032" cy="109728"/>
          </a:xfrm>
          <a:prstGeom prst="rect">
            <a:avLst/>
          </a:prstGeom>
          <a:solidFill>
            <a:srgbClr val="FCE4EC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F3663F3-C217-A61C-DB5A-DD1330C9DCAE}"/>
              </a:ext>
            </a:extLst>
          </p:cNvPr>
          <p:cNvSpPr/>
          <p:nvPr/>
        </p:nvSpPr>
        <p:spPr>
          <a:xfrm>
            <a:off x="3249263" y="2001200"/>
            <a:ext cx="201167" cy="1207007"/>
          </a:xfrm>
          <a:prstGeom prst="rect">
            <a:avLst/>
          </a:prstGeom>
          <a:solidFill>
            <a:srgbClr val="AD1457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1542B04B-F5DE-213F-86AB-52AF436D1BEB}"/>
              </a:ext>
            </a:extLst>
          </p:cNvPr>
          <p:cNvSpPr/>
          <p:nvPr/>
        </p:nvSpPr>
        <p:spPr>
          <a:xfrm>
            <a:off x="2993232" y="2110928"/>
            <a:ext cx="256032" cy="1097280"/>
          </a:xfrm>
          <a:prstGeom prst="rect">
            <a:avLst/>
          </a:prstGeom>
          <a:solidFill>
            <a:srgbClr val="F06292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9393A470-00E2-DCD9-EF3F-213CB05FD868}"/>
              </a:ext>
            </a:extLst>
          </p:cNvPr>
          <p:cNvSpPr/>
          <p:nvPr/>
        </p:nvSpPr>
        <p:spPr>
          <a:xfrm>
            <a:off x="1566767" y="798795"/>
            <a:ext cx="365759" cy="375908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47A6D84-EF70-A16F-7039-91F9025C4F63}"/>
              </a:ext>
            </a:extLst>
          </p:cNvPr>
          <p:cNvSpPr/>
          <p:nvPr/>
        </p:nvSpPr>
        <p:spPr>
          <a:xfrm>
            <a:off x="2511169" y="1527989"/>
            <a:ext cx="860693" cy="26061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37F2CD2-7F47-997D-C049-F90831ED4659}"/>
              </a:ext>
            </a:extLst>
          </p:cNvPr>
          <p:cNvSpPr txBox="1"/>
          <p:nvPr/>
        </p:nvSpPr>
        <p:spPr>
          <a:xfrm>
            <a:off x="2499456" y="1488845"/>
            <a:ext cx="916972" cy="323282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dirty="0"/>
              <a:t>OWL-</a:t>
            </a:r>
            <a:r>
              <a:rPr sz="900" dirty="0" err="1"/>
              <a:t>ViT</a:t>
            </a:r>
            <a:endParaRPr sz="900" b="1" dirty="0">
              <a:solidFill>
                <a:schemeClr val="bg1"/>
              </a:solidFill>
            </a:endParaRPr>
          </a:p>
          <a:p>
            <a:pPr algn="ctr"/>
            <a:r>
              <a:rPr sz="900" dirty="0"/>
              <a:t>visual features</a:t>
            </a:r>
          </a:p>
        </p:txBody>
      </p:sp>
      <p:cxnSp>
        <p:nvCxnSpPr>
          <p:cNvPr id="280" name="Connector 62">
            <a:extLst>
              <a:ext uri="{FF2B5EF4-FFF2-40B4-BE49-F238E27FC236}">
                <a16:creationId xmlns:a16="http://schemas.microsoft.com/office/drawing/2014/main" id="{2C5B114F-FE23-872B-8CF5-18F3A4580720}"/>
              </a:ext>
            </a:extLst>
          </p:cNvPr>
          <p:cNvCxnSpPr>
            <a:cxnSpLocks/>
          </p:cNvCxnSpPr>
          <p:nvPr/>
        </p:nvCxnSpPr>
        <p:spPr>
          <a:xfrm>
            <a:off x="3450430" y="2659568"/>
            <a:ext cx="201168" cy="0"/>
          </a:xfrm>
          <a:prstGeom prst="line">
            <a:avLst/>
          </a:prstGeom>
          <a:ln w="31750">
            <a:solidFill>
              <a:srgbClr val="1565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7F15F88-722E-84B9-E3B4-28CC5D07C2FB}"/>
              </a:ext>
            </a:extLst>
          </p:cNvPr>
          <p:cNvSpPr/>
          <p:nvPr/>
        </p:nvSpPr>
        <p:spPr>
          <a:xfrm>
            <a:off x="3834480" y="1543999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CCB08BC8-0818-8A7B-2753-A72B4876CB6D}"/>
              </a:ext>
            </a:extLst>
          </p:cNvPr>
          <p:cNvSpPr/>
          <p:nvPr/>
        </p:nvSpPr>
        <p:spPr>
          <a:xfrm>
            <a:off x="4035648" y="1543999"/>
            <a:ext cx="109728" cy="2121408"/>
          </a:xfrm>
          <a:prstGeom prst="rect">
            <a:avLst/>
          </a:prstGeom>
          <a:solidFill>
            <a:srgbClr val="F57F17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E350C2B-22B9-1681-B5B2-86B3AAABCA30}"/>
              </a:ext>
            </a:extLst>
          </p:cNvPr>
          <p:cNvSpPr/>
          <p:nvPr/>
        </p:nvSpPr>
        <p:spPr>
          <a:xfrm>
            <a:off x="3651596" y="1653727"/>
            <a:ext cx="384052" cy="2157981"/>
          </a:xfrm>
          <a:prstGeom prst="rect">
            <a:avLst/>
          </a:prstGeom>
          <a:solidFill>
            <a:srgbClr val="FFCA28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4DCA4113-79BC-3463-141B-E7EB6DDB3C38}"/>
              </a:ext>
            </a:extLst>
          </p:cNvPr>
          <p:cNvSpPr/>
          <p:nvPr/>
        </p:nvSpPr>
        <p:spPr>
          <a:xfrm>
            <a:off x="4200240" y="1818320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88F0FBD2-C569-FF8A-C6A3-C29E6A517F1D}"/>
              </a:ext>
            </a:extLst>
          </p:cNvPr>
          <p:cNvSpPr/>
          <p:nvPr/>
        </p:nvSpPr>
        <p:spPr>
          <a:xfrm>
            <a:off x="4401408" y="1818320"/>
            <a:ext cx="109728" cy="1572768"/>
          </a:xfrm>
          <a:prstGeom prst="rect">
            <a:avLst/>
          </a:prstGeom>
          <a:solidFill>
            <a:srgbClr val="E65100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FABB4D81-371B-D45C-B396-54D0A5AA9517}"/>
              </a:ext>
            </a:extLst>
          </p:cNvPr>
          <p:cNvSpPr/>
          <p:nvPr/>
        </p:nvSpPr>
        <p:spPr>
          <a:xfrm>
            <a:off x="4090512" y="1928048"/>
            <a:ext cx="310896" cy="1554480"/>
          </a:xfrm>
          <a:prstGeom prst="rect">
            <a:avLst/>
          </a:prstGeom>
          <a:solidFill>
            <a:srgbClr val="FFB300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8CF8D379-2F81-9D3C-17B8-D6849916B495}"/>
              </a:ext>
            </a:extLst>
          </p:cNvPr>
          <p:cNvSpPr/>
          <p:nvPr/>
        </p:nvSpPr>
        <p:spPr>
          <a:xfrm>
            <a:off x="4566000" y="2092640"/>
            <a:ext cx="310896" cy="109728"/>
          </a:xfrm>
          <a:prstGeom prst="rect">
            <a:avLst/>
          </a:prstGeom>
          <a:solidFill>
            <a:srgbClr val="FFE082"/>
          </a:solidFill>
          <a:ln w="101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62A0B29-4643-28D2-433F-49BEE207C961}"/>
              </a:ext>
            </a:extLst>
          </p:cNvPr>
          <p:cNvSpPr/>
          <p:nvPr/>
        </p:nvSpPr>
        <p:spPr>
          <a:xfrm>
            <a:off x="4456272" y="2202368"/>
            <a:ext cx="310896" cy="914400"/>
          </a:xfrm>
          <a:prstGeom prst="rect">
            <a:avLst/>
          </a:prstGeom>
          <a:solidFill>
            <a:srgbClr val="FFA000"/>
          </a:solidFill>
          <a:ln w="1524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91F58ED-4654-A16E-6966-73EE53D68694}"/>
              </a:ext>
            </a:extLst>
          </p:cNvPr>
          <p:cNvSpPr/>
          <p:nvPr/>
        </p:nvSpPr>
        <p:spPr>
          <a:xfrm>
            <a:off x="3614345" y="757227"/>
            <a:ext cx="375583" cy="419094"/>
          </a:xfrm>
          <a:prstGeom prst="ellipse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26BF5E4-4884-5802-2F35-FDAB119E4CF9}"/>
              </a:ext>
            </a:extLst>
          </p:cNvPr>
          <p:cNvSpPr/>
          <p:nvPr/>
        </p:nvSpPr>
        <p:spPr>
          <a:xfrm>
            <a:off x="4179243" y="1465580"/>
            <a:ext cx="594868" cy="26061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900" b="1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AC03537-AB32-8CF0-9B0C-C8532878FF7A}"/>
              </a:ext>
            </a:extLst>
          </p:cNvPr>
          <p:cNvSpPr txBox="1"/>
          <p:nvPr/>
        </p:nvSpPr>
        <p:spPr>
          <a:xfrm>
            <a:off x="4089234" y="1422425"/>
            <a:ext cx="758027" cy="38323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/>
              <a:t>Image embedding</a:t>
            </a:r>
            <a:endParaRPr sz="900" b="1" dirty="0">
              <a:solidFill>
                <a:schemeClr val="bg1"/>
              </a:solidFill>
            </a:endParaRPr>
          </a:p>
        </p:txBody>
      </p:sp>
      <p:sp>
        <p:nvSpPr>
          <p:cNvPr id="295" name="Shape 33">
            <a:extLst>
              <a:ext uri="{FF2B5EF4-FFF2-40B4-BE49-F238E27FC236}">
                <a16:creationId xmlns:a16="http://schemas.microsoft.com/office/drawing/2014/main" id="{4B16DD85-667E-F3F8-164E-490C57EFD403}"/>
              </a:ext>
            </a:extLst>
          </p:cNvPr>
          <p:cNvSpPr/>
          <p:nvPr/>
        </p:nvSpPr>
        <p:spPr>
          <a:xfrm>
            <a:off x="4767168" y="1498280"/>
            <a:ext cx="841248" cy="2322556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296" name="Text 34">
            <a:extLst>
              <a:ext uri="{FF2B5EF4-FFF2-40B4-BE49-F238E27FC236}">
                <a16:creationId xmlns:a16="http://schemas.microsoft.com/office/drawing/2014/main" id="{4654632B-1C5B-180F-C989-49E671C541AD}"/>
              </a:ext>
            </a:extLst>
          </p:cNvPr>
          <p:cNvSpPr/>
          <p:nvPr/>
        </p:nvSpPr>
        <p:spPr>
          <a:xfrm>
            <a:off x="4687443" y="1342832"/>
            <a:ext cx="920973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/>
              <a:t>Visual representation for zero-shot detection</a:t>
            </a:r>
            <a:endParaRPr lang="en-US" sz="900" dirty="0"/>
          </a:p>
        </p:txBody>
      </p:sp>
      <p:sp>
        <p:nvSpPr>
          <p:cNvPr id="297" name="Shape 39">
            <a:extLst>
              <a:ext uri="{FF2B5EF4-FFF2-40B4-BE49-F238E27FC236}">
                <a16:creationId xmlns:a16="http://schemas.microsoft.com/office/drawing/2014/main" id="{E7F3726E-EBD3-2650-F2E3-3E5BDD3F24B2}"/>
              </a:ext>
            </a:extLst>
          </p:cNvPr>
          <p:cNvSpPr/>
          <p:nvPr/>
        </p:nvSpPr>
        <p:spPr>
          <a:xfrm>
            <a:off x="5736432" y="1356540"/>
            <a:ext cx="1005840" cy="2455171"/>
          </a:xfrm>
          <a:prstGeom prst="rect">
            <a:avLst/>
          </a:prstGeom>
          <a:solidFill>
            <a:srgbClr val="F3E5F5"/>
          </a:solidFill>
          <a:ln w="17780">
            <a:solidFill>
              <a:srgbClr val="9C27B0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298" name="Shape 40">
            <a:extLst>
              <a:ext uri="{FF2B5EF4-FFF2-40B4-BE49-F238E27FC236}">
                <a16:creationId xmlns:a16="http://schemas.microsoft.com/office/drawing/2014/main" id="{5FF23EFE-6B8A-41E9-1CBC-82A08341F4CC}"/>
              </a:ext>
            </a:extLst>
          </p:cNvPr>
          <p:cNvSpPr/>
          <p:nvPr/>
        </p:nvSpPr>
        <p:spPr>
          <a:xfrm>
            <a:off x="5791296" y="1509442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299" name="Text 41">
            <a:extLst>
              <a:ext uri="{FF2B5EF4-FFF2-40B4-BE49-F238E27FC236}">
                <a16:creationId xmlns:a16="http://schemas.microsoft.com/office/drawing/2014/main" id="{D4907022-5865-F596-F2DE-A6294F6530B7}"/>
              </a:ext>
            </a:extLst>
          </p:cNvPr>
          <p:cNvSpPr/>
          <p:nvPr/>
        </p:nvSpPr>
        <p:spPr>
          <a:xfrm>
            <a:off x="5827869" y="1523856"/>
            <a:ext cx="877825" cy="742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 dirty="0"/>
              <a:t>Semantic prompt generation</a:t>
            </a:r>
            <a:endParaRPr lang="en-US" sz="900" dirty="0">
              <a:solidFill>
                <a:schemeClr val="bg1"/>
              </a:solidFill>
            </a:endParaRPr>
          </a:p>
          <a:p>
            <a:pPr algn="ctr"/>
            <a:r>
              <a:rPr sz="900" dirty="0"/>
              <a:t>per category</a:t>
            </a:r>
          </a:p>
        </p:txBody>
      </p:sp>
      <p:sp>
        <p:nvSpPr>
          <p:cNvPr id="300" name="Shape 42">
            <a:extLst>
              <a:ext uri="{FF2B5EF4-FFF2-40B4-BE49-F238E27FC236}">
                <a16:creationId xmlns:a16="http://schemas.microsoft.com/office/drawing/2014/main" id="{01C58F8D-955E-E156-1288-B04D2DEBF331}"/>
              </a:ext>
            </a:extLst>
          </p:cNvPr>
          <p:cNvSpPr/>
          <p:nvPr/>
        </p:nvSpPr>
        <p:spPr>
          <a:xfrm>
            <a:off x="5791296" y="2296178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01" name="Text 43">
            <a:extLst>
              <a:ext uri="{FF2B5EF4-FFF2-40B4-BE49-F238E27FC236}">
                <a16:creationId xmlns:a16="http://schemas.microsoft.com/office/drawing/2014/main" id="{06589F5D-CCC9-0AE9-4DE3-95D6CABA4016}"/>
              </a:ext>
            </a:extLst>
          </p:cNvPr>
          <p:cNvSpPr/>
          <p:nvPr/>
        </p:nvSpPr>
        <p:spPr>
          <a:xfrm>
            <a:off x="5827868" y="2296178"/>
            <a:ext cx="743241" cy="68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/>
              <a:t>Template prompts</a:t>
            </a:r>
            <a:endParaRPr lang="en-US" sz="900" dirty="0"/>
          </a:p>
          <a:p>
            <a:pPr algn="ctr"/>
            <a:r>
              <a:rPr sz="900" dirty="0"/>
              <a:t>a photo of airplane...</a:t>
            </a:r>
          </a:p>
        </p:txBody>
      </p:sp>
      <p:sp>
        <p:nvSpPr>
          <p:cNvPr id="302" name="Shape 44">
            <a:extLst>
              <a:ext uri="{FF2B5EF4-FFF2-40B4-BE49-F238E27FC236}">
                <a16:creationId xmlns:a16="http://schemas.microsoft.com/office/drawing/2014/main" id="{7018F7ED-B54B-D91B-ECAC-3392B06AAF80}"/>
              </a:ext>
            </a:extLst>
          </p:cNvPr>
          <p:cNvSpPr/>
          <p:nvPr/>
        </p:nvSpPr>
        <p:spPr>
          <a:xfrm>
            <a:off x="5800440" y="3055130"/>
            <a:ext cx="877824" cy="713232"/>
          </a:xfrm>
          <a:prstGeom prst="rect">
            <a:avLst/>
          </a:prstGeom>
          <a:solidFill>
            <a:srgbClr val="9C27B0"/>
          </a:solidFill>
          <a:ln w="635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03" name="Text 45">
            <a:extLst>
              <a:ext uri="{FF2B5EF4-FFF2-40B4-BE49-F238E27FC236}">
                <a16:creationId xmlns:a16="http://schemas.microsoft.com/office/drawing/2014/main" id="{9DBD2F92-21CD-1491-8BB4-28F24B58DB46}"/>
              </a:ext>
            </a:extLst>
          </p:cNvPr>
          <p:cNvSpPr/>
          <p:nvPr/>
        </p:nvSpPr>
        <p:spPr>
          <a:xfrm>
            <a:off x="5800440" y="3082914"/>
            <a:ext cx="877824" cy="685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900" dirty="0"/>
              <a:t>WordNet semantic variants and related terms</a:t>
            </a:r>
            <a:endParaRPr sz="900" dirty="0"/>
          </a:p>
        </p:txBody>
      </p:sp>
      <p:sp>
        <p:nvSpPr>
          <p:cNvPr id="304" name="Text 46">
            <a:extLst>
              <a:ext uri="{FF2B5EF4-FFF2-40B4-BE49-F238E27FC236}">
                <a16:creationId xmlns:a16="http://schemas.microsoft.com/office/drawing/2014/main" id="{AB96582E-E773-27A1-7A2F-0266C374E1ED}"/>
              </a:ext>
            </a:extLst>
          </p:cNvPr>
          <p:cNvSpPr/>
          <p:nvPr/>
        </p:nvSpPr>
        <p:spPr>
          <a:xfrm>
            <a:off x="5727288" y="1055817"/>
            <a:ext cx="1024128" cy="365794"/>
          </a:xfrm>
          <a:prstGeom prst="rect">
            <a:avLst/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b="1"/>
              <a:t>Prompt Generator</a:t>
            </a:r>
            <a:endParaRPr lang="en-US" sz="900" dirty="0"/>
          </a:p>
        </p:txBody>
      </p:sp>
      <p:sp>
        <p:nvSpPr>
          <p:cNvPr id="305" name="Text 47">
            <a:extLst>
              <a:ext uri="{FF2B5EF4-FFF2-40B4-BE49-F238E27FC236}">
                <a16:creationId xmlns:a16="http://schemas.microsoft.com/office/drawing/2014/main" id="{20605A1F-A0D4-7E15-7615-8BD7FD0625AB}"/>
              </a:ext>
            </a:extLst>
          </p:cNvPr>
          <p:cNvSpPr/>
          <p:nvPr/>
        </p:nvSpPr>
        <p:spPr>
          <a:xfrm>
            <a:off x="5520268" y="4422511"/>
            <a:ext cx="1359164" cy="17666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sz="1200"/>
              <a:t>Prompt Pool</a:t>
            </a:r>
          </a:p>
          <a:p>
            <a:pPr algn="ctr"/>
            <a:r>
              <a:rPr sz="1200"/>
              <a:t>primary · synonym</a:t>
            </a:r>
          </a:p>
          <a:p>
            <a:pPr algn="ctr"/>
            <a:r>
              <a:rPr sz="1200"/>
              <a:t>hypernym · attribute</a:t>
            </a:r>
          </a:p>
          <a:p>
            <a:pPr algn="ctr"/>
            <a:r>
              <a:rPr sz="1200"/>
              <a:t>context · description</a:t>
            </a:r>
          </a:p>
        </p:txBody>
      </p:sp>
      <p:sp>
        <p:nvSpPr>
          <p:cNvPr id="306" name="Shape 48">
            <a:extLst>
              <a:ext uri="{FF2B5EF4-FFF2-40B4-BE49-F238E27FC236}">
                <a16:creationId xmlns:a16="http://schemas.microsoft.com/office/drawing/2014/main" id="{8B1BCC46-B1CF-E114-6B9F-E07EFB89DD7A}"/>
              </a:ext>
            </a:extLst>
          </p:cNvPr>
          <p:cNvSpPr/>
          <p:nvPr/>
        </p:nvSpPr>
        <p:spPr>
          <a:xfrm>
            <a:off x="7437216" y="1672016"/>
            <a:ext cx="256032" cy="25603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07" name="Text 49">
            <a:extLst>
              <a:ext uri="{FF2B5EF4-FFF2-40B4-BE49-F238E27FC236}">
                <a16:creationId xmlns:a16="http://schemas.microsoft.com/office/drawing/2014/main" id="{A1CE5079-9779-2E41-4E8C-0C7B830EE7B6}"/>
              </a:ext>
            </a:extLst>
          </p:cNvPr>
          <p:cNvSpPr/>
          <p:nvPr/>
        </p:nvSpPr>
        <p:spPr>
          <a:xfrm>
            <a:off x="7437216" y="1672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8" name="Shape 50">
            <a:extLst>
              <a:ext uri="{FF2B5EF4-FFF2-40B4-BE49-F238E27FC236}">
                <a16:creationId xmlns:a16="http://schemas.microsoft.com/office/drawing/2014/main" id="{6F111C91-D01B-6D93-EC57-6DBA4327EDAF}"/>
              </a:ext>
            </a:extLst>
          </p:cNvPr>
          <p:cNvSpPr/>
          <p:nvPr/>
        </p:nvSpPr>
        <p:spPr>
          <a:xfrm>
            <a:off x="6861142" y="1308538"/>
            <a:ext cx="539497" cy="243662"/>
          </a:xfrm>
          <a:prstGeom prst="roundRect">
            <a:avLst>
              <a:gd name="adj" fmla="val 2272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09" name="Text 51">
            <a:extLst>
              <a:ext uri="{FF2B5EF4-FFF2-40B4-BE49-F238E27FC236}">
                <a16:creationId xmlns:a16="http://schemas.microsoft.com/office/drawing/2014/main" id="{C69C12F0-41A0-ABB6-BEEB-543C8CF0AF4B}"/>
              </a:ext>
            </a:extLst>
          </p:cNvPr>
          <p:cNvSpPr/>
          <p:nvPr/>
        </p:nvSpPr>
        <p:spPr>
          <a:xfrm>
            <a:off x="6778845" y="1287968"/>
            <a:ext cx="71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/>
              <a:t>N prompts</a:t>
            </a:r>
            <a:endParaRPr lang="en-US" sz="900" dirty="0"/>
          </a:p>
        </p:txBody>
      </p:sp>
      <p:sp>
        <p:nvSpPr>
          <p:cNvPr id="310" name="Shape 52">
            <a:extLst>
              <a:ext uri="{FF2B5EF4-FFF2-40B4-BE49-F238E27FC236}">
                <a16:creationId xmlns:a16="http://schemas.microsoft.com/office/drawing/2014/main" id="{6FC01FD4-01BE-D2D2-1CE3-1CD0DFFD7804}"/>
              </a:ext>
            </a:extLst>
          </p:cNvPr>
          <p:cNvSpPr/>
          <p:nvPr/>
        </p:nvSpPr>
        <p:spPr>
          <a:xfrm>
            <a:off x="6879432" y="1552200"/>
            <a:ext cx="521208" cy="2259512"/>
          </a:xfrm>
          <a:prstGeom prst="rect">
            <a:avLst/>
          </a:prstGeom>
          <a:solidFill>
            <a:srgbClr val="9C27B0"/>
          </a:solidFill>
          <a:ln w="12700">
            <a:solidFill>
              <a:srgbClr val="7B1FA2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11" name="Text 53">
            <a:extLst>
              <a:ext uri="{FF2B5EF4-FFF2-40B4-BE49-F238E27FC236}">
                <a16:creationId xmlns:a16="http://schemas.microsoft.com/office/drawing/2014/main" id="{0C92C076-EBC5-FF93-0161-74F1B1BFC410}"/>
              </a:ext>
            </a:extLst>
          </p:cNvPr>
          <p:cNvSpPr/>
          <p:nvPr/>
        </p:nvSpPr>
        <p:spPr>
          <a:xfrm>
            <a:off x="6870288" y="1251392"/>
            <a:ext cx="49377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OWL-ViT</a:t>
            </a:r>
            <a:endParaRPr lang="en-US" sz="900" dirty="0"/>
          </a:p>
          <a:p>
            <a:pPr algn="ctr"/>
            <a:r>
              <a:rPr sz="900"/>
              <a:t>text</a:t>
            </a:r>
          </a:p>
        </p:txBody>
      </p:sp>
      <p:sp>
        <p:nvSpPr>
          <p:cNvPr id="312" name="Shape 54">
            <a:extLst>
              <a:ext uri="{FF2B5EF4-FFF2-40B4-BE49-F238E27FC236}">
                <a16:creationId xmlns:a16="http://schemas.microsoft.com/office/drawing/2014/main" id="{CBD6D886-187D-4A1C-7351-9C4DBE1BF2D4}"/>
              </a:ext>
            </a:extLst>
          </p:cNvPr>
          <p:cNvSpPr/>
          <p:nvPr/>
        </p:nvSpPr>
        <p:spPr>
          <a:xfrm>
            <a:off x="7437217" y="1308538"/>
            <a:ext cx="621792" cy="235460"/>
          </a:xfrm>
          <a:prstGeom prst="roundRect">
            <a:avLst>
              <a:gd name="adj" fmla="val 2272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13" name="Text 55">
            <a:extLst>
              <a:ext uri="{FF2B5EF4-FFF2-40B4-BE49-F238E27FC236}">
                <a16:creationId xmlns:a16="http://schemas.microsoft.com/office/drawing/2014/main" id="{4E60D947-7193-C41D-D83B-9279B58087F9}"/>
              </a:ext>
            </a:extLst>
          </p:cNvPr>
          <p:cNvSpPr/>
          <p:nvPr/>
        </p:nvSpPr>
        <p:spPr>
          <a:xfrm>
            <a:off x="7455504" y="1342832"/>
            <a:ext cx="530352" cy="209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scores</a:t>
            </a:r>
            <a:endParaRPr lang="en-US" sz="900" dirty="0"/>
          </a:p>
        </p:txBody>
      </p:sp>
      <p:sp>
        <p:nvSpPr>
          <p:cNvPr id="314" name="Shape 56">
            <a:extLst>
              <a:ext uri="{FF2B5EF4-FFF2-40B4-BE49-F238E27FC236}">
                <a16:creationId xmlns:a16="http://schemas.microsoft.com/office/drawing/2014/main" id="{1F790106-355C-E9AF-F21A-B4E1CDD345A0}"/>
              </a:ext>
            </a:extLst>
          </p:cNvPr>
          <p:cNvSpPr/>
          <p:nvPr/>
        </p:nvSpPr>
        <p:spPr>
          <a:xfrm>
            <a:off x="7434696" y="1543998"/>
            <a:ext cx="624312" cy="2267714"/>
          </a:xfrm>
          <a:prstGeom prst="rect">
            <a:avLst/>
          </a:prstGeom>
          <a:solidFill>
            <a:srgbClr val="FDD835"/>
          </a:solidFill>
          <a:ln w="12700">
            <a:solidFill>
              <a:srgbClr val="F9A825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15" name="Text 57">
            <a:extLst>
              <a:ext uri="{FF2B5EF4-FFF2-40B4-BE49-F238E27FC236}">
                <a16:creationId xmlns:a16="http://schemas.microsoft.com/office/drawing/2014/main" id="{F77EBA1B-6447-17F8-C523-B4A9956C3530}"/>
              </a:ext>
            </a:extLst>
          </p:cNvPr>
          <p:cNvSpPr/>
          <p:nvPr/>
        </p:nvSpPr>
        <p:spPr>
          <a:xfrm>
            <a:off x="7437216" y="1543998"/>
            <a:ext cx="621792" cy="2267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/>
              <a:t>Image–text</a:t>
            </a:r>
            <a:endParaRPr lang="en-US" sz="900" dirty="0"/>
          </a:p>
          <a:p>
            <a:pPr algn="ctr"/>
            <a:r>
              <a:rPr sz="900" dirty="0"/>
              <a:t>matching</a:t>
            </a:r>
          </a:p>
          <a:p>
            <a:pPr algn="ctr"/>
            <a:endParaRPr sz="900" dirty="0"/>
          </a:p>
          <a:p>
            <a:pPr algn="ctr"/>
            <a:r>
              <a:rPr sz="900" dirty="0"/>
              <a:t>boxes</a:t>
            </a:r>
          </a:p>
          <a:p>
            <a:pPr algn="ctr"/>
            <a:r>
              <a:rPr sz="900" dirty="0"/>
              <a:t>labels</a:t>
            </a:r>
          </a:p>
          <a:p>
            <a:pPr algn="ctr"/>
            <a:r>
              <a:rPr sz="900" dirty="0"/>
              <a:t>scores</a:t>
            </a:r>
          </a:p>
        </p:txBody>
      </p:sp>
      <p:sp>
        <p:nvSpPr>
          <p:cNvPr id="316" name="Text 58">
            <a:extLst>
              <a:ext uri="{FF2B5EF4-FFF2-40B4-BE49-F238E27FC236}">
                <a16:creationId xmlns:a16="http://schemas.microsoft.com/office/drawing/2014/main" id="{130F9365-1094-670D-DE06-99E7610F2181}"/>
              </a:ext>
            </a:extLst>
          </p:cNvPr>
          <p:cNvSpPr/>
          <p:nvPr/>
        </p:nvSpPr>
        <p:spPr>
          <a:xfrm>
            <a:off x="6861144" y="1055817"/>
            <a:ext cx="1207008" cy="263369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b="1"/>
              <a:t>Detection scoring</a:t>
            </a:r>
            <a:endParaRPr lang="en-US" sz="900" dirty="0"/>
          </a:p>
        </p:txBody>
      </p:sp>
      <p:sp>
        <p:nvSpPr>
          <p:cNvPr id="317" name="Text 59">
            <a:extLst>
              <a:ext uri="{FF2B5EF4-FFF2-40B4-BE49-F238E27FC236}">
                <a16:creationId xmlns:a16="http://schemas.microsoft.com/office/drawing/2014/main" id="{ED964178-2734-1B1F-5177-B07EA2A8F95C}"/>
              </a:ext>
            </a:extLst>
          </p:cNvPr>
          <p:cNvSpPr/>
          <p:nvPr/>
        </p:nvSpPr>
        <p:spPr>
          <a:xfrm>
            <a:off x="6751417" y="4364133"/>
            <a:ext cx="1527046" cy="1115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GB" sz="1200" dirty="0"/>
              <a:t>Image-text matching,</a:t>
            </a:r>
            <a:br>
              <a:rPr lang="en-GB" sz="1200" dirty="0"/>
            </a:br>
            <a:r>
              <a:rPr lang="en-GB" sz="1200" dirty="0"/>
              <a:t>category scores,</a:t>
            </a:r>
            <a:br>
              <a:rPr lang="en-GB" sz="1200" dirty="0"/>
            </a:br>
            <a:r>
              <a:rPr lang="en-GB" sz="1200" dirty="0"/>
              <a:t>and detection evidence</a:t>
            </a:r>
            <a:endParaRPr sz="1200" dirty="0"/>
          </a:p>
        </p:txBody>
      </p:sp>
      <p:sp>
        <p:nvSpPr>
          <p:cNvPr id="318" name="Shape 60">
            <a:extLst>
              <a:ext uri="{FF2B5EF4-FFF2-40B4-BE49-F238E27FC236}">
                <a16:creationId xmlns:a16="http://schemas.microsoft.com/office/drawing/2014/main" id="{5843DC56-5E8E-4304-A7CA-F671C4C05133}"/>
              </a:ext>
            </a:extLst>
          </p:cNvPr>
          <p:cNvSpPr/>
          <p:nvPr/>
        </p:nvSpPr>
        <p:spPr>
          <a:xfrm>
            <a:off x="8113872" y="684465"/>
            <a:ext cx="393194" cy="33374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319" name="Text 61">
            <a:extLst>
              <a:ext uri="{FF2B5EF4-FFF2-40B4-BE49-F238E27FC236}">
                <a16:creationId xmlns:a16="http://schemas.microsoft.com/office/drawing/2014/main" id="{494B5876-65B3-67D7-57F6-342132960D1F}"/>
              </a:ext>
            </a:extLst>
          </p:cNvPr>
          <p:cNvSpPr/>
          <p:nvPr/>
        </p:nvSpPr>
        <p:spPr>
          <a:xfrm>
            <a:off x="8072724" y="671769"/>
            <a:ext cx="434342" cy="346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20" name="Shape 62">
            <a:extLst>
              <a:ext uri="{FF2B5EF4-FFF2-40B4-BE49-F238E27FC236}">
                <a16:creationId xmlns:a16="http://schemas.microsoft.com/office/drawing/2014/main" id="{D97DFD92-688A-04BD-0DD2-93CF9A233583}"/>
              </a:ext>
            </a:extLst>
          </p:cNvPr>
          <p:cNvSpPr/>
          <p:nvPr/>
        </p:nvSpPr>
        <p:spPr>
          <a:xfrm>
            <a:off x="8189543" y="1412486"/>
            <a:ext cx="1338410" cy="2408350"/>
          </a:xfrm>
          <a:prstGeom prst="rect">
            <a:avLst/>
          </a:prstGeom>
          <a:solidFill>
            <a:srgbClr val="E8F5E9"/>
          </a:solidFill>
          <a:ln w="17780">
            <a:solidFill>
              <a:srgbClr val="43A047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21" name="Text 63">
            <a:extLst>
              <a:ext uri="{FF2B5EF4-FFF2-40B4-BE49-F238E27FC236}">
                <a16:creationId xmlns:a16="http://schemas.microsoft.com/office/drawing/2014/main" id="{F41B23A8-3976-E5C7-F16D-E436CF366CD6}"/>
              </a:ext>
            </a:extLst>
          </p:cNvPr>
          <p:cNvSpPr/>
          <p:nvPr/>
        </p:nvSpPr>
        <p:spPr>
          <a:xfrm>
            <a:off x="8175681" y="1509441"/>
            <a:ext cx="635654" cy="259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Mean</a:t>
            </a:r>
            <a:endParaRPr lang="en-US" sz="900" dirty="0"/>
          </a:p>
        </p:txBody>
      </p:sp>
      <p:sp>
        <p:nvSpPr>
          <p:cNvPr id="322" name="Text 64">
            <a:extLst>
              <a:ext uri="{FF2B5EF4-FFF2-40B4-BE49-F238E27FC236}">
                <a16:creationId xmlns:a16="http://schemas.microsoft.com/office/drawing/2014/main" id="{97232F74-C73C-4AD5-731B-3B8C1C9C2390}"/>
              </a:ext>
            </a:extLst>
          </p:cNvPr>
          <p:cNvSpPr/>
          <p:nvPr/>
        </p:nvSpPr>
        <p:spPr>
          <a:xfrm>
            <a:off x="8715375" y="1474814"/>
            <a:ext cx="901497" cy="368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/>
              <a:t>arithmetic prompt average</a:t>
            </a:r>
            <a:endParaRPr lang="en-US" sz="900" dirty="0"/>
          </a:p>
        </p:txBody>
      </p:sp>
      <p:sp>
        <p:nvSpPr>
          <p:cNvPr id="323" name="Shape 65">
            <a:extLst>
              <a:ext uri="{FF2B5EF4-FFF2-40B4-BE49-F238E27FC236}">
                <a16:creationId xmlns:a16="http://schemas.microsoft.com/office/drawing/2014/main" id="{D1A67255-AFF7-4EA0-0A3F-C88F9B8BF22C}"/>
              </a:ext>
            </a:extLst>
          </p:cNvPr>
          <p:cNvSpPr/>
          <p:nvPr/>
        </p:nvSpPr>
        <p:spPr>
          <a:xfrm>
            <a:off x="8278463" y="1909759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24" name="Text 66">
            <a:extLst>
              <a:ext uri="{FF2B5EF4-FFF2-40B4-BE49-F238E27FC236}">
                <a16:creationId xmlns:a16="http://schemas.microsoft.com/office/drawing/2014/main" id="{C3DC1367-09A2-6C77-43DF-08116F7124F5}"/>
              </a:ext>
            </a:extLst>
          </p:cNvPr>
          <p:cNvSpPr/>
          <p:nvPr/>
        </p:nvSpPr>
        <p:spPr>
          <a:xfrm>
            <a:off x="8189542" y="1967521"/>
            <a:ext cx="621793" cy="302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Max</a:t>
            </a:r>
            <a:endParaRPr lang="en-US" sz="900" dirty="0"/>
          </a:p>
        </p:txBody>
      </p:sp>
      <p:sp>
        <p:nvSpPr>
          <p:cNvPr id="325" name="Text 67">
            <a:extLst>
              <a:ext uri="{FF2B5EF4-FFF2-40B4-BE49-F238E27FC236}">
                <a16:creationId xmlns:a16="http://schemas.microsoft.com/office/drawing/2014/main" id="{5C1B2716-AA32-2F3A-A3A6-42FE78FC4143}"/>
              </a:ext>
            </a:extLst>
          </p:cNvPr>
          <p:cNvSpPr/>
          <p:nvPr/>
        </p:nvSpPr>
        <p:spPr>
          <a:xfrm>
            <a:off x="8735663" y="1922680"/>
            <a:ext cx="838728" cy="425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 dirty="0"/>
              <a:t>highest prompt evidence</a:t>
            </a:r>
            <a:endParaRPr lang="en-US" sz="900" dirty="0"/>
          </a:p>
        </p:txBody>
      </p:sp>
      <p:sp>
        <p:nvSpPr>
          <p:cNvPr id="326" name="Shape 68">
            <a:extLst>
              <a:ext uri="{FF2B5EF4-FFF2-40B4-BE49-F238E27FC236}">
                <a16:creationId xmlns:a16="http://schemas.microsoft.com/office/drawing/2014/main" id="{578D74D6-EBD4-FC5B-5F3C-9DA1CEE24083}"/>
              </a:ext>
            </a:extLst>
          </p:cNvPr>
          <p:cNvSpPr/>
          <p:nvPr/>
        </p:nvSpPr>
        <p:spPr>
          <a:xfrm>
            <a:off x="8278463" y="2338485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27" name="Text 69">
            <a:extLst>
              <a:ext uri="{FF2B5EF4-FFF2-40B4-BE49-F238E27FC236}">
                <a16:creationId xmlns:a16="http://schemas.microsoft.com/office/drawing/2014/main" id="{3E680556-9FE5-7394-7DE2-DE8D10FA25B2}"/>
              </a:ext>
            </a:extLst>
          </p:cNvPr>
          <p:cNvSpPr/>
          <p:nvPr/>
        </p:nvSpPr>
        <p:spPr>
          <a:xfrm>
            <a:off x="8189542" y="2386930"/>
            <a:ext cx="658369" cy="341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/>
              <a:t>Weighted</a:t>
            </a:r>
            <a:endParaRPr lang="en-US" sz="900" dirty="0"/>
          </a:p>
        </p:txBody>
      </p:sp>
      <p:sp>
        <p:nvSpPr>
          <p:cNvPr id="328" name="Text 70">
            <a:extLst>
              <a:ext uri="{FF2B5EF4-FFF2-40B4-BE49-F238E27FC236}">
                <a16:creationId xmlns:a16="http://schemas.microsoft.com/office/drawing/2014/main" id="{82356C3B-BE48-EA6A-A47F-2F058357AC6E}"/>
              </a:ext>
            </a:extLst>
          </p:cNvPr>
          <p:cNvSpPr/>
          <p:nvPr/>
        </p:nvSpPr>
        <p:spPr>
          <a:xfrm>
            <a:off x="8777097" y="2381120"/>
            <a:ext cx="7083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900" dirty="0"/>
              <a:t>score-weighted fusion</a:t>
            </a:r>
            <a:endParaRPr lang="en-US" sz="900" dirty="0"/>
          </a:p>
        </p:txBody>
      </p:sp>
      <p:sp>
        <p:nvSpPr>
          <p:cNvPr id="329" name="Shape 71">
            <a:extLst>
              <a:ext uri="{FF2B5EF4-FFF2-40B4-BE49-F238E27FC236}">
                <a16:creationId xmlns:a16="http://schemas.microsoft.com/office/drawing/2014/main" id="{389E6D6A-C51C-4FD8-814F-3F8F99869373}"/>
              </a:ext>
            </a:extLst>
          </p:cNvPr>
          <p:cNvSpPr/>
          <p:nvPr/>
        </p:nvSpPr>
        <p:spPr>
          <a:xfrm>
            <a:off x="8260175" y="3262087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30" name="Text 72">
            <a:extLst>
              <a:ext uri="{FF2B5EF4-FFF2-40B4-BE49-F238E27FC236}">
                <a16:creationId xmlns:a16="http://schemas.microsoft.com/office/drawing/2014/main" id="{3458C2AA-CAB2-04BB-8E56-5EAAF74E691B}"/>
              </a:ext>
            </a:extLst>
          </p:cNvPr>
          <p:cNvSpPr/>
          <p:nvPr/>
        </p:nvSpPr>
        <p:spPr>
          <a:xfrm>
            <a:off x="8189542" y="2881783"/>
            <a:ext cx="766480" cy="272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/>
              <a:t>Prior-aware</a:t>
            </a:r>
            <a:endParaRPr lang="en-US" sz="900" dirty="0">
              <a:solidFill>
                <a:schemeClr val="accent6"/>
              </a:solidFill>
            </a:endParaRPr>
          </a:p>
        </p:txBody>
      </p:sp>
      <p:sp>
        <p:nvSpPr>
          <p:cNvPr id="331" name="Text 73">
            <a:extLst>
              <a:ext uri="{FF2B5EF4-FFF2-40B4-BE49-F238E27FC236}">
                <a16:creationId xmlns:a16="http://schemas.microsoft.com/office/drawing/2014/main" id="{DEF5C94B-3C68-060B-7EAF-66925E10F543}"/>
              </a:ext>
            </a:extLst>
          </p:cNvPr>
          <p:cNvSpPr/>
          <p:nvPr/>
        </p:nvSpPr>
        <p:spPr>
          <a:xfrm>
            <a:off x="8735663" y="2814219"/>
            <a:ext cx="792290" cy="38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/>
              <a:t>LVIS frequency prior</a:t>
            </a:r>
            <a:endParaRPr lang="en-US" sz="900" dirty="0"/>
          </a:p>
        </p:txBody>
      </p:sp>
      <p:sp>
        <p:nvSpPr>
          <p:cNvPr id="332" name="Shape 74">
            <a:extLst>
              <a:ext uri="{FF2B5EF4-FFF2-40B4-BE49-F238E27FC236}">
                <a16:creationId xmlns:a16="http://schemas.microsoft.com/office/drawing/2014/main" id="{1695FB0F-784A-EB16-6D3B-12B2F01B7675}"/>
              </a:ext>
            </a:extLst>
          </p:cNvPr>
          <p:cNvSpPr/>
          <p:nvPr/>
        </p:nvSpPr>
        <p:spPr>
          <a:xfrm>
            <a:off x="8260175" y="2786353"/>
            <a:ext cx="1207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33" name="Text 75">
            <a:extLst>
              <a:ext uri="{FF2B5EF4-FFF2-40B4-BE49-F238E27FC236}">
                <a16:creationId xmlns:a16="http://schemas.microsoft.com/office/drawing/2014/main" id="{A08FD37C-958F-F9DA-6EB9-86F0E2885187}"/>
              </a:ext>
            </a:extLst>
          </p:cNvPr>
          <p:cNvSpPr/>
          <p:nvPr/>
        </p:nvSpPr>
        <p:spPr>
          <a:xfrm>
            <a:off x="8189542" y="3307242"/>
            <a:ext cx="621793" cy="335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/>
              <a:t>Adaptive</a:t>
            </a:r>
            <a:endParaRPr lang="en-US" sz="900" dirty="0">
              <a:solidFill>
                <a:schemeClr val="accent6"/>
              </a:solidFill>
            </a:endParaRPr>
          </a:p>
        </p:txBody>
      </p:sp>
      <p:sp>
        <p:nvSpPr>
          <p:cNvPr id="334" name="Text 76">
            <a:extLst>
              <a:ext uri="{FF2B5EF4-FFF2-40B4-BE49-F238E27FC236}">
                <a16:creationId xmlns:a16="http://schemas.microsoft.com/office/drawing/2014/main" id="{EC4AE69B-DC20-0889-5061-BE71FBAED485}"/>
              </a:ext>
            </a:extLst>
          </p:cNvPr>
          <p:cNvSpPr/>
          <p:nvPr/>
        </p:nvSpPr>
        <p:spPr>
          <a:xfrm>
            <a:off x="8715376" y="3307987"/>
            <a:ext cx="786768" cy="503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00" dirty="0"/>
              <a:t>confidence-aware selectivity</a:t>
            </a:r>
            <a:endParaRPr lang="en-US" sz="900" dirty="0"/>
          </a:p>
        </p:txBody>
      </p:sp>
      <p:sp>
        <p:nvSpPr>
          <p:cNvPr id="337" name="Text 79">
            <a:extLst>
              <a:ext uri="{FF2B5EF4-FFF2-40B4-BE49-F238E27FC236}">
                <a16:creationId xmlns:a16="http://schemas.microsoft.com/office/drawing/2014/main" id="{DDCA06ED-5245-C610-B452-CCDBD04DA4B0}"/>
              </a:ext>
            </a:extLst>
          </p:cNvPr>
          <p:cNvSpPr/>
          <p:nvPr/>
        </p:nvSpPr>
        <p:spPr>
          <a:xfrm>
            <a:off x="8772239" y="3341851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39" name="Text 82">
            <a:extLst>
              <a:ext uri="{FF2B5EF4-FFF2-40B4-BE49-F238E27FC236}">
                <a16:creationId xmlns:a16="http://schemas.microsoft.com/office/drawing/2014/main" id="{E00B0AE0-4683-E478-FB47-DAB2312792DA}"/>
              </a:ext>
            </a:extLst>
          </p:cNvPr>
          <p:cNvSpPr/>
          <p:nvPr/>
        </p:nvSpPr>
        <p:spPr>
          <a:xfrm>
            <a:off x="8171614" y="1018212"/>
            <a:ext cx="1371939" cy="403397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sz="900" b="1"/>
              <a:t>Semantic Fusion Module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40" name="Text 83">
            <a:extLst>
              <a:ext uri="{FF2B5EF4-FFF2-40B4-BE49-F238E27FC236}">
                <a16:creationId xmlns:a16="http://schemas.microsoft.com/office/drawing/2014/main" id="{D5304BEB-650D-E550-434A-E67B1EBA1BE9}"/>
              </a:ext>
            </a:extLst>
          </p:cNvPr>
          <p:cNvSpPr/>
          <p:nvPr/>
        </p:nvSpPr>
        <p:spPr>
          <a:xfrm>
            <a:off x="8168735" y="4364134"/>
            <a:ext cx="1440932" cy="814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sz="1200"/>
              <a:t>Fusion Module</a:t>
            </a:r>
            <a:endParaRPr lang="en-US" sz="1200" dirty="0"/>
          </a:p>
          <a:p>
            <a:pPr algn="ctr"/>
            <a:r>
              <a:rPr sz="1200"/>
              <a:t>uncertainty + conflict + prior analysis</a:t>
            </a:r>
          </a:p>
        </p:txBody>
      </p:sp>
      <p:sp>
        <p:nvSpPr>
          <p:cNvPr id="341" name="Shape 84">
            <a:extLst>
              <a:ext uri="{FF2B5EF4-FFF2-40B4-BE49-F238E27FC236}">
                <a16:creationId xmlns:a16="http://schemas.microsoft.com/office/drawing/2014/main" id="{49BD5873-D6E3-D6C5-127B-8FEBB8FAC579}"/>
              </a:ext>
            </a:extLst>
          </p:cNvPr>
          <p:cNvSpPr/>
          <p:nvPr/>
        </p:nvSpPr>
        <p:spPr>
          <a:xfrm>
            <a:off x="9613827" y="756994"/>
            <a:ext cx="283802" cy="32420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342" name="Text 85">
            <a:extLst>
              <a:ext uri="{FF2B5EF4-FFF2-40B4-BE49-F238E27FC236}">
                <a16:creationId xmlns:a16="http://schemas.microsoft.com/office/drawing/2014/main" id="{AF49F0B1-7C50-4507-9058-B2840B9484FE}"/>
              </a:ext>
            </a:extLst>
          </p:cNvPr>
          <p:cNvSpPr/>
          <p:nvPr/>
        </p:nvSpPr>
        <p:spPr>
          <a:xfrm>
            <a:off x="9446780" y="748439"/>
            <a:ext cx="645582" cy="36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45" name="Shape 88">
            <a:extLst>
              <a:ext uri="{FF2B5EF4-FFF2-40B4-BE49-F238E27FC236}">
                <a16:creationId xmlns:a16="http://schemas.microsoft.com/office/drawing/2014/main" id="{643626F0-D43C-C1FD-8E0C-3F262CBCA8A8}"/>
              </a:ext>
            </a:extLst>
          </p:cNvPr>
          <p:cNvSpPr/>
          <p:nvPr/>
        </p:nvSpPr>
        <p:spPr>
          <a:xfrm>
            <a:off x="9614209" y="1417010"/>
            <a:ext cx="1261872" cy="2403826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 wrap="square"/>
          <a:lstStyle/>
          <a:p>
            <a:pPr algn="ctr"/>
            <a:endParaRPr lang="en-GB" sz="900" dirty="0"/>
          </a:p>
        </p:txBody>
      </p:sp>
      <p:sp>
        <p:nvSpPr>
          <p:cNvPr id="346" name="Text 89">
            <a:extLst>
              <a:ext uri="{FF2B5EF4-FFF2-40B4-BE49-F238E27FC236}">
                <a16:creationId xmlns:a16="http://schemas.microsoft.com/office/drawing/2014/main" id="{B2D0DFF8-A2F1-1916-0862-91B23491FB4F}"/>
              </a:ext>
            </a:extLst>
          </p:cNvPr>
          <p:cNvSpPr/>
          <p:nvPr/>
        </p:nvSpPr>
        <p:spPr>
          <a:xfrm>
            <a:off x="9692544" y="1653726"/>
            <a:ext cx="1152144" cy="201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900" dirty="0"/>
              <a:t>Image-category scoring</a:t>
            </a:r>
          </a:p>
          <a:p>
            <a:pPr algn="ctr"/>
            <a:r>
              <a:rPr lang="en-IN" sz="900" dirty="0"/>
              <a:t>using aggregated prompt evidence</a:t>
            </a:r>
          </a:p>
          <a:p>
            <a:pPr algn="ctr"/>
            <a:r>
              <a:rPr lang="en-IN" sz="900" dirty="0"/>
              <a:t>Frequency-aware adjustment</a:t>
            </a:r>
          </a:p>
          <a:p>
            <a:pPr algn="ctr"/>
            <a:r>
              <a:rPr lang="en-IN" sz="900" dirty="0"/>
              <a:t>applied only for LVIS</a:t>
            </a:r>
            <a:endParaRPr sz="900" dirty="0"/>
          </a:p>
        </p:txBody>
      </p:sp>
      <p:sp>
        <p:nvSpPr>
          <p:cNvPr id="351" name="Text 94">
            <a:extLst>
              <a:ext uri="{FF2B5EF4-FFF2-40B4-BE49-F238E27FC236}">
                <a16:creationId xmlns:a16="http://schemas.microsoft.com/office/drawing/2014/main" id="{CD29BFC1-69BD-557B-7347-BE5295CA9186}"/>
              </a:ext>
            </a:extLst>
          </p:cNvPr>
          <p:cNvSpPr/>
          <p:nvPr/>
        </p:nvSpPr>
        <p:spPr>
          <a:xfrm>
            <a:off x="9605434" y="1032260"/>
            <a:ext cx="1284911" cy="419093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/>
            <a:r>
              <a:rPr sz="900" b="1"/>
              <a:t>Category scoring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52" name="Text 95">
            <a:extLst>
              <a:ext uri="{FF2B5EF4-FFF2-40B4-BE49-F238E27FC236}">
                <a16:creationId xmlns:a16="http://schemas.microsoft.com/office/drawing/2014/main" id="{EC425E8C-63F0-47FD-DC52-7A34427CB708}"/>
              </a:ext>
            </a:extLst>
          </p:cNvPr>
          <p:cNvSpPr/>
          <p:nvPr/>
        </p:nvSpPr>
        <p:spPr>
          <a:xfrm>
            <a:off x="9534581" y="4364134"/>
            <a:ext cx="1390394" cy="21555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GB" sz="1200" dirty="0"/>
              <a:t>Category-Level Evidence Scoring</a:t>
            </a:r>
            <a:endParaRPr sz="1200" dirty="0"/>
          </a:p>
          <a:p>
            <a:pPr algn="ctr"/>
            <a:endParaRPr sz="1200" dirty="0"/>
          </a:p>
          <a:p>
            <a:pPr algn="ctr"/>
            <a:r>
              <a:rPr sz="1200" dirty="0"/>
              <a:t>aggregated prompt evidence</a:t>
            </a:r>
          </a:p>
          <a:p>
            <a:pPr algn="ctr"/>
            <a:r>
              <a:rPr sz="1200" dirty="0"/>
              <a:t>category confidence scores</a:t>
            </a:r>
          </a:p>
        </p:txBody>
      </p:sp>
      <p:sp>
        <p:nvSpPr>
          <p:cNvPr id="353" name="Shape 96">
            <a:extLst>
              <a:ext uri="{FF2B5EF4-FFF2-40B4-BE49-F238E27FC236}">
                <a16:creationId xmlns:a16="http://schemas.microsoft.com/office/drawing/2014/main" id="{1224466A-978F-0574-E7A2-F62F14A62F9A}"/>
              </a:ext>
            </a:extLst>
          </p:cNvPr>
          <p:cNvSpPr/>
          <p:nvPr/>
        </p:nvSpPr>
        <p:spPr>
          <a:xfrm>
            <a:off x="10984749" y="757227"/>
            <a:ext cx="330200" cy="30072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 wrap="square"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8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354" name="Text 97">
            <a:extLst>
              <a:ext uri="{FF2B5EF4-FFF2-40B4-BE49-F238E27FC236}">
                <a16:creationId xmlns:a16="http://schemas.microsoft.com/office/drawing/2014/main" id="{C8874773-E5FC-90DA-F7EC-F1208F35B068}"/>
              </a:ext>
            </a:extLst>
          </p:cNvPr>
          <p:cNvSpPr/>
          <p:nvPr/>
        </p:nvSpPr>
        <p:spPr>
          <a:xfrm>
            <a:off x="10740062" y="1057543"/>
            <a:ext cx="448734" cy="41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55" name="Shape 98">
            <a:extLst>
              <a:ext uri="{FF2B5EF4-FFF2-40B4-BE49-F238E27FC236}">
                <a16:creationId xmlns:a16="http://schemas.microsoft.com/office/drawing/2014/main" id="{C2FEF5E4-62FA-DA66-E8D5-B26C85F93A4B}"/>
              </a:ext>
            </a:extLst>
          </p:cNvPr>
          <p:cNvSpPr/>
          <p:nvPr/>
        </p:nvSpPr>
        <p:spPr>
          <a:xfrm>
            <a:off x="10992302" y="1260516"/>
            <a:ext cx="841248" cy="2560320"/>
          </a:xfrm>
          <a:prstGeom prst="rect">
            <a:avLst/>
          </a:prstGeom>
          <a:solidFill>
            <a:srgbClr val="00BCD4"/>
          </a:solidFill>
          <a:ln w="15240">
            <a:solidFill>
              <a:srgbClr val="0097A7"/>
            </a:solidFill>
            <a:prstDash val="solid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56" name="Text 99">
            <a:extLst>
              <a:ext uri="{FF2B5EF4-FFF2-40B4-BE49-F238E27FC236}">
                <a16:creationId xmlns:a16="http://schemas.microsoft.com/office/drawing/2014/main" id="{01E82C87-6DAC-6CE5-6ECA-DF05FC36D5D6}"/>
              </a:ext>
            </a:extLst>
          </p:cNvPr>
          <p:cNvSpPr/>
          <p:nvPr/>
        </p:nvSpPr>
        <p:spPr>
          <a:xfrm>
            <a:off x="10997672" y="1018213"/>
            <a:ext cx="838727" cy="2793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900" dirty="0"/>
              <a:t>Detected categories</a:t>
            </a:r>
            <a:br>
              <a:rPr lang="en-GB" sz="900" dirty="0"/>
            </a:br>
            <a:r>
              <a:rPr lang="en-GB" sz="900" dirty="0"/>
              <a:t>with bounding-box</a:t>
            </a:r>
            <a:br>
              <a:rPr lang="en-GB" sz="900" dirty="0"/>
            </a:br>
            <a:r>
              <a:rPr lang="en-GB" sz="900" dirty="0"/>
              <a:t>localization and</a:t>
            </a:r>
            <a:br>
              <a:rPr lang="en-GB" sz="900" dirty="0"/>
            </a:br>
            <a:r>
              <a:rPr lang="en-GB" sz="900" dirty="0"/>
              <a:t>confidence scores</a:t>
            </a:r>
            <a:endParaRPr sz="900" dirty="0"/>
          </a:p>
        </p:txBody>
      </p:sp>
      <p:sp>
        <p:nvSpPr>
          <p:cNvPr id="357" name="Text 100">
            <a:extLst>
              <a:ext uri="{FF2B5EF4-FFF2-40B4-BE49-F238E27FC236}">
                <a16:creationId xmlns:a16="http://schemas.microsoft.com/office/drawing/2014/main" id="{C1750F6B-BD37-C55D-FFAA-20EC9604FC3B}"/>
              </a:ext>
            </a:extLst>
          </p:cNvPr>
          <p:cNvSpPr/>
          <p:nvPr/>
        </p:nvSpPr>
        <p:spPr>
          <a:xfrm>
            <a:off x="10982716" y="1040391"/>
            <a:ext cx="863844" cy="338314"/>
          </a:xfrm>
          <a:prstGeom prst="rect">
            <a:avLst/>
          </a:prstGeom>
          <a:solidFill>
            <a:srgbClr val="0097A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b="1"/>
              <a:t>Output</a:t>
            </a:r>
            <a:endParaRPr lang="en-US" sz="900" dirty="0"/>
          </a:p>
        </p:txBody>
      </p:sp>
      <p:sp>
        <p:nvSpPr>
          <p:cNvPr id="358" name="Text 101">
            <a:extLst>
              <a:ext uri="{FF2B5EF4-FFF2-40B4-BE49-F238E27FC236}">
                <a16:creationId xmlns:a16="http://schemas.microsoft.com/office/drawing/2014/main" id="{CDED80E1-7E85-77AB-D47A-2755CAA9B103}"/>
              </a:ext>
            </a:extLst>
          </p:cNvPr>
          <p:cNvSpPr/>
          <p:nvPr/>
        </p:nvSpPr>
        <p:spPr>
          <a:xfrm>
            <a:off x="10768256" y="4034948"/>
            <a:ext cx="1207008" cy="2228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GB" sz="1200" dirty="0"/>
              <a:t>Framework Evaluation</a:t>
            </a:r>
            <a:endParaRPr sz="1200" dirty="0"/>
          </a:p>
          <a:p>
            <a:pPr algn="ctr"/>
            <a:endParaRPr sz="1200" dirty="0"/>
          </a:p>
          <a:p>
            <a:pPr algn="ctr"/>
            <a:r>
              <a:rPr lang="en-GB" sz="1200" dirty="0"/>
              <a:t>Primary vs Semantic Evidence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Image-level Category Recall</a:t>
            </a:r>
            <a:br>
              <a:rPr lang="en-GB" sz="1200" dirty="0"/>
            </a:br>
            <a:r>
              <a:rPr lang="en-GB" sz="1200" dirty="0"/>
              <a:t>Pair Recall</a:t>
            </a:r>
            <a:br>
              <a:rPr lang="en-GB" sz="1200" dirty="0"/>
            </a:br>
            <a:r>
              <a:rPr lang="en-GB" sz="1200" dirty="0"/>
              <a:t>AP50-proxy Evaluation</a:t>
            </a:r>
            <a:endParaRPr sz="1200" dirty="0"/>
          </a:p>
        </p:txBody>
      </p:sp>
      <p:sp>
        <p:nvSpPr>
          <p:cNvPr id="359" name="Shape 104">
            <a:extLst>
              <a:ext uri="{FF2B5EF4-FFF2-40B4-BE49-F238E27FC236}">
                <a16:creationId xmlns:a16="http://schemas.microsoft.com/office/drawing/2014/main" id="{A2DF9E91-BF32-9E58-D8FA-A98467E15F65}"/>
              </a:ext>
            </a:extLst>
          </p:cNvPr>
          <p:cNvSpPr/>
          <p:nvPr/>
        </p:nvSpPr>
        <p:spPr>
          <a:xfrm>
            <a:off x="5608416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60" name="Shape 105">
            <a:extLst>
              <a:ext uri="{FF2B5EF4-FFF2-40B4-BE49-F238E27FC236}">
                <a16:creationId xmlns:a16="http://schemas.microsoft.com/office/drawing/2014/main" id="{8570A6BE-19DF-66A1-B473-A4930E3003E4}"/>
              </a:ext>
            </a:extLst>
          </p:cNvPr>
          <p:cNvSpPr/>
          <p:nvPr/>
        </p:nvSpPr>
        <p:spPr>
          <a:xfrm>
            <a:off x="6742272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61" name="Shape 106">
            <a:extLst>
              <a:ext uri="{FF2B5EF4-FFF2-40B4-BE49-F238E27FC236}">
                <a16:creationId xmlns:a16="http://schemas.microsoft.com/office/drawing/2014/main" id="{6F72271F-1AF9-C48C-F205-2C200CC6EE90}"/>
              </a:ext>
            </a:extLst>
          </p:cNvPr>
          <p:cNvSpPr/>
          <p:nvPr/>
        </p:nvSpPr>
        <p:spPr>
          <a:xfrm>
            <a:off x="8095583" y="2665195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62" name="Shape 107">
            <a:extLst>
              <a:ext uri="{FF2B5EF4-FFF2-40B4-BE49-F238E27FC236}">
                <a16:creationId xmlns:a16="http://schemas.microsoft.com/office/drawing/2014/main" id="{C5A4E6C7-EDBE-3D07-5BC1-A99156857002}"/>
              </a:ext>
            </a:extLst>
          </p:cNvPr>
          <p:cNvSpPr/>
          <p:nvPr/>
        </p:nvSpPr>
        <p:spPr>
          <a:xfrm>
            <a:off x="9503760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63" name="Shape 108">
            <a:extLst>
              <a:ext uri="{FF2B5EF4-FFF2-40B4-BE49-F238E27FC236}">
                <a16:creationId xmlns:a16="http://schemas.microsoft.com/office/drawing/2014/main" id="{D27CD631-F33F-CF06-1F93-16D6024D9042}"/>
              </a:ext>
            </a:extLst>
          </p:cNvPr>
          <p:cNvSpPr/>
          <p:nvPr/>
        </p:nvSpPr>
        <p:spPr>
          <a:xfrm>
            <a:off x="10893648" y="2531552"/>
            <a:ext cx="10972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 wrap="square"/>
          <a:lstStyle/>
          <a:p>
            <a:pPr algn="ctr"/>
            <a:endParaRPr sz="900"/>
          </a:p>
        </p:txBody>
      </p:sp>
      <p:sp>
        <p:nvSpPr>
          <p:cNvPr id="364" name="Text 7">
            <a:extLst>
              <a:ext uri="{FF2B5EF4-FFF2-40B4-BE49-F238E27FC236}">
                <a16:creationId xmlns:a16="http://schemas.microsoft.com/office/drawing/2014/main" id="{497B4744-91F7-4C5C-796E-2925B4B84A5D}"/>
              </a:ext>
            </a:extLst>
          </p:cNvPr>
          <p:cNvSpPr/>
          <p:nvPr/>
        </p:nvSpPr>
        <p:spPr>
          <a:xfrm>
            <a:off x="634080" y="1187501"/>
            <a:ext cx="749808" cy="310882"/>
          </a:xfrm>
          <a:prstGeom prst="rect">
            <a:avLst/>
          </a:prstGeom>
          <a:solidFill>
            <a:srgbClr val="0097A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b="1"/>
              <a:t>Input Image</a:t>
            </a:r>
            <a:endParaRPr lang="en-US" sz="900" dirty="0"/>
          </a:p>
        </p:txBody>
      </p:sp>
      <p:sp>
        <p:nvSpPr>
          <p:cNvPr id="365" name="Text 8">
            <a:extLst>
              <a:ext uri="{FF2B5EF4-FFF2-40B4-BE49-F238E27FC236}">
                <a16:creationId xmlns:a16="http://schemas.microsoft.com/office/drawing/2014/main" id="{951ACD6E-307E-AF32-2AFF-92B6C7D71C4A}"/>
              </a:ext>
            </a:extLst>
          </p:cNvPr>
          <p:cNvSpPr/>
          <p:nvPr/>
        </p:nvSpPr>
        <p:spPr>
          <a:xfrm>
            <a:off x="1587762" y="4316396"/>
            <a:ext cx="747102" cy="457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6" name="Text 21">
            <a:extLst>
              <a:ext uri="{FF2B5EF4-FFF2-40B4-BE49-F238E27FC236}">
                <a16:creationId xmlns:a16="http://schemas.microsoft.com/office/drawing/2014/main" id="{AD5C738D-B790-0749-DEDB-38FFF8D50020}"/>
              </a:ext>
            </a:extLst>
          </p:cNvPr>
          <p:cNvSpPr/>
          <p:nvPr/>
        </p:nvSpPr>
        <p:spPr>
          <a:xfrm>
            <a:off x="1511904" y="1174703"/>
            <a:ext cx="1938526" cy="32357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algn="ctr"/>
            <a:r>
              <a:rPr sz="900" b="1"/>
              <a:t>Pretrained OWL-ViT Visual Encoder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67" name="Text 22">
            <a:extLst>
              <a:ext uri="{FF2B5EF4-FFF2-40B4-BE49-F238E27FC236}">
                <a16:creationId xmlns:a16="http://schemas.microsoft.com/office/drawing/2014/main" id="{DF8D1FC2-F7E3-E2D9-4F10-40A2C1103BEB}"/>
              </a:ext>
            </a:extLst>
          </p:cNvPr>
          <p:cNvSpPr/>
          <p:nvPr/>
        </p:nvSpPr>
        <p:spPr>
          <a:xfrm>
            <a:off x="1511904" y="4300125"/>
            <a:ext cx="1920238" cy="519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sz="1200"/>
              <a:t>No detector training in this pipeline</a:t>
            </a:r>
          </a:p>
        </p:txBody>
      </p:sp>
      <p:sp>
        <p:nvSpPr>
          <p:cNvPr id="368" name="Text 35">
            <a:extLst>
              <a:ext uri="{FF2B5EF4-FFF2-40B4-BE49-F238E27FC236}">
                <a16:creationId xmlns:a16="http://schemas.microsoft.com/office/drawing/2014/main" id="{23967E66-D2F8-8E8C-3539-BCA6DE4D1ADF}"/>
              </a:ext>
            </a:extLst>
          </p:cNvPr>
          <p:cNvSpPr/>
          <p:nvPr/>
        </p:nvSpPr>
        <p:spPr>
          <a:xfrm>
            <a:off x="3688176" y="1169788"/>
            <a:ext cx="1938528" cy="282081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rtlCol="0" anchor="ctr"/>
          <a:lstStyle/>
          <a:p>
            <a:pPr algn="ctr"/>
            <a:r>
              <a:rPr sz="900" b="1"/>
              <a:t>Visual object evidence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69" name="Text 36">
            <a:extLst>
              <a:ext uri="{FF2B5EF4-FFF2-40B4-BE49-F238E27FC236}">
                <a16:creationId xmlns:a16="http://schemas.microsoft.com/office/drawing/2014/main" id="{34854A8B-4E56-56CA-7133-CBD0728FD4CA}"/>
              </a:ext>
            </a:extLst>
          </p:cNvPr>
          <p:cNvSpPr/>
          <p:nvPr/>
        </p:nvSpPr>
        <p:spPr>
          <a:xfrm>
            <a:off x="3404075" y="4091653"/>
            <a:ext cx="2104394" cy="1929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sz="1200"/>
              <a:t>Image Feature Extraction</a:t>
            </a:r>
          </a:p>
          <a:p>
            <a:pPr algn="ctr"/>
            <a:endParaRPr sz="1200"/>
          </a:p>
          <a:p>
            <a:pPr algn="ctr"/>
            <a:r>
              <a:rPr sz="1200"/>
              <a:t>OWL-ViT image features</a:t>
            </a: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047976A7-D162-B376-E8A2-F9A93FF784E7}"/>
              </a:ext>
            </a:extLst>
          </p:cNvPr>
          <p:cNvSpPr/>
          <p:nvPr/>
        </p:nvSpPr>
        <p:spPr>
          <a:xfrm>
            <a:off x="5616967" y="668033"/>
            <a:ext cx="385233" cy="37728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900" dirty="0"/>
              <a:t>4</a:t>
            </a:r>
            <a:endParaRPr lang="en-GB" sz="900" dirty="0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1D45B2E1-C9D8-9403-88FB-A75FD7706227}"/>
              </a:ext>
            </a:extLst>
          </p:cNvPr>
          <p:cNvSpPr/>
          <p:nvPr/>
        </p:nvSpPr>
        <p:spPr>
          <a:xfrm>
            <a:off x="6852000" y="702987"/>
            <a:ext cx="375583" cy="33949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900" dirty="0"/>
              <a:t>5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533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693316-9A04-5425-5F0B-C27904C4249C}"/>
              </a:ext>
            </a:extLst>
          </p:cNvPr>
          <p:cNvSpPr/>
          <p:nvPr/>
        </p:nvSpPr>
        <p:spPr>
          <a:xfrm>
            <a:off x="1389888" y="3675889"/>
            <a:ext cx="5852160" cy="274320"/>
          </a:xfrm>
          <a:prstGeom prst="rect">
            <a:avLst/>
          </a:prstGeom>
          <a:solidFill>
            <a:srgbClr val="FFFFFF"/>
          </a:solidFill>
          <a:ln w="228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FALSE-POSITIVE AND UNCERTAINTY ANALYSIS PATHWAY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86998-F7FA-545B-9E60-DC3C811D8B5A}"/>
              </a:ext>
            </a:extLst>
          </p:cNvPr>
          <p:cNvSpPr/>
          <p:nvPr/>
        </p:nvSpPr>
        <p:spPr>
          <a:xfrm>
            <a:off x="1056132" y="960120"/>
            <a:ext cx="256032" cy="256032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B88619-988C-668E-25A0-EF89421B4943}"/>
              </a:ext>
            </a:extLst>
          </p:cNvPr>
          <p:cNvSpPr/>
          <p:nvPr/>
        </p:nvSpPr>
        <p:spPr>
          <a:xfrm>
            <a:off x="781812" y="1234440"/>
            <a:ext cx="804672" cy="1755648"/>
          </a:xfrm>
          <a:prstGeom prst="rect">
            <a:avLst/>
          </a:prstGeom>
          <a:solidFill>
            <a:srgbClr val="43A047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Primary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Prompt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Baseline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0DF2E-F1CD-27E0-D677-2CAA2BC413EB}"/>
              </a:ext>
            </a:extLst>
          </p:cNvPr>
          <p:cNvSpPr/>
          <p:nvPr/>
        </p:nvSpPr>
        <p:spPr>
          <a:xfrm>
            <a:off x="771398" y="1225295"/>
            <a:ext cx="815086" cy="438913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Primary Prompt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6E4BDC-8E01-745D-1D20-EA1569AA80FD}"/>
              </a:ext>
            </a:extLst>
          </p:cNvPr>
          <p:cNvSpPr/>
          <p:nvPr/>
        </p:nvSpPr>
        <p:spPr>
          <a:xfrm>
            <a:off x="1970532" y="96012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9AE73B-E60B-F4CA-D32C-29BEE93F324E}"/>
              </a:ext>
            </a:extLst>
          </p:cNvPr>
          <p:cNvSpPr/>
          <p:nvPr/>
        </p:nvSpPr>
        <p:spPr>
          <a:xfrm>
            <a:off x="1723644" y="1216149"/>
            <a:ext cx="749808" cy="219459"/>
          </a:xfrm>
          <a:prstGeom prst="rect">
            <a:avLst/>
          </a:prstGeom>
          <a:solidFill>
            <a:srgbClr val="F8BBD9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96AEB-6839-0032-81CF-B5A9FE474DB9}"/>
              </a:ext>
            </a:extLst>
          </p:cNvPr>
          <p:cNvSpPr/>
          <p:nvPr/>
        </p:nvSpPr>
        <p:spPr>
          <a:xfrm>
            <a:off x="1760220" y="1444752"/>
            <a:ext cx="67665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D6954-1547-9D82-F7D4-AECDDB10721F}"/>
              </a:ext>
            </a:extLst>
          </p:cNvPr>
          <p:cNvSpPr/>
          <p:nvPr/>
        </p:nvSpPr>
        <p:spPr>
          <a:xfrm>
            <a:off x="1796796" y="1655064"/>
            <a:ext cx="60350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DD8A2D-9D4F-E76B-3DC5-FA0F40B0AF0B}"/>
              </a:ext>
            </a:extLst>
          </p:cNvPr>
          <p:cNvSpPr/>
          <p:nvPr/>
        </p:nvSpPr>
        <p:spPr>
          <a:xfrm>
            <a:off x="1833372" y="1865376"/>
            <a:ext cx="530352" cy="201168"/>
          </a:xfrm>
          <a:prstGeom prst="rect">
            <a:avLst/>
          </a:prstGeom>
          <a:solidFill>
            <a:srgbClr val="EF535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34C51-3CAF-1970-0AE3-338E602DBE6F}"/>
              </a:ext>
            </a:extLst>
          </p:cNvPr>
          <p:cNvSpPr/>
          <p:nvPr/>
        </p:nvSpPr>
        <p:spPr>
          <a:xfrm>
            <a:off x="1869948" y="2075688"/>
            <a:ext cx="457200" cy="201168"/>
          </a:xfrm>
          <a:prstGeom prst="rect">
            <a:avLst/>
          </a:prstGeom>
          <a:solidFill>
            <a:srgbClr val="E53935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1E0CB4-8AE8-9A8F-9B28-92A000F301C7}"/>
              </a:ext>
            </a:extLst>
          </p:cNvPr>
          <p:cNvSpPr/>
          <p:nvPr/>
        </p:nvSpPr>
        <p:spPr>
          <a:xfrm>
            <a:off x="1906524" y="2286000"/>
            <a:ext cx="384048" cy="201168"/>
          </a:xfrm>
          <a:prstGeom prst="rect">
            <a:avLst/>
          </a:prstGeom>
          <a:solidFill>
            <a:srgbClr val="C6282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25076-5BC9-EEB4-DE7C-7E85470BD586}"/>
              </a:ext>
            </a:extLst>
          </p:cNvPr>
          <p:cNvSpPr/>
          <p:nvPr/>
        </p:nvSpPr>
        <p:spPr>
          <a:xfrm>
            <a:off x="1943100" y="2496312"/>
            <a:ext cx="31089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ACE1AC-059D-2AFB-B1F9-4765D661E1B4}"/>
              </a:ext>
            </a:extLst>
          </p:cNvPr>
          <p:cNvSpPr/>
          <p:nvPr/>
        </p:nvSpPr>
        <p:spPr>
          <a:xfrm>
            <a:off x="1979676" y="2706624"/>
            <a:ext cx="23774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E5B2FB-CE5B-657F-65BD-AE999111883A}"/>
              </a:ext>
            </a:extLst>
          </p:cNvPr>
          <p:cNvSpPr/>
          <p:nvPr/>
        </p:nvSpPr>
        <p:spPr>
          <a:xfrm>
            <a:off x="1696212" y="3044952"/>
            <a:ext cx="804672" cy="42977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OWL-ViT base-patch32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1E1C13-8C26-5360-8532-7081FC70AF6D}"/>
              </a:ext>
            </a:extLst>
          </p:cNvPr>
          <p:cNvSpPr/>
          <p:nvPr/>
        </p:nvSpPr>
        <p:spPr>
          <a:xfrm>
            <a:off x="2702052" y="96012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B1F91A-59BD-50B1-BCC4-500D6FBB8A8D}"/>
              </a:ext>
            </a:extLst>
          </p:cNvPr>
          <p:cNvSpPr/>
          <p:nvPr/>
        </p:nvSpPr>
        <p:spPr>
          <a:xfrm>
            <a:off x="2610612" y="1234440"/>
            <a:ext cx="475488" cy="1755648"/>
          </a:xfrm>
          <a:prstGeom prst="rect">
            <a:avLst/>
          </a:prstGeom>
          <a:solidFill>
            <a:srgbClr val="FF8F0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81C5B1-CDFD-81B4-73A0-991159ED38EE}"/>
              </a:ext>
            </a:extLst>
          </p:cNvPr>
          <p:cNvSpPr/>
          <p:nvPr/>
        </p:nvSpPr>
        <p:spPr>
          <a:xfrm>
            <a:off x="2820924" y="1563624"/>
            <a:ext cx="896112" cy="1426463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detections</a:t>
            </a:r>
            <a:endParaRPr sz="900" b="0" dirty="0">
              <a:solidFill>
                <a:schemeClr val="tx1"/>
              </a:solidFill>
            </a:endParaRPr>
          </a:p>
          <a:p>
            <a:pPr algn="ctr"/>
            <a:r>
              <a:rPr sz="900">
                <a:solidFill>
                  <a:schemeClr val="tx1"/>
                </a:solidFill>
              </a:rPr>
              <a:t>boxes + scores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CAA4CA-5016-D2D0-7DD6-EF1DD0C73FF2}"/>
              </a:ext>
            </a:extLst>
          </p:cNvPr>
          <p:cNvSpPr/>
          <p:nvPr/>
        </p:nvSpPr>
        <p:spPr>
          <a:xfrm>
            <a:off x="2610612" y="1234439"/>
            <a:ext cx="1124204" cy="35445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Object Detection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213A2D-D192-7775-E8BA-1C820F57CD9C}"/>
              </a:ext>
            </a:extLst>
          </p:cNvPr>
          <p:cNvSpPr/>
          <p:nvPr/>
        </p:nvSpPr>
        <p:spPr>
          <a:xfrm>
            <a:off x="4183380" y="960120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1230CD-F67C-CCE2-D0C2-FDB8FB66EC61}"/>
              </a:ext>
            </a:extLst>
          </p:cNvPr>
          <p:cNvSpPr/>
          <p:nvPr/>
        </p:nvSpPr>
        <p:spPr>
          <a:xfrm>
            <a:off x="3803904" y="1229868"/>
            <a:ext cx="1024128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Primary Evidence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60438D-6AD4-8F52-5833-4A578E88D958}"/>
              </a:ext>
            </a:extLst>
          </p:cNvPr>
          <p:cNvSpPr/>
          <p:nvPr/>
        </p:nvSpPr>
        <p:spPr>
          <a:xfrm>
            <a:off x="3817620" y="1490472"/>
            <a:ext cx="1005840" cy="1499616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dirty="0">
                <a:solidFill>
                  <a:schemeClr val="tx1"/>
                </a:solidFill>
              </a:rPr>
              <a:t>one prompt per category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LVIS recall 0.8538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COCO recall 0.8816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3C4258-B0A4-4732-D76F-5B81CF889549}"/>
              </a:ext>
            </a:extLst>
          </p:cNvPr>
          <p:cNvSpPr/>
          <p:nvPr/>
        </p:nvSpPr>
        <p:spPr>
          <a:xfrm>
            <a:off x="5262372" y="960120"/>
            <a:ext cx="256032" cy="256032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E086CE-1496-3A10-FE23-B2DDDB096BC6}"/>
              </a:ext>
            </a:extLst>
          </p:cNvPr>
          <p:cNvSpPr/>
          <p:nvPr/>
        </p:nvSpPr>
        <p:spPr>
          <a:xfrm>
            <a:off x="4951476" y="1234440"/>
            <a:ext cx="896112" cy="25603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chemeClr val="tx1"/>
                </a:solidFill>
              </a:rPr>
              <a:t>Semantic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67ADB8-60BA-73BA-3220-FB8D85C96C8D}"/>
              </a:ext>
            </a:extLst>
          </p:cNvPr>
          <p:cNvSpPr/>
          <p:nvPr/>
        </p:nvSpPr>
        <p:spPr>
          <a:xfrm>
            <a:off x="4937760" y="1490471"/>
            <a:ext cx="896112" cy="1499616"/>
          </a:xfrm>
          <a:prstGeom prst="rect">
            <a:avLst/>
          </a:prstGeom>
          <a:solidFill>
            <a:srgbClr val="FFF8E1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multi-prompt semantic evidence recall</a:t>
            </a:r>
            <a:endParaRPr sz="900" dirty="0">
              <a:solidFill>
                <a:schemeClr val="tx1"/>
              </a:solidFill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LVIS recall 0.9131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COCO recall 0.9270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120BAA-4017-8A99-3957-6459FCCFED30}"/>
              </a:ext>
            </a:extLst>
          </p:cNvPr>
          <p:cNvSpPr/>
          <p:nvPr/>
        </p:nvSpPr>
        <p:spPr>
          <a:xfrm>
            <a:off x="6012180" y="960120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57EF69-727D-D8FE-1357-4BE0DADEA68A}"/>
              </a:ext>
            </a:extLst>
          </p:cNvPr>
          <p:cNvSpPr/>
          <p:nvPr/>
        </p:nvSpPr>
        <p:spPr>
          <a:xfrm>
            <a:off x="5975604" y="1234440"/>
            <a:ext cx="112471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Adaptive Fusion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AFF037-A5A4-E01F-6C5E-E993FBED8867}"/>
              </a:ext>
            </a:extLst>
          </p:cNvPr>
          <p:cNvSpPr/>
          <p:nvPr/>
        </p:nvSpPr>
        <p:spPr>
          <a:xfrm>
            <a:off x="5975604" y="1490472"/>
            <a:ext cx="1115568" cy="1499616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dirty="0">
                <a:solidFill>
                  <a:schemeClr val="tx1"/>
                </a:solidFill>
              </a:rPr>
              <a:t>more selective aggregation</a:t>
            </a:r>
            <a:endParaRPr sz="900" b="0" dirty="0">
              <a:solidFill>
                <a:schemeClr val="tx1"/>
              </a:solidFill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LVIS recall 0.8015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COCO recall 0.8231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AE87715-3021-4E79-83E8-EC732239B58B}"/>
              </a:ext>
            </a:extLst>
          </p:cNvPr>
          <p:cNvSpPr/>
          <p:nvPr/>
        </p:nvSpPr>
        <p:spPr>
          <a:xfrm>
            <a:off x="7242048" y="960120"/>
            <a:ext cx="256032" cy="256032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5A71D0-4FFE-E37D-7ECF-85FB660F1647}"/>
              </a:ext>
            </a:extLst>
          </p:cNvPr>
          <p:cNvSpPr/>
          <p:nvPr/>
        </p:nvSpPr>
        <p:spPr>
          <a:xfrm>
            <a:off x="7165340" y="1291164"/>
            <a:ext cx="811276" cy="1698923"/>
          </a:xfrm>
          <a:prstGeom prst="rect">
            <a:avLst/>
          </a:prstGeom>
          <a:solidFill>
            <a:srgbClr val="80DEEA"/>
          </a:solidFill>
          <a:ln w="1524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27002E-50C4-2073-04B4-35C6AFE293DE}"/>
              </a:ext>
            </a:extLst>
          </p:cNvPr>
          <p:cNvSpPr/>
          <p:nvPr/>
        </p:nvSpPr>
        <p:spPr>
          <a:xfrm>
            <a:off x="7162800" y="1291167"/>
            <a:ext cx="850222" cy="1717209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/>
              <a:t>LVIS recall 0.8412</a:t>
            </a:r>
            <a:br>
              <a:rPr lang="en-GB" sz="900" dirty="0"/>
            </a:br>
            <a:r>
              <a:rPr lang="en-GB" sz="900" dirty="0"/>
              <a:t>COCO recall 0.8231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E9D774-E7FD-D760-3B17-EAE9FFD913E1}"/>
              </a:ext>
            </a:extLst>
          </p:cNvPr>
          <p:cNvSpPr/>
          <p:nvPr/>
        </p:nvSpPr>
        <p:spPr>
          <a:xfrm>
            <a:off x="105156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E8A2582-2F6C-61D5-FBEC-EE6923DA0408}"/>
              </a:ext>
            </a:extLst>
          </p:cNvPr>
          <p:cNvSpPr/>
          <p:nvPr/>
        </p:nvSpPr>
        <p:spPr>
          <a:xfrm>
            <a:off x="777240" y="4297680"/>
            <a:ext cx="804672" cy="1755648"/>
          </a:xfrm>
          <a:prstGeom prst="rect">
            <a:avLst/>
          </a:prstGeom>
          <a:solidFill>
            <a:srgbClr val="EF9A9A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Semantic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Multi-Prompt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C2A12E-3CA1-C7E4-FB8D-50D938910E0D}"/>
              </a:ext>
            </a:extLst>
          </p:cNvPr>
          <p:cNvSpPr/>
          <p:nvPr/>
        </p:nvSpPr>
        <p:spPr>
          <a:xfrm>
            <a:off x="777240" y="4297680"/>
            <a:ext cx="804672" cy="4453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Semantic Evidence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ED86DAE-828E-7527-3F1D-563567BA39B8}"/>
              </a:ext>
            </a:extLst>
          </p:cNvPr>
          <p:cNvSpPr/>
          <p:nvPr/>
        </p:nvSpPr>
        <p:spPr>
          <a:xfrm>
            <a:off x="196596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25367B-23C3-FB89-1627-374A2776B23C}"/>
              </a:ext>
            </a:extLst>
          </p:cNvPr>
          <p:cNvSpPr/>
          <p:nvPr/>
        </p:nvSpPr>
        <p:spPr>
          <a:xfrm>
            <a:off x="1719072" y="4297680"/>
            <a:ext cx="749808" cy="201168"/>
          </a:xfrm>
          <a:prstGeom prst="rect">
            <a:avLst/>
          </a:prstGeom>
          <a:solidFill>
            <a:srgbClr val="F8BBD9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71F4F8-8A5C-12CF-DE3F-8E95F57A6654}"/>
              </a:ext>
            </a:extLst>
          </p:cNvPr>
          <p:cNvSpPr/>
          <p:nvPr/>
        </p:nvSpPr>
        <p:spPr>
          <a:xfrm>
            <a:off x="1755648" y="4507992"/>
            <a:ext cx="67665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DB0BFB-55D8-7DCF-EC3F-519196670678}"/>
              </a:ext>
            </a:extLst>
          </p:cNvPr>
          <p:cNvSpPr/>
          <p:nvPr/>
        </p:nvSpPr>
        <p:spPr>
          <a:xfrm>
            <a:off x="1792224" y="4718304"/>
            <a:ext cx="60350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B96840-DE54-2B93-273B-93D956544DDD}"/>
              </a:ext>
            </a:extLst>
          </p:cNvPr>
          <p:cNvSpPr/>
          <p:nvPr/>
        </p:nvSpPr>
        <p:spPr>
          <a:xfrm>
            <a:off x="1828800" y="4928616"/>
            <a:ext cx="530352" cy="201168"/>
          </a:xfrm>
          <a:prstGeom prst="rect">
            <a:avLst/>
          </a:prstGeom>
          <a:solidFill>
            <a:srgbClr val="EF535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B62BA4-4FB8-CA82-4E50-654292718E72}"/>
              </a:ext>
            </a:extLst>
          </p:cNvPr>
          <p:cNvSpPr/>
          <p:nvPr/>
        </p:nvSpPr>
        <p:spPr>
          <a:xfrm>
            <a:off x="1865376" y="5138928"/>
            <a:ext cx="457200" cy="201168"/>
          </a:xfrm>
          <a:prstGeom prst="rect">
            <a:avLst/>
          </a:prstGeom>
          <a:solidFill>
            <a:srgbClr val="E53935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8222D6-2F76-1F39-5893-B2B4C2BB2077}"/>
              </a:ext>
            </a:extLst>
          </p:cNvPr>
          <p:cNvSpPr/>
          <p:nvPr/>
        </p:nvSpPr>
        <p:spPr>
          <a:xfrm>
            <a:off x="1901952" y="5349240"/>
            <a:ext cx="384048" cy="201168"/>
          </a:xfrm>
          <a:prstGeom prst="rect">
            <a:avLst/>
          </a:prstGeom>
          <a:solidFill>
            <a:srgbClr val="C6282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7AC73C-B0AE-96F0-A9EB-D67146B3339A}"/>
              </a:ext>
            </a:extLst>
          </p:cNvPr>
          <p:cNvSpPr/>
          <p:nvPr/>
        </p:nvSpPr>
        <p:spPr>
          <a:xfrm>
            <a:off x="1938528" y="5559552"/>
            <a:ext cx="31089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000512-DEC5-D2FA-AE7E-E4E6BD32F861}"/>
              </a:ext>
            </a:extLst>
          </p:cNvPr>
          <p:cNvSpPr/>
          <p:nvPr/>
        </p:nvSpPr>
        <p:spPr>
          <a:xfrm>
            <a:off x="1975104" y="5769864"/>
            <a:ext cx="237744" cy="201168"/>
          </a:xfrm>
          <a:prstGeom prst="rect">
            <a:avLst/>
          </a:prstGeom>
          <a:solidFill>
            <a:srgbClr val="E5737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DF4AB0-D8B6-3B00-871A-7B1D690AEEBB}"/>
              </a:ext>
            </a:extLst>
          </p:cNvPr>
          <p:cNvSpPr/>
          <p:nvPr/>
        </p:nvSpPr>
        <p:spPr>
          <a:xfrm>
            <a:off x="1708406" y="6053327"/>
            <a:ext cx="804672" cy="4453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OWL-ViT evidence extraction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F43147-7195-1892-1C70-CC7602F91E59}"/>
              </a:ext>
            </a:extLst>
          </p:cNvPr>
          <p:cNvSpPr/>
          <p:nvPr/>
        </p:nvSpPr>
        <p:spPr>
          <a:xfrm>
            <a:off x="2697480" y="402336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148670-8BD1-2779-17C7-C55AE32B31F7}"/>
              </a:ext>
            </a:extLst>
          </p:cNvPr>
          <p:cNvSpPr/>
          <p:nvPr/>
        </p:nvSpPr>
        <p:spPr>
          <a:xfrm>
            <a:off x="2595374" y="4297680"/>
            <a:ext cx="475488" cy="1755648"/>
          </a:xfrm>
          <a:prstGeom prst="rect">
            <a:avLst/>
          </a:prstGeom>
          <a:solidFill>
            <a:srgbClr val="FF8F0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chemeClr val="tx1"/>
              </a:solidFill>
            </a:endParaRPr>
          </a:p>
          <a:p>
            <a:pPr algn="ctr"/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ECF5809-1F30-6066-70BB-FCC886522F6F}"/>
              </a:ext>
            </a:extLst>
          </p:cNvPr>
          <p:cNvSpPr/>
          <p:nvPr/>
        </p:nvSpPr>
        <p:spPr>
          <a:xfrm>
            <a:off x="2785876" y="4709160"/>
            <a:ext cx="896701" cy="1344167"/>
          </a:xfrm>
          <a:prstGeom prst="rect">
            <a:avLst/>
          </a:prstGeom>
          <a:solidFill>
            <a:srgbClr val="FFF8E1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dirty="0">
                <a:solidFill>
                  <a:schemeClr val="tx1"/>
                </a:solidFill>
              </a:rPr>
              <a:t>prompt-level</a:t>
            </a:r>
            <a:endParaRPr sz="900" b="0" dirty="0">
              <a:solidFill>
                <a:schemeClr val="tx1"/>
              </a:solidFill>
            </a:endParaRPr>
          </a:p>
          <a:p>
            <a:pPr algn="ctr"/>
            <a:r>
              <a:rPr sz="900" dirty="0"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9E11BE-FE33-A01A-9B07-1DF10D049C19}"/>
              </a:ext>
            </a:extLst>
          </p:cNvPr>
          <p:cNvSpPr/>
          <p:nvPr/>
        </p:nvSpPr>
        <p:spPr>
          <a:xfrm>
            <a:off x="2601343" y="4272956"/>
            <a:ext cx="1081234" cy="44534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Prompt Evidence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2EA13C9-CD17-F3E6-4B97-BCFBC4E9308D}"/>
              </a:ext>
            </a:extLst>
          </p:cNvPr>
          <p:cNvSpPr/>
          <p:nvPr/>
        </p:nvSpPr>
        <p:spPr>
          <a:xfrm>
            <a:off x="4178808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C8805B-3296-A03C-4EB7-3DBC69D2C01F}"/>
              </a:ext>
            </a:extLst>
          </p:cNvPr>
          <p:cNvSpPr/>
          <p:nvPr/>
        </p:nvSpPr>
        <p:spPr>
          <a:xfrm>
            <a:off x="3803904" y="4279391"/>
            <a:ext cx="1024128" cy="379731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Prompt Sources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284834-F6DE-ED89-AE6B-99913A0A5EB9}"/>
              </a:ext>
            </a:extLst>
          </p:cNvPr>
          <p:cNvSpPr/>
          <p:nvPr/>
        </p:nvSpPr>
        <p:spPr>
          <a:xfrm>
            <a:off x="3813048" y="4636008"/>
            <a:ext cx="1005840" cy="14173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primary · synonym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hypernym · attribute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context · description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865194E-EE10-DC74-BF9F-2AD89133BAB2}"/>
              </a:ext>
            </a:extLst>
          </p:cNvPr>
          <p:cNvSpPr/>
          <p:nvPr/>
        </p:nvSpPr>
        <p:spPr>
          <a:xfrm>
            <a:off x="5257800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31DFF2-4731-532D-7EF2-ACF433EFBAF9}"/>
              </a:ext>
            </a:extLst>
          </p:cNvPr>
          <p:cNvSpPr/>
          <p:nvPr/>
        </p:nvSpPr>
        <p:spPr>
          <a:xfrm>
            <a:off x="4891024" y="4288533"/>
            <a:ext cx="917448" cy="33832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Uncertainty Risk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B494885-2C33-8B00-02EC-6F4EB8CB136D}"/>
              </a:ext>
            </a:extLst>
          </p:cNvPr>
          <p:cNvSpPr/>
          <p:nvPr/>
        </p:nvSpPr>
        <p:spPr>
          <a:xfrm>
            <a:off x="4901184" y="4626864"/>
            <a:ext cx="896112" cy="14173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chemeClr val="tx1"/>
                </a:solidFill>
              </a:rPr>
              <a:t>entropy · conflict</a:t>
            </a:r>
            <a:endParaRPr sz="900" b="1" dirty="0">
              <a:solidFill>
                <a:schemeClr val="tx1"/>
              </a:solidFill>
            </a:endParaRPr>
          </a:p>
          <a:p>
            <a:pPr algn="ctr"/>
            <a:r>
              <a:rPr sz="900">
                <a:solidFill>
                  <a:schemeClr val="tx1"/>
                </a:solidFill>
              </a:rPr>
              <a:t>variation · reliability</a:t>
            </a:r>
          </a:p>
          <a:p>
            <a:pPr algn="ctr"/>
            <a:r>
              <a:rPr sz="900">
                <a:solidFill>
                  <a:schemeClr val="tx1"/>
                </a:solidFill>
              </a:rPr>
              <a:t>FP-risk proxy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B7A0214-3960-2CC7-3346-91955B97158F}"/>
              </a:ext>
            </a:extLst>
          </p:cNvPr>
          <p:cNvSpPr/>
          <p:nvPr/>
        </p:nvSpPr>
        <p:spPr>
          <a:xfrm>
            <a:off x="6007608" y="402336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E0977F5-D433-F611-5C2C-A1C525E83F1E}"/>
              </a:ext>
            </a:extLst>
          </p:cNvPr>
          <p:cNvSpPr/>
          <p:nvPr/>
        </p:nvSpPr>
        <p:spPr>
          <a:xfrm>
            <a:off x="5939533" y="4297679"/>
            <a:ext cx="1169417" cy="32918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High-risk Bin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8D2AA8-DC7F-87D5-3FDF-B16885C6807F}"/>
              </a:ext>
            </a:extLst>
          </p:cNvPr>
          <p:cNvSpPr/>
          <p:nvPr/>
        </p:nvSpPr>
        <p:spPr>
          <a:xfrm>
            <a:off x="5939533" y="4626862"/>
            <a:ext cx="1160783" cy="1426465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High uncertainty and conflict are associated with increased false-positive </a:t>
            </a:r>
            <a:r>
              <a:rPr lang="en-GB" sz="900" dirty="0"/>
              <a:t>risk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7246197-0161-B8F2-14A7-7A5FF6B72D04}"/>
              </a:ext>
            </a:extLst>
          </p:cNvPr>
          <p:cNvSpPr/>
          <p:nvPr/>
        </p:nvSpPr>
        <p:spPr>
          <a:xfrm>
            <a:off x="7415784" y="4023360"/>
            <a:ext cx="256032" cy="25603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C5A1EB9-07FF-8C9B-B3EE-8B741895D6E4}"/>
              </a:ext>
            </a:extLst>
          </p:cNvPr>
          <p:cNvSpPr/>
          <p:nvPr/>
        </p:nvSpPr>
        <p:spPr>
          <a:xfrm>
            <a:off x="7177531" y="4297680"/>
            <a:ext cx="776223" cy="1755648"/>
          </a:xfrm>
          <a:prstGeom prst="rect">
            <a:avLst/>
          </a:prstGeom>
          <a:solidFill>
            <a:srgbClr val="FFB300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33DDCE-1896-147A-F233-39ADACAB0FA3}"/>
              </a:ext>
            </a:extLst>
          </p:cNvPr>
          <p:cNvSpPr/>
          <p:nvPr/>
        </p:nvSpPr>
        <p:spPr>
          <a:xfrm>
            <a:off x="7165340" y="4297679"/>
            <a:ext cx="788414" cy="1755647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Improved recall should be interpreted jointly with uncertainty and conflict analysis.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7F548B-49E0-2CD1-B7B0-F719CC43A801}"/>
              </a:ext>
            </a:extLst>
          </p:cNvPr>
          <p:cNvSpPr/>
          <p:nvPr/>
        </p:nvSpPr>
        <p:spPr>
          <a:xfrm>
            <a:off x="9499092" y="2258568"/>
            <a:ext cx="256032" cy="25603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5E77C7B-0869-258D-6977-C0ED4C25B449}"/>
              </a:ext>
            </a:extLst>
          </p:cNvPr>
          <p:cNvSpPr/>
          <p:nvPr/>
        </p:nvSpPr>
        <p:spPr>
          <a:xfrm>
            <a:off x="8639556" y="2523744"/>
            <a:ext cx="1975104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</a:rPr>
              <a:t>Final Evaluation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1BB10A-F670-6A90-10BA-97AF4EDD1319}"/>
              </a:ext>
            </a:extLst>
          </p:cNvPr>
          <p:cNvSpPr/>
          <p:nvPr/>
        </p:nvSpPr>
        <p:spPr>
          <a:xfrm>
            <a:off x="8639556" y="2798064"/>
            <a:ext cx="1975104" cy="1536192"/>
          </a:xfrm>
          <a:prstGeom prst="rect">
            <a:avLst/>
          </a:prstGeom>
          <a:solidFill>
            <a:srgbClr val="E3F2FD"/>
          </a:solidFill>
          <a:ln w="1778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Metrics used: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image-level category recall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pair-level recall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AP50-proxy diagnostic metric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87EA4C2-F187-B3D6-7B65-6F9B8155DFBC}"/>
              </a:ext>
            </a:extLst>
          </p:cNvPr>
          <p:cNvSpPr/>
          <p:nvPr/>
        </p:nvSpPr>
        <p:spPr>
          <a:xfrm>
            <a:off x="10696956" y="2807208"/>
            <a:ext cx="1374394" cy="442023"/>
          </a:xfrm>
          <a:prstGeom prst="rect">
            <a:avLst/>
          </a:prstGeom>
          <a:solidFill>
            <a:srgbClr val="FFFFFF"/>
          </a:solidFill>
          <a:ln w="1778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RQ1 Results: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LVIS AP50-proxy gain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+0.0344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435EF6-D221-4B25-2231-64A342B24476}"/>
              </a:ext>
            </a:extLst>
          </p:cNvPr>
          <p:cNvSpPr/>
          <p:nvPr/>
        </p:nvSpPr>
        <p:spPr>
          <a:xfrm>
            <a:off x="10696956" y="3287078"/>
            <a:ext cx="1374394" cy="493269"/>
          </a:xfrm>
          <a:prstGeom prst="rect">
            <a:avLst/>
          </a:prstGeom>
          <a:solidFill>
            <a:srgbClr val="FFEBEE"/>
          </a:solidFill>
          <a:ln w="1778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RQ1 Results: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COCO AP50-proxy gain</a:t>
            </a:r>
            <a:br>
              <a:rPr lang="en-GB" sz="900" dirty="0">
                <a:solidFill>
                  <a:schemeClr val="tx1"/>
                </a:solidFill>
              </a:rPr>
            </a:br>
            <a:r>
              <a:rPr lang="en-GB" sz="900" dirty="0">
                <a:solidFill>
                  <a:schemeClr val="tx1"/>
                </a:solidFill>
              </a:rPr>
              <a:t>+0.0692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9F31FA9-6E69-6504-544B-FFAD0BFC9CE5}"/>
              </a:ext>
            </a:extLst>
          </p:cNvPr>
          <p:cNvSpPr/>
          <p:nvPr/>
        </p:nvSpPr>
        <p:spPr>
          <a:xfrm>
            <a:off x="10696956" y="3839715"/>
            <a:ext cx="1374394" cy="457966"/>
          </a:xfrm>
          <a:prstGeom prst="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</a:rPr>
              <a:t>RQ1 Results: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</a:rPr>
              <a:t>Rare-category AP50 gain +0.0238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0AB48FB-CC39-7BC7-1D6A-22E7B7CE4E9A}"/>
              </a:ext>
            </a:extLst>
          </p:cNvPr>
          <p:cNvSpPr/>
          <p:nvPr/>
        </p:nvSpPr>
        <p:spPr>
          <a:xfrm>
            <a:off x="8639556" y="4370831"/>
            <a:ext cx="3431794" cy="861569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dirty="0"/>
              <a:t>Main finding:</a:t>
            </a:r>
            <a:br>
              <a:rPr lang="en-GB" sz="900" dirty="0"/>
            </a:br>
            <a:r>
              <a:rPr lang="en-GB" sz="900" dirty="0"/>
              <a:t>Multi-prompt semantic evidence improves recall,</a:t>
            </a:r>
            <a:br>
              <a:rPr lang="en-GB" sz="900" dirty="0"/>
            </a:br>
            <a:r>
              <a:rPr lang="en-GB" sz="900" dirty="0"/>
              <a:t>while uncertainty and conflict analysis help</a:t>
            </a:r>
            <a:br>
              <a:rPr lang="en-GB" sz="900" dirty="0"/>
            </a:br>
            <a:r>
              <a:rPr lang="en-GB" sz="900" dirty="0"/>
              <a:t>characterize false-positive behaviour.</a:t>
            </a:r>
            <a:endParaRPr sz="900" dirty="0">
              <a:solidFill>
                <a:schemeClr val="bg1"/>
              </a:solidFill>
            </a:endParaRPr>
          </a:p>
        </p:txBody>
      </p:sp>
      <p:cxnSp>
        <p:nvCxnSpPr>
          <p:cNvPr id="78" name="Connector 78">
            <a:extLst>
              <a:ext uri="{FF2B5EF4-FFF2-40B4-BE49-F238E27FC236}">
                <a16:creationId xmlns:a16="http://schemas.microsoft.com/office/drawing/2014/main" id="{88231BCC-CD55-9983-9941-7A5E970C907E}"/>
              </a:ext>
            </a:extLst>
          </p:cNvPr>
          <p:cNvCxnSpPr>
            <a:cxnSpLocks/>
          </p:cNvCxnSpPr>
          <p:nvPr/>
        </p:nvCxnSpPr>
        <p:spPr>
          <a:xfrm>
            <a:off x="1586484" y="2112264"/>
            <a:ext cx="169164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9">
            <a:extLst>
              <a:ext uri="{FF2B5EF4-FFF2-40B4-BE49-F238E27FC236}">
                <a16:creationId xmlns:a16="http://schemas.microsoft.com/office/drawing/2014/main" id="{7C56AC86-248C-EF3B-3D6E-D24E76FA42DF}"/>
              </a:ext>
            </a:extLst>
          </p:cNvPr>
          <p:cNvCxnSpPr>
            <a:cxnSpLocks/>
          </p:cNvCxnSpPr>
          <p:nvPr/>
        </p:nvCxnSpPr>
        <p:spPr>
          <a:xfrm>
            <a:off x="2395728" y="2112264"/>
            <a:ext cx="205740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80">
            <a:extLst>
              <a:ext uri="{FF2B5EF4-FFF2-40B4-BE49-F238E27FC236}">
                <a16:creationId xmlns:a16="http://schemas.microsoft.com/office/drawing/2014/main" id="{8FFE743A-FC2C-FE51-0415-C3B49DE52C55}"/>
              </a:ext>
            </a:extLst>
          </p:cNvPr>
          <p:cNvCxnSpPr/>
          <p:nvPr/>
        </p:nvCxnSpPr>
        <p:spPr>
          <a:xfrm>
            <a:off x="3689604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1">
            <a:extLst>
              <a:ext uri="{FF2B5EF4-FFF2-40B4-BE49-F238E27FC236}">
                <a16:creationId xmlns:a16="http://schemas.microsoft.com/office/drawing/2014/main" id="{E96497E5-B0C1-3E1A-FD38-D5547981408A}"/>
              </a:ext>
            </a:extLst>
          </p:cNvPr>
          <p:cNvCxnSpPr/>
          <p:nvPr/>
        </p:nvCxnSpPr>
        <p:spPr>
          <a:xfrm>
            <a:off x="4823460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2">
            <a:extLst>
              <a:ext uri="{FF2B5EF4-FFF2-40B4-BE49-F238E27FC236}">
                <a16:creationId xmlns:a16="http://schemas.microsoft.com/office/drawing/2014/main" id="{16BA68BC-9DEA-AC61-0A8D-74BD7AEA27C2}"/>
              </a:ext>
            </a:extLst>
          </p:cNvPr>
          <p:cNvCxnSpPr/>
          <p:nvPr/>
        </p:nvCxnSpPr>
        <p:spPr>
          <a:xfrm>
            <a:off x="5847588" y="211226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3">
            <a:extLst>
              <a:ext uri="{FF2B5EF4-FFF2-40B4-BE49-F238E27FC236}">
                <a16:creationId xmlns:a16="http://schemas.microsoft.com/office/drawing/2014/main" id="{0B785160-403F-510D-2467-8C4C98DCEE93}"/>
              </a:ext>
            </a:extLst>
          </p:cNvPr>
          <p:cNvCxnSpPr>
            <a:cxnSpLocks/>
          </p:cNvCxnSpPr>
          <p:nvPr/>
        </p:nvCxnSpPr>
        <p:spPr>
          <a:xfrm>
            <a:off x="7091172" y="2112264"/>
            <a:ext cx="49403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4">
            <a:extLst>
              <a:ext uri="{FF2B5EF4-FFF2-40B4-BE49-F238E27FC236}">
                <a16:creationId xmlns:a16="http://schemas.microsoft.com/office/drawing/2014/main" id="{F12414A6-E22B-D60D-FCCC-DDD6AE7A059A}"/>
              </a:ext>
            </a:extLst>
          </p:cNvPr>
          <p:cNvCxnSpPr>
            <a:cxnSpLocks/>
          </p:cNvCxnSpPr>
          <p:nvPr/>
        </p:nvCxnSpPr>
        <p:spPr>
          <a:xfrm>
            <a:off x="8028897" y="2112264"/>
            <a:ext cx="49403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5">
            <a:extLst>
              <a:ext uri="{FF2B5EF4-FFF2-40B4-BE49-F238E27FC236}">
                <a16:creationId xmlns:a16="http://schemas.microsoft.com/office/drawing/2014/main" id="{5E56D808-B7F8-7215-D4F7-E379359B3CB7}"/>
              </a:ext>
            </a:extLst>
          </p:cNvPr>
          <p:cNvCxnSpPr>
            <a:cxnSpLocks/>
          </p:cNvCxnSpPr>
          <p:nvPr/>
        </p:nvCxnSpPr>
        <p:spPr>
          <a:xfrm>
            <a:off x="1581912" y="5175504"/>
            <a:ext cx="21031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6">
            <a:extLst>
              <a:ext uri="{FF2B5EF4-FFF2-40B4-BE49-F238E27FC236}">
                <a16:creationId xmlns:a16="http://schemas.microsoft.com/office/drawing/2014/main" id="{A87C0883-0979-8DA3-9285-2CA41E1C2551}"/>
              </a:ext>
            </a:extLst>
          </p:cNvPr>
          <p:cNvCxnSpPr>
            <a:cxnSpLocks/>
          </p:cNvCxnSpPr>
          <p:nvPr/>
        </p:nvCxnSpPr>
        <p:spPr>
          <a:xfrm>
            <a:off x="2395728" y="5175504"/>
            <a:ext cx="201168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7">
            <a:extLst>
              <a:ext uri="{FF2B5EF4-FFF2-40B4-BE49-F238E27FC236}">
                <a16:creationId xmlns:a16="http://schemas.microsoft.com/office/drawing/2014/main" id="{A048110C-720C-949C-3D63-E839A415E89F}"/>
              </a:ext>
            </a:extLst>
          </p:cNvPr>
          <p:cNvCxnSpPr/>
          <p:nvPr/>
        </p:nvCxnSpPr>
        <p:spPr>
          <a:xfrm>
            <a:off x="3685032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8">
            <a:extLst>
              <a:ext uri="{FF2B5EF4-FFF2-40B4-BE49-F238E27FC236}">
                <a16:creationId xmlns:a16="http://schemas.microsoft.com/office/drawing/2014/main" id="{85729AF6-A823-E21C-165F-80E963D34845}"/>
              </a:ext>
            </a:extLst>
          </p:cNvPr>
          <p:cNvCxnSpPr/>
          <p:nvPr/>
        </p:nvCxnSpPr>
        <p:spPr>
          <a:xfrm>
            <a:off x="4818888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9">
            <a:extLst>
              <a:ext uri="{FF2B5EF4-FFF2-40B4-BE49-F238E27FC236}">
                <a16:creationId xmlns:a16="http://schemas.microsoft.com/office/drawing/2014/main" id="{6C96F68D-3422-D157-6F76-29328800042B}"/>
              </a:ext>
            </a:extLst>
          </p:cNvPr>
          <p:cNvCxnSpPr/>
          <p:nvPr/>
        </p:nvCxnSpPr>
        <p:spPr>
          <a:xfrm>
            <a:off x="5808472" y="5175504"/>
            <a:ext cx="11887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90">
            <a:extLst>
              <a:ext uri="{FF2B5EF4-FFF2-40B4-BE49-F238E27FC236}">
                <a16:creationId xmlns:a16="http://schemas.microsoft.com/office/drawing/2014/main" id="{7AE96F79-B12D-1BF3-C1CD-676F0CCEE71F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7086600" y="5175504"/>
            <a:ext cx="90931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2">
            <a:extLst>
              <a:ext uri="{FF2B5EF4-FFF2-40B4-BE49-F238E27FC236}">
                <a16:creationId xmlns:a16="http://schemas.microsoft.com/office/drawing/2014/main" id="{7C5352B6-0010-C014-3E62-9FC4365C6E71}"/>
              </a:ext>
            </a:extLst>
          </p:cNvPr>
          <p:cNvCxnSpPr/>
          <p:nvPr/>
        </p:nvCxnSpPr>
        <p:spPr>
          <a:xfrm flipV="1">
            <a:off x="2738627" y="2935224"/>
            <a:ext cx="0" cy="54864"/>
          </a:xfrm>
          <a:prstGeom prst="line">
            <a:avLst/>
          </a:prstGeom>
          <a:ln w="15240">
            <a:solidFill>
              <a:srgbClr val="FF8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91144C08-8B8B-117F-053B-DF14F5DF6475}"/>
              </a:ext>
            </a:extLst>
          </p:cNvPr>
          <p:cNvSpPr/>
          <p:nvPr/>
        </p:nvSpPr>
        <p:spPr>
          <a:xfrm>
            <a:off x="1431290" y="502920"/>
            <a:ext cx="5852160" cy="292607"/>
          </a:xfrm>
          <a:prstGeom prst="rect">
            <a:avLst/>
          </a:prstGeom>
          <a:solidFill>
            <a:srgbClr val="FFFFFF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FRAMEWORK EVOLUTION ON LVIS AND COCO</a:t>
            </a:r>
          </a:p>
        </p:txBody>
      </p:sp>
      <p:cxnSp>
        <p:nvCxnSpPr>
          <p:cNvPr id="95" name="Connector 145">
            <a:extLst>
              <a:ext uri="{FF2B5EF4-FFF2-40B4-BE49-F238E27FC236}">
                <a16:creationId xmlns:a16="http://schemas.microsoft.com/office/drawing/2014/main" id="{9FB4E5D7-201D-4C30-0817-D9409C2E8CE2}"/>
              </a:ext>
            </a:extLst>
          </p:cNvPr>
          <p:cNvCxnSpPr>
            <a:cxnSpLocks/>
          </p:cNvCxnSpPr>
          <p:nvPr/>
        </p:nvCxnSpPr>
        <p:spPr>
          <a:xfrm>
            <a:off x="8075677" y="2112264"/>
            <a:ext cx="0" cy="3090672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84">
            <a:extLst>
              <a:ext uri="{FF2B5EF4-FFF2-40B4-BE49-F238E27FC236}">
                <a16:creationId xmlns:a16="http://schemas.microsoft.com/office/drawing/2014/main" id="{DE99C916-F7F3-A178-7F59-C0BA276CEF1C}"/>
              </a:ext>
            </a:extLst>
          </p:cNvPr>
          <p:cNvCxnSpPr>
            <a:cxnSpLocks/>
          </p:cNvCxnSpPr>
          <p:nvPr/>
        </p:nvCxnSpPr>
        <p:spPr>
          <a:xfrm>
            <a:off x="7976616" y="5175504"/>
            <a:ext cx="88392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84">
            <a:extLst>
              <a:ext uri="{FF2B5EF4-FFF2-40B4-BE49-F238E27FC236}">
                <a16:creationId xmlns:a16="http://schemas.microsoft.com/office/drawing/2014/main" id="{A23FADE4-0361-72B6-0FDE-5CE0D2388C6E}"/>
              </a:ext>
            </a:extLst>
          </p:cNvPr>
          <p:cNvCxnSpPr>
            <a:cxnSpLocks/>
          </p:cNvCxnSpPr>
          <p:nvPr/>
        </p:nvCxnSpPr>
        <p:spPr>
          <a:xfrm>
            <a:off x="8083296" y="3813048"/>
            <a:ext cx="569976" cy="0"/>
          </a:xfrm>
          <a:prstGeom prst="line">
            <a:avLst/>
          </a:prstGeom>
          <a:ln w="190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57A535B-7C52-31DE-CC45-49FD590D0B83}"/>
              </a:ext>
            </a:extLst>
          </p:cNvPr>
          <p:cNvSpPr/>
          <p:nvPr/>
        </p:nvSpPr>
        <p:spPr>
          <a:xfrm>
            <a:off x="7158059" y="1234439"/>
            <a:ext cx="850222" cy="35445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900" b="1" dirty="0"/>
              <a:t>Prior-Aware Fusion</a:t>
            </a:r>
            <a:endParaRPr sz="900" b="1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CA052E-849A-8A7A-BA75-9B1BBD13A059}"/>
              </a:ext>
            </a:extLst>
          </p:cNvPr>
          <p:cNvSpPr/>
          <p:nvPr/>
        </p:nvSpPr>
        <p:spPr>
          <a:xfrm>
            <a:off x="1911096" y="2505456"/>
            <a:ext cx="310896" cy="201168"/>
          </a:xfrm>
          <a:prstGeom prst="rect">
            <a:avLst/>
          </a:prstGeom>
          <a:solidFill>
            <a:srgbClr val="EF9A9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32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</Words>
  <Application>Microsoft Office PowerPoint</Application>
  <PresentationFormat>Widescreen</PresentationFormat>
  <Paragraphs>485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Haripriya Chalicheemala</dc:creator>
  <cp:lastModifiedBy>Haripriya Chalicheemala</cp:lastModifiedBy>
  <cp:revision>643</cp:revision>
  <dcterms:created xsi:type="dcterms:W3CDTF">2026-04-28T13:35:25Z</dcterms:created>
  <dcterms:modified xsi:type="dcterms:W3CDTF">2026-06-14T12:32:42Z</dcterms:modified>
</cp:coreProperties>
</file>